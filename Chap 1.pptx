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6" r:id="rId21"/>
    <p:sldId id="277" r:id="rId22"/>
    <p:sldId id="278" r:id="rId23"/>
    <p:sldId id="279" r:id="rId24"/>
    <p:sldId id="280" r:id="rId25"/>
    <p:sldId id="281" r:id="rId26"/>
    <p:sldId id="284" r:id="rId27"/>
    <p:sldId id="287" r:id="rId28"/>
    <p:sldId id="285" r:id="rId29"/>
    <p:sldId id="289" r:id="rId30"/>
    <p:sldId id="288" r:id="rId31"/>
    <p:sldId id="282" r:id="rId32"/>
    <p:sldId id="283" r:id="rId33"/>
    <p:sldId id="290" r:id="rId34"/>
    <p:sldId id="291" r:id="rId35"/>
    <p:sldId id="292" r:id="rId36"/>
    <p:sldId id="293" r:id="rId37"/>
    <p:sldId id="294" r:id="rId38"/>
    <p:sldId id="295" r:id="rId39"/>
    <p:sldId id="296" r:id="rId40"/>
    <p:sldId id="297" r:id="rId41"/>
    <p:sldId id="298" r:id="rId42"/>
    <p:sldId id="300" r:id="rId43"/>
    <p:sldId id="299" r:id="rId44"/>
    <p:sldId id="301" r:id="rId45"/>
    <p:sldId id="30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1509-B1CE-290C-DAE9-0F5661C17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0A1D257-8EE4-FB89-F813-ECA41CB1B7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1D6B065-2AD3-CADE-0151-66B05945B06C}"/>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5" name="Footer Placeholder 4">
            <a:extLst>
              <a:ext uri="{FF2B5EF4-FFF2-40B4-BE49-F238E27FC236}">
                <a16:creationId xmlns:a16="http://schemas.microsoft.com/office/drawing/2014/main" id="{02A39F56-1F5D-7900-9817-4839678A8B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D7A45-7A48-0F12-0754-809B3952134F}"/>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1044544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9F3CC-6C86-8683-225D-6299E1D2C5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BC2065-7494-352F-F3F3-960B2047B0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8D054A-D479-C56A-E5FC-CA0514C042F4}"/>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5" name="Footer Placeholder 4">
            <a:extLst>
              <a:ext uri="{FF2B5EF4-FFF2-40B4-BE49-F238E27FC236}">
                <a16:creationId xmlns:a16="http://schemas.microsoft.com/office/drawing/2014/main" id="{1F93D4F3-7C47-D8B5-7FAD-0FE1282887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DF8084-C164-0566-9806-10416376472E}"/>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2245774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EF64D-7591-CA78-018C-78BCC1F31D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8A2798-5613-0841-DA7D-8715784D45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0B1D12-291B-E5A3-E2F5-0B2E0AA18374}"/>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5" name="Footer Placeholder 4">
            <a:extLst>
              <a:ext uri="{FF2B5EF4-FFF2-40B4-BE49-F238E27FC236}">
                <a16:creationId xmlns:a16="http://schemas.microsoft.com/office/drawing/2014/main" id="{C070EB4B-20A7-C876-B585-E7E975D5B8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EDBF01-2C00-B29B-0CC3-6E97A3F9DAD3}"/>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492444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7483-9D13-02A0-5829-9CE73ED433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B94709-66D0-E6E9-DD95-8EB55E94EC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CAACA5-1CD1-7699-A8A3-01295ABC86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09F879-5CE0-FECE-422D-CA053B16E38F}"/>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6" name="Footer Placeholder 5">
            <a:extLst>
              <a:ext uri="{FF2B5EF4-FFF2-40B4-BE49-F238E27FC236}">
                <a16:creationId xmlns:a16="http://schemas.microsoft.com/office/drawing/2014/main" id="{7A1A3A2F-4BD0-1C28-A123-C63CAB6526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466467-69D8-BCCA-3325-1C6CF4121E2A}"/>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1213950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088A2-606B-BCF6-55AC-10B7E04839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2E1302-3101-EA46-BE3D-51683CB4E4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016CE2-71CB-1FBB-A281-5F2A11D89F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028C55-83BD-35F2-B013-28784B9B0D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B42AD1-4F04-7D78-2F24-D63BB20805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2D3C11-0A3B-E9D4-E9C4-569F286A27AE}"/>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8" name="Footer Placeholder 7">
            <a:extLst>
              <a:ext uri="{FF2B5EF4-FFF2-40B4-BE49-F238E27FC236}">
                <a16:creationId xmlns:a16="http://schemas.microsoft.com/office/drawing/2014/main" id="{3B366875-5F31-FB2B-65CC-FA75BC34FC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0827C9-4AC0-C49D-A46A-434C4D03AB29}"/>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3566796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7E933-24EF-4D3A-5690-B1A3B3C270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3AC54F-047E-B8F2-C6AC-A56F4F616340}"/>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4" name="Footer Placeholder 3">
            <a:extLst>
              <a:ext uri="{FF2B5EF4-FFF2-40B4-BE49-F238E27FC236}">
                <a16:creationId xmlns:a16="http://schemas.microsoft.com/office/drawing/2014/main" id="{A684C48F-D56A-B83B-7DF8-FCB6FD9B2C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D49E1D-0E6E-BEC4-298B-59B4BFB00B60}"/>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408987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E27639-00CC-4901-1334-AE5F2E6BF91F}"/>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3" name="Footer Placeholder 2">
            <a:extLst>
              <a:ext uri="{FF2B5EF4-FFF2-40B4-BE49-F238E27FC236}">
                <a16:creationId xmlns:a16="http://schemas.microsoft.com/office/drawing/2014/main" id="{3D8D78C0-0CEE-302A-3AB3-E15DC30397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084BB8-5E65-A15C-3BD7-26AEBF9B37B3}"/>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2589018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77A1F-F11B-D480-337A-AACB30965D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6398F65-5422-5B02-12FB-4CE19DF84B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17043E-925A-F5FC-9433-C354DB3F5D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916448-6741-4C9E-94C5-679B492DABFC}"/>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6" name="Footer Placeholder 5">
            <a:extLst>
              <a:ext uri="{FF2B5EF4-FFF2-40B4-BE49-F238E27FC236}">
                <a16:creationId xmlns:a16="http://schemas.microsoft.com/office/drawing/2014/main" id="{B0A58A10-B2E7-569A-7913-57AA735888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9FF143-C475-B452-14CF-607B990E967B}"/>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1133375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CA0BE-FF83-BD62-A0AF-C44144375D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CA56F5-EC44-9653-A08F-9FC456A64E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A5F510-A336-046B-E132-3DFE658B7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1E2CA-A9A2-E1A4-1430-168F26C3993F}"/>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6" name="Footer Placeholder 5">
            <a:extLst>
              <a:ext uri="{FF2B5EF4-FFF2-40B4-BE49-F238E27FC236}">
                <a16:creationId xmlns:a16="http://schemas.microsoft.com/office/drawing/2014/main" id="{0E47A0FB-82D6-39D5-A964-201DD01652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9F744-60EE-327F-13B9-371FDC4E4EB2}"/>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1390295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05576-D5E1-9E94-C0A3-0EAA22ACF7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645B7C-C69C-24DE-B00D-8AC208A0B6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CE1E85-93AC-0228-58E4-9441085D6CFA}"/>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5" name="Footer Placeholder 4">
            <a:extLst>
              <a:ext uri="{FF2B5EF4-FFF2-40B4-BE49-F238E27FC236}">
                <a16:creationId xmlns:a16="http://schemas.microsoft.com/office/drawing/2014/main" id="{2F6A4C4B-9641-DA63-14C2-9CA9D48CA9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9E5883-B86E-7C69-9438-B388FDD8CBFF}"/>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170338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4D4645-6037-38B2-7AD1-6D4E764B7A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C81315-1DB0-5C7C-CEFE-6C6960CD10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01685C-351E-2DEA-4118-FE18FDD8DFD9}"/>
              </a:ext>
            </a:extLst>
          </p:cNvPr>
          <p:cNvSpPr>
            <a:spLocks noGrp="1"/>
          </p:cNvSpPr>
          <p:nvPr>
            <p:ph type="dt" sz="half" idx="10"/>
          </p:nvPr>
        </p:nvSpPr>
        <p:spPr/>
        <p:txBody>
          <a:bodyPr/>
          <a:lstStyle/>
          <a:p>
            <a:fld id="{72DC879D-D744-411D-BE9B-CFE98E66D093}" type="datetimeFigureOut">
              <a:rPr lang="en-IN" smtClean="0"/>
              <a:t>29-10-2025</a:t>
            </a:fld>
            <a:endParaRPr lang="en-IN"/>
          </a:p>
        </p:txBody>
      </p:sp>
      <p:sp>
        <p:nvSpPr>
          <p:cNvPr id="5" name="Footer Placeholder 4">
            <a:extLst>
              <a:ext uri="{FF2B5EF4-FFF2-40B4-BE49-F238E27FC236}">
                <a16:creationId xmlns:a16="http://schemas.microsoft.com/office/drawing/2014/main" id="{E503B447-896E-70A0-35B1-81B76E8B45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7F2E46-1283-FF4F-25F9-41AEAB3A9FA4}"/>
              </a:ext>
            </a:extLst>
          </p:cNvPr>
          <p:cNvSpPr>
            <a:spLocks noGrp="1"/>
          </p:cNvSpPr>
          <p:nvPr>
            <p:ph type="sldNum" sz="quarter" idx="12"/>
          </p:nvPr>
        </p:nvSpPr>
        <p:spPr/>
        <p:txBody>
          <a:bodyPr/>
          <a:lstStyle/>
          <a:p>
            <a:fld id="{C32E6863-7C07-42CE-9D9D-29707F3E5830}" type="slidenum">
              <a:rPr lang="en-IN" smtClean="0"/>
              <a:t>‹#›</a:t>
            </a:fld>
            <a:endParaRPr lang="en-IN"/>
          </a:p>
        </p:txBody>
      </p:sp>
    </p:spTree>
    <p:extLst>
      <p:ext uri="{BB962C8B-B14F-4D97-AF65-F5344CB8AC3E}">
        <p14:creationId xmlns:p14="http://schemas.microsoft.com/office/powerpoint/2010/main" val="3123105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682620-381D-047E-7DE1-0F76B0873A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4BEF4D-C680-E71D-1474-1F2D65A616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FA01F4-93BA-0DDE-5B9B-3AB29B651B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C879D-D744-411D-BE9B-CFE98E66D093}" type="datetimeFigureOut">
              <a:rPr lang="en-IN" smtClean="0"/>
              <a:t>29-10-2025</a:t>
            </a:fld>
            <a:endParaRPr lang="en-IN"/>
          </a:p>
        </p:txBody>
      </p:sp>
      <p:sp>
        <p:nvSpPr>
          <p:cNvPr id="5" name="Footer Placeholder 4">
            <a:extLst>
              <a:ext uri="{FF2B5EF4-FFF2-40B4-BE49-F238E27FC236}">
                <a16:creationId xmlns:a16="http://schemas.microsoft.com/office/drawing/2014/main" id="{59C79B6C-A6C1-5616-2EF9-40A124C568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00C3DB-6CFE-A8C3-421E-DDC35BC705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2E6863-7C07-42CE-9D9D-29707F3E5830}" type="slidenum">
              <a:rPr lang="en-IN" smtClean="0"/>
              <a:t>‹#›</a:t>
            </a:fld>
            <a:endParaRPr lang="en-IN"/>
          </a:p>
        </p:txBody>
      </p:sp>
    </p:spTree>
    <p:extLst>
      <p:ext uri="{BB962C8B-B14F-4D97-AF65-F5344CB8AC3E}">
        <p14:creationId xmlns:p14="http://schemas.microsoft.com/office/powerpoint/2010/main" val="3979052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sca_esv=9d200928a4259a69&amp;q=Data+Inconsistency&amp;sa=X&amp;ved=2ahUKEwjH1_6e75SQAxUWhq8BHWm6Oz0QxccNegQIbRAB&amp;mstk=AUtExfDVDAylI3jxPPtHBn2W2eLlcXe69nxl2gLrh86CMSyMind4yaK83LcgEV9VYOqi3vUyCZNUQlEb2K8j3ywfTDnpi9x9lFizal8oKIw8BvESCCfR35IXwt_En0BBBk-nGcj8QZCElkbgRYSDIspI9ums9zlb0IBgy1BpOW4TOLpESXc&amp;csui=3" TargetMode="External"/><Relationship Id="rId2" Type="http://schemas.openxmlformats.org/officeDocument/2006/relationships/hyperlink" Target="https://www.google.com/search?sca_esv=9d200928a4259a69&amp;q=Data+Redundancy&amp;sa=X&amp;ved=2ahUKEwjH1_6e75SQAxUWhq8BHWm6Oz0QxccNegQIGxAB&amp;mstk=AUtExfDVDAylI3jxPPtHBn2W2eLlcXe69nxl2gLrh86CMSyMind4yaK83LcgEV9VYOqi3vUyCZNUQlEb2K8j3ywfTDnpi9x9lFizal8oKIw8BvESCCfR35IXwt_En0BBBk-nGcj8QZCElkbgRYSDIspI9ums9zlb0IBgy1BpOW4TOLpESXc&amp;csui=3" TargetMode="External"/><Relationship Id="rId1" Type="http://schemas.openxmlformats.org/officeDocument/2006/relationships/slideLayout" Target="../slideLayouts/slideLayout2.xml"/><Relationship Id="rId4" Type="http://schemas.openxmlformats.org/officeDocument/2006/relationships/hyperlink" Target="https://www.google.com/search?sca_esv=9d200928a4259a69&amp;q=Data+Isolation&amp;sa=X&amp;ved=2ahUKEwjH1_6e75SQAxUWhq8BHWm6Oz0QxccNegQIbhAB&amp;mstk=AUtExfDVDAylI3jxPPtHBn2W2eLlcXe69nxl2gLrh86CMSyMind4yaK83LcgEV9VYOqi3vUyCZNUQlEb2K8j3ywfTDnpi9x9lFizal8oKIw8BvESCCfR35IXwt_En0BBBk-nGcj8QZCElkbgRYSDIspI9ums9zlb0IBgy1BpOW4TOLpESXc&amp;csui=3"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search?sca_esv=9d200928a4259a69&amp;q=Data+Integrity&amp;sa=X&amp;ved=2ahUKEwjH1_6e75SQAxUWhq8BHWm6Oz0QxccNegUI7AIQAQ&amp;mstk=AUtExfDVDAylI3jxPPtHBn2W2eLlcXe69nxl2gLrh86CMSyMind4yaK83LcgEV9VYOqi3vUyCZNUQlEb2K8j3ywfTDnpi9x9lFizal8oKIw8BvESCCfR35IXwt_En0BBBk-nGcj8QZCElkbgRYSDIspI9ums9zlb0IBgy1BpOW4TOLpESXc&amp;csui=3" TargetMode="External"/><Relationship Id="rId2" Type="http://schemas.openxmlformats.org/officeDocument/2006/relationships/hyperlink" Target="https://www.google.com/search?sca_esv=9d200928a4259a69&amp;q=Program+Dependence&amp;sa=X&amp;ved=2ahUKEwjH1_6e75SQAxUWhq8BHWm6Oz0QxccNegUI8QIQAQ&amp;mstk=AUtExfDVDAylI3jxPPtHBn2W2eLlcXe69nxl2gLrh86CMSyMind4yaK83LcgEV9VYOqi3vUyCZNUQlEb2K8j3ywfTDnpi9x9lFizal8oKIw8BvESCCfR35IXwt_En0BBBk-nGcj8QZCElkbgRYSDIspI9ums9zlb0IBgy1BpOW4TOLpESXc&amp;csui=3" TargetMode="External"/><Relationship Id="rId1" Type="http://schemas.openxmlformats.org/officeDocument/2006/relationships/slideLayout" Target="../slideLayouts/slideLayout2.xml"/><Relationship Id="rId5" Type="http://schemas.openxmlformats.org/officeDocument/2006/relationships/hyperlink" Target="https://www.google.com/search?sca_esv=9d200928a4259a69&amp;q=Concurrent+Access&amp;sa=X&amp;ved=2ahUKEwjH1_6e75SQAxUWhq8BHWm6Oz0QxccNegUI6wIQAQ&amp;mstk=AUtExfDVDAylI3jxPPtHBn2W2eLlcXe69nxl2gLrh86CMSyMind4yaK83LcgEV9VYOqi3vUyCZNUQlEb2K8j3ywfTDnpi9x9lFizal8oKIw8BvESCCfR35IXwt_En0BBBk-nGcj8QZCElkbgRYSDIspI9ums9zlb0IBgy1BpOW4TOLpESXc&amp;csui=3" TargetMode="External"/><Relationship Id="rId4" Type="http://schemas.openxmlformats.org/officeDocument/2006/relationships/hyperlink" Target="https://www.google.com/search?sca_esv=9d200928a4259a69&amp;q=Security+Problems&amp;sa=X&amp;ved=2ahUKEwjH1_6e75SQAxUWhq8BHWm6Oz0QxccNegUI6gIQAQ&amp;mstk=AUtExfDVDAylI3jxPPtHBn2W2eLlcXe69nxl2gLrh86CMSyMind4yaK83LcgEV9VYOqi3vUyCZNUQlEb2K8j3ywfTDnpi9x9lFizal8oKIw8BvESCCfR35IXwt_En0BBBk-nGcj8QZCElkbgRYSDIspI9ums9zlb0IBgy1BpOW4TOLpESXc&amp;csui=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9F11-0CE5-BE21-84A5-D3DF2F799F2D}"/>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Database Management System</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A1AC6D9-DB3B-2747-DFC7-A5CDFC6AEF9B}"/>
              </a:ext>
            </a:extLst>
          </p:cNvPr>
          <p:cNvSpPr>
            <a:spLocks noGrp="1"/>
          </p:cNvSpPr>
          <p:nvPr>
            <p:ph type="subTitle" idx="1"/>
          </p:nvPr>
        </p:nvSpPr>
        <p:spPr>
          <a:xfrm>
            <a:off x="1524000" y="4244295"/>
            <a:ext cx="9144000" cy="1655762"/>
          </a:xfrm>
        </p:spPr>
        <p:txBody>
          <a:bodyPr/>
          <a:lstStyle/>
          <a:p>
            <a:r>
              <a:rPr lang="en-US" dirty="0"/>
              <a:t>By- Mr. Digvijay A. Patil</a:t>
            </a:r>
          </a:p>
        </p:txBody>
      </p:sp>
    </p:spTree>
    <p:extLst>
      <p:ext uri="{BB962C8B-B14F-4D97-AF65-F5344CB8AC3E}">
        <p14:creationId xmlns:p14="http://schemas.microsoft.com/office/powerpoint/2010/main" val="1207676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2D7E8-590A-EC96-9BFA-FCC507382BFB}"/>
              </a:ext>
            </a:extLst>
          </p:cNvPr>
          <p:cNvSpPr>
            <a:spLocks noGrp="1"/>
          </p:cNvSpPr>
          <p:nvPr>
            <p:ph type="title"/>
          </p:nvPr>
        </p:nvSpPr>
        <p:spPr/>
        <p:txBody>
          <a:bodyPr/>
          <a:lstStyle/>
          <a:p>
            <a:r>
              <a:rPr lang="en-US" dirty="0"/>
              <a:t>DBMS</a:t>
            </a:r>
            <a:endParaRPr lang="en-IN" dirty="0"/>
          </a:p>
        </p:txBody>
      </p:sp>
      <p:sp>
        <p:nvSpPr>
          <p:cNvPr id="3" name="Content Placeholder 2">
            <a:extLst>
              <a:ext uri="{FF2B5EF4-FFF2-40B4-BE49-F238E27FC236}">
                <a16:creationId xmlns:a16="http://schemas.microsoft.com/office/drawing/2014/main" id="{A0BEB7AA-0D44-F2C4-12F6-D1FD9918D673}"/>
              </a:ext>
            </a:extLst>
          </p:cNvPr>
          <p:cNvSpPr>
            <a:spLocks noGrp="1"/>
          </p:cNvSpPr>
          <p:nvPr>
            <p:ph idx="1"/>
          </p:nvPr>
        </p:nvSpPr>
        <p:spPr>
          <a:xfrm>
            <a:off x="838200" y="1825625"/>
            <a:ext cx="10515600" cy="3889375"/>
          </a:xfrm>
        </p:spPr>
        <p:txBody>
          <a:bodyPr>
            <a:normAutofit/>
          </a:bodyPr>
          <a:lstStyle/>
          <a:p>
            <a:r>
              <a:rPr lang="en-US" sz="3900" dirty="0"/>
              <a:t>What is data?</a:t>
            </a:r>
          </a:p>
          <a:p>
            <a:pPr marL="0" indent="0">
              <a:buNone/>
            </a:pPr>
            <a:endParaRPr lang="en-US" sz="3900" dirty="0"/>
          </a:p>
          <a:p>
            <a:pPr lvl="1" algn="just"/>
            <a:r>
              <a:rPr lang="en-US" sz="2800" dirty="0"/>
              <a:t>Data refers to raw facts, figures, or descriptions that can be collected, processed, and interpreted to gain understanding and make decisions. It can take many forms, including numbers, text, images, sounds, and observations, and is often stored electronically for analysis. When processed, organized, and understood within a context, data becomes information. </a:t>
            </a:r>
            <a:endParaRPr lang="en-IN" sz="2800" dirty="0"/>
          </a:p>
        </p:txBody>
      </p:sp>
    </p:spTree>
    <p:extLst>
      <p:ext uri="{BB962C8B-B14F-4D97-AF65-F5344CB8AC3E}">
        <p14:creationId xmlns:p14="http://schemas.microsoft.com/office/powerpoint/2010/main" val="135637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4903-F460-BD17-3408-297726DDFA67}"/>
              </a:ext>
            </a:extLst>
          </p:cNvPr>
          <p:cNvSpPr>
            <a:spLocks noGrp="1"/>
          </p:cNvSpPr>
          <p:nvPr>
            <p:ph type="title"/>
          </p:nvPr>
        </p:nvSpPr>
        <p:spPr/>
        <p:txBody>
          <a:bodyPr/>
          <a:lstStyle/>
          <a:p>
            <a:r>
              <a:rPr lang="en-US" dirty="0"/>
              <a:t>What is Database</a:t>
            </a:r>
            <a:endParaRPr lang="en-IN" dirty="0"/>
          </a:p>
        </p:txBody>
      </p:sp>
      <p:sp>
        <p:nvSpPr>
          <p:cNvPr id="3" name="Content Placeholder 2">
            <a:extLst>
              <a:ext uri="{FF2B5EF4-FFF2-40B4-BE49-F238E27FC236}">
                <a16:creationId xmlns:a16="http://schemas.microsoft.com/office/drawing/2014/main" id="{92075535-7986-3C7A-F38D-94CDADD82B4A}"/>
              </a:ext>
            </a:extLst>
          </p:cNvPr>
          <p:cNvSpPr>
            <a:spLocks noGrp="1"/>
          </p:cNvSpPr>
          <p:nvPr>
            <p:ph idx="1"/>
          </p:nvPr>
        </p:nvSpPr>
        <p:spPr>
          <a:xfrm>
            <a:off x="838200" y="1825625"/>
            <a:ext cx="10515600" cy="1325563"/>
          </a:xfrm>
        </p:spPr>
        <p:txBody>
          <a:bodyPr/>
          <a:lstStyle/>
          <a:p>
            <a:pPr algn="just"/>
            <a:r>
              <a:rPr lang="en-US" dirty="0"/>
              <a:t>A database is an organized collection of electronic data, often structured in tables with rows and columns, that is designed for efficient storage, access, and management. </a:t>
            </a:r>
            <a:endParaRPr lang="en-IN" dirty="0"/>
          </a:p>
        </p:txBody>
      </p:sp>
      <p:sp>
        <p:nvSpPr>
          <p:cNvPr id="7" name="TextBox 6">
            <a:extLst>
              <a:ext uri="{FF2B5EF4-FFF2-40B4-BE49-F238E27FC236}">
                <a16:creationId xmlns:a16="http://schemas.microsoft.com/office/drawing/2014/main" id="{0FD00154-E669-8228-B614-25514578B801}"/>
              </a:ext>
            </a:extLst>
          </p:cNvPr>
          <p:cNvSpPr txBox="1"/>
          <p:nvPr/>
        </p:nvSpPr>
        <p:spPr>
          <a:xfrm>
            <a:off x="631371" y="3520666"/>
            <a:ext cx="10613572" cy="2677656"/>
          </a:xfrm>
          <a:prstGeom prst="rect">
            <a:avLst/>
          </a:prstGeom>
          <a:noFill/>
        </p:spPr>
        <p:txBody>
          <a:bodyPr wrap="square">
            <a:spAutoFit/>
          </a:bodyPr>
          <a:lstStyle/>
          <a:p>
            <a:pPr marL="457200" indent="-457200" algn="just">
              <a:buFont typeface="Arial" panose="020B0604020202020204" pitchFamily="34" charset="0"/>
              <a:buChar char="•"/>
            </a:pPr>
            <a:r>
              <a:rPr lang="en-US" sz="2800" dirty="0"/>
              <a:t>Databases are controlled by </a:t>
            </a:r>
            <a:r>
              <a:rPr lang="en-US" sz="2800" b="1" dirty="0">
                <a:solidFill>
                  <a:srgbClr val="FF0000"/>
                </a:solidFill>
              </a:rPr>
              <a:t>a database management system (DBMS)</a:t>
            </a:r>
            <a:r>
              <a:rPr lang="en-US" sz="2800" dirty="0"/>
              <a:t>, which allows users to </a:t>
            </a:r>
            <a:r>
              <a:rPr lang="en-US" sz="2800" dirty="0">
                <a:solidFill>
                  <a:srgbClr val="00B0F0"/>
                </a:solidFill>
              </a:rPr>
              <a:t>add, update, query, and organize information using languages like SQL</a:t>
            </a:r>
            <a:r>
              <a:rPr lang="en-US" sz="2800" dirty="0"/>
              <a:t>. They are used to store information for a wide range of applications, from personal contacts and social media user data to complex business and financial transactions. </a:t>
            </a:r>
            <a:r>
              <a:rPr lang="en-US" dirty="0"/>
              <a:t> </a:t>
            </a:r>
            <a:endParaRPr lang="en-IN" dirty="0"/>
          </a:p>
        </p:txBody>
      </p:sp>
    </p:spTree>
    <p:extLst>
      <p:ext uri="{BB962C8B-B14F-4D97-AF65-F5344CB8AC3E}">
        <p14:creationId xmlns:p14="http://schemas.microsoft.com/office/powerpoint/2010/main" val="3255270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2EB43-BC2E-26EB-7DCF-6AD29B8A8EED}"/>
              </a:ext>
            </a:extLst>
          </p:cNvPr>
          <p:cNvSpPr>
            <a:spLocks noGrp="1"/>
          </p:cNvSpPr>
          <p:nvPr>
            <p:ph type="title"/>
          </p:nvPr>
        </p:nvSpPr>
        <p:spPr/>
        <p:txBody>
          <a:bodyPr/>
          <a:lstStyle/>
          <a:p>
            <a:r>
              <a:rPr lang="en-US" dirty="0"/>
              <a:t>Why Database?</a:t>
            </a:r>
            <a:endParaRPr lang="en-IN" dirty="0"/>
          </a:p>
        </p:txBody>
      </p:sp>
      <p:sp>
        <p:nvSpPr>
          <p:cNvPr id="4" name="Flowchart: Direct Access Storage 3">
            <a:extLst>
              <a:ext uri="{FF2B5EF4-FFF2-40B4-BE49-F238E27FC236}">
                <a16:creationId xmlns:a16="http://schemas.microsoft.com/office/drawing/2014/main" id="{7F1EA8C9-2547-E34D-AF94-5C63DB3D492A}"/>
              </a:ext>
            </a:extLst>
          </p:cNvPr>
          <p:cNvSpPr/>
          <p:nvPr/>
        </p:nvSpPr>
        <p:spPr>
          <a:xfrm rot="16200000">
            <a:off x="1654629" y="1992086"/>
            <a:ext cx="2405743" cy="2046514"/>
          </a:xfrm>
          <a:prstGeom prst="flowChartMagneticDru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69F1D0C-CB33-5EEC-F4C3-55679325C763}"/>
              </a:ext>
            </a:extLst>
          </p:cNvPr>
          <p:cNvSpPr txBox="1"/>
          <p:nvPr/>
        </p:nvSpPr>
        <p:spPr>
          <a:xfrm>
            <a:off x="2296887" y="4419601"/>
            <a:ext cx="1058175" cy="369332"/>
          </a:xfrm>
          <a:prstGeom prst="rect">
            <a:avLst/>
          </a:prstGeom>
          <a:noFill/>
        </p:spPr>
        <p:txBody>
          <a:bodyPr wrap="none" rtlCol="0">
            <a:spAutoFit/>
          </a:bodyPr>
          <a:lstStyle/>
          <a:p>
            <a:r>
              <a:rPr lang="en-US" dirty="0"/>
              <a:t>Database</a:t>
            </a:r>
            <a:endParaRPr lang="en-IN" dirty="0"/>
          </a:p>
        </p:txBody>
      </p:sp>
      <p:sp>
        <p:nvSpPr>
          <p:cNvPr id="6" name="TextBox 5">
            <a:extLst>
              <a:ext uri="{FF2B5EF4-FFF2-40B4-BE49-F238E27FC236}">
                <a16:creationId xmlns:a16="http://schemas.microsoft.com/office/drawing/2014/main" id="{81580509-90E6-755F-761E-5616C3CA0A69}"/>
              </a:ext>
            </a:extLst>
          </p:cNvPr>
          <p:cNvSpPr txBox="1"/>
          <p:nvPr/>
        </p:nvSpPr>
        <p:spPr>
          <a:xfrm>
            <a:off x="7571018" y="1109672"/>
            <a:ext cx="2958238" cy="3108543"/>
          </a:xfrm>
          <a:prstGeom prst="rect">
            <a:avLst/>
          </a:prstGeom>
          <a:noFill/>
        </p:spPr>
        <p:txBody>
          <a:bodyPr wrap="square" rtlCol="0">
            <a:spAutoFit/>
          </a:bodyPr>
          <a:lstStyle/>
          <a:p>
            <a:r>
              <a:rPr lang="en-US" sz="2800" dirty="0" err="1">
                <a:latin typeface="Times New Roman" panose="02020603050405020304" pitchFamily="18" charset="0"/>
                <a:cs typeface="Times New Roman" panose="02020603050405020304" pitchFamily="18" charset="0"/>
              </a:rPr>
              <a:t>StudentDetails</a:t>
            </a:r>
            <a:r>
              <a:rPr lang="en-US" sz="28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Name</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Roll No</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Address</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Mobile No.</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Age</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Gender</a:t>
            </a:r>
            <a:endParaRPr lang="en-IN" sz="2800" dirty="0">
              <a:latin typeface="Times New Roman" panose="02020603050405020304" pitchFamily="18" charset="0"/>
              <a:cs typeface="Times New Roman" panose="02020603050405020304" pitchFamily="18" charset="0"/>
            </a:endParaRPr>
          </a:p>
        </p:txBody>
      </p:sp>
      <p:sp>
        <p:nvSpPr>
          <p:cNvPr id="7" name="Arrow: Left 6">
            <a:extLst>
              <a:ext uri="{FF2B5EF4-FFF2-40B4-BE49-F238E27FC236}">
                <a16:creationId xmlns:a16="http://schemas.microsoft.com/office/drawing/2014/main" id="{443D75A9-E30A-53DA-906A-197018AA81B1}"/>
              </a:ext>
            </a:extLst>
          </p:cNvPr>
          <p:cNvSpPr/>
          <p:nvPr/>
        </p:nvSpPr>
        <p:spPr>
          <a:xfrm>
            <a:off x="4577445" y="2543809"/>
            <a:ext cx="2296886" cy="102325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61325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F65BD8F-F54C-D47B-56A9-4E44F32F4EF9}"/>
              </a:ext>
            </a:extLst>
          </p:cNvPr>
          <p:cNvSpPr>
            <a:spLocks noChangeArrowheads="1"/>
          </p:cNvSpPr>
          <p:nvPr/>
        </p:nvSpPr>
        <p:spPr bwMode="auto">
          <a:xfrm>
            <a:off x="119743" y="0"/>
            <a:ext cx="11876314" cy="69018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Efficient Data Management:</a:t>
            </a:r>
            <a:r>
              <a:rPr kumimoji="0" lang="en-US" altLang="en-US" sz="2000" b="0" i="0" u="none" strike="noStrike" cap="none" normalizeH="0" baseline="0" dirty="0">
                <a:ln>
                  <a:noFill/>
                </a:ln>
                <a:solidFill>
                  <a:srgbClr val="001D35"/>
                </a:solidFill>
                <a:effectLst/>
                <a:latin typeface="Google Sans"/>
              </a:rPr>
              <a:t> Databases provide a structured way to organize and store vast amounts of data, 			</a:t>
            </a:r>
            <a:r>
              <a:rPr kumimoji="0" lang="en-US" altLang="en-US" sz="2000" b="0" i="0" u="none" strike="noStrike" cap="none" normalizeH="0" dirty="0">
                <a:ln>
                  <a:noFill/>
                </a:ln>
                <a:solidFill>
                  <a:srgbClr val="001D35"/>
                </a:solidFill>
                <a:effectLst/>
                <a:latin typeface="Google Sans"/>
              </a:rPr>
              <a:t>       </a:t>
            </a:r>
            <a:r>
              <a:rPr kumimoji="0" lang="en-US" altLang="en-US" sz="2000" b="0" i="0" u="none" strike="noStrike" cap="none" normalizeH="0" baseline="0" dirty="0">
                <a:ln>
                  <a:noFill/>
                </a:ln>
                <a:solidFill>
                  <a:srgbClr val="001D35"/>
                </a:solidFill>
                <a:effectLst/>
                <a:latin typeface="Google Sans"/>
              </a:rPr>
              <a:t>making it easy to add, edit, or delete records.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Data Integrity and Accuracy:</a:t>
            </a:r>
            <a:r>
              <a:rPr kumimoji="0" lang="en-US" altLang="en-US" sz="2000" b="0" i="0" u="none" strike="noStrike" cap="none" normalizeH="0" baseline="0" dirty="0">
                <a:ln>
                  <a:noFill/>
                </a:ln>
                <a:solidFill>
                  <a:srgbClr val="001D35"/>
                </a:solidFill>
                <a:effectLst/>
                <a:latin typeface="Google Sans"/>
              </a:rPr>
              <a:t> Built-in constraints and validation rules ensure data consistency and prevent 			</a:t>
            </a:r>
            <a:r>
              <a:rPr lang="en-US" altLang="en-US" sz="2000" dirty="0">
                <a:solidFill>
                  <a:srgbClr val="001D35"/>
                </a:solidFill>
                <a:latin typeface="Google Sans"/>
              </a:rPr>
              <a:t>        </a:t>
            </a:r>
            <a:r>
              <a:rPr kumimoji="0" lang="en-US" altLang="en-US" sz="2000" b="0" i="0" u="none" strike="noStrike" cap="none" normalizeH="0" baseline="0" dirty="0">
                <a:ln>
                  <a:noFill/>
                </a:ln>
                <a:solidFill>
                  <a:srgbClr val="001D35"/>
                </a:solidFill>
                <a:effectLst/>
                <a:latin typeface="Google Sans"/>
              </a:rPr>
              <a:t>duplication and errors, leading to more reliable information.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Scalability:</a:t>
            </a:r>
            <a:r>
              <a:rPr kumimoji="0" lang="en-US" altLang="en-US" sz="2000" b="0" i="0" u="none" strike="noStrike" cap="none" normalizeH="0" baseline="0" dirty="0">
                <a:ln>
                  <a:noFill/>
                </a:ln>
                <a:solidFill>
                  <a:srgbClr val="001D35"/>
                </a:solidFill>
                <a:effectLst/>
                <a:latin typeface="Google Sans"/>
              </a:rPr>
              <a:t> Databases can grow to handle enormous datasets, from small applications to "big data" challenges      	</a:t>
            </a:r>
            <a:r>
              <a:rPr kumimoji="0" lang="en-US" altLang="en-US" sz="2000" b="0" i="0" u="none" strike="noStrike" cap="none" normalizeH="0" dirty="0">
                <a:ln>
                  <a:noFill/>
                </a:ln>
                <a:solidFill>
                  <a:srgbClr val="001D35"/>
                </a:solidFill>
                <a:effectLst/>
                <a:latin typeface="Google Sans"/>
              </a:rPr>
              <a:t>       </a:t>
            </a:r>
            <a:r>
              <a:rPr kumimoji="0" lang="en-US" altLang="en-US" sz="2000" b="0" i="0" u="none" strike="noStrike" cap="none" normalizeH="0" baseline="0" dirty="0">
                <a:ln>
                  <a:noFill/>
                </a:ln>
                <a:solidFill>
                  <a:srgbClr val="001D35"/>
                </a:solidFill>
                <a:effectLst/>
                <a:latin typeface="Google Sans"/>
              </a:rPr>
              <a:t>faced by companies like Google, ensuring they remain effective as data accumulates over time.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Data Security:</a:t>
            </a:r>
            <a:r>
              <a:rPr kumimoji="0" lang="en-US" altLang="en-US" sz="2000" b="0" i="0" u="none" strike="noStrike" cap="none" normalizeH="0" baseline="0" dirty="0">
                <a:ln>
                  <a:noFill/>
                </a:ln>
                <a:solidFill>
                  <a:srgbClr val="001D35"/>
                </a:solidFill>
                <a:effectLst/>
                <a:latin typeface="Google Sans"/>
              </a:rPr>
              <a:t> Access controls, user authentication, and encryption protect sensitive information 		       from unauthorized access, ensuring confidentiality and compliance with regulations.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Multi-User Access:</a:t>
            </a:r>
            <a:r>
              <a:rPr kumimoji="0" lang="en-US" altLang="en-US" sz="2000" b="0" i="0" u="none" strike="noStrike" cap="none" normalizeH="0" baseline="0" dirty="0">
                <a:ln>
                  <a:noFill/>
                </a:ln>
                <a:solidFill>
                  <a:srgbClr val="001D35"/>
                </a:solidFill>
                <a:effectLst/>
                <a:latin typeface="Google Sans"/>
              </a:rPr>
              <a:t> Multiple users can access and modify the same database simultaneously without creating 	                      conflicts or inconsistencies, promoting collaboration.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Faster Data Retrieval:</a:t>
            </a:r>
            <a:r>
              <a:rPr kumimoji="0" lang="en-US" altLang="en-US" sz="2000" b="0" i="0" u="none" strike="noStrike" cap="none" normalizeH="0" baseline="0" dirty="0">
                <a:ln>
                  <a:noFill/>
                </a:ln>
                <a:solidFill>
                  <a:srgbClr val="001D35"/>
                </a:solidFill>
                <a:effectLst/>
                <a:latin typeface="Google Sans"/>
              </a:rPr>
              <a:t> Sophisticated indexing and query capabilities allow for swift and precise retrieval of 		</a:t>
            </a:r>
            <a:r>
              <a:rPr kumimoji="0" lang="en-US" altLang="en-US" sz="2000" b="0" i="0" u="none" strike="noStrike" cap="none" normalizeH="0" dirty="0">
                <a:ln>
                  <a:noFill/>
                </a:ln>
                <a:solidFill>
                  <a:srgbClr val="001D35"/>
                </a:solidFill>
                <a:effectLst/>
                <a:latin typeface="Google Sans"/>
              </a:rPr>
              <a:t>          </a:t>
            </a:r>
            <a:r>
              <a:rPr kumimoji="0" lang="en-US" altLang="en-US" sz="2000" b="0" i="0" u="none" strike="noStrike" cap="none" normalizeH="0" baseline="0" dirty="0">
                <a:ln>
                  <a:noFill/>
                </a:ln>
                <a:solidFill>
                  <a:srgbClr val="001D35"/>
                </a:solidFill>
                <a:effectLst/>
                <a:latin typeface="Google Sans"/>
              </a:rPr>
              <a:t>specific information from large datasets.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Data Analysis and Insights:</a:t>
            </a:r>
            <a:r>
              <a:rPr kumimoji="0" lang="en-US" altLang="en-US" sz="2000" b="0" i="0" u="none" strike="noStrike" cap="none" normalizeH="0" baseline="0" dirty="0">
                <a:ln>
                  <a:noFill/>
                </a:ln>
                <a:solidFill>
                  <a:srgbClr val="001D35"/>
                </a:solidFill>
                <a:effectLst/>
                <a:latin typeface="Google Sans"/>
              </a:rPr>
              <a:t> Databases empower organizations to analyze data, identify trends, and uncover 			     insights that support informed business decisions.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Backup and Recovery:</a:t>
            </a:r>
            <a:r>
              <a:rPr kumimoji="0" lang="en-US" altLang="en-US" sz="2000" b="0" i="0" u="none" strike="noStrike" cap="none" normalizeH="0" baseline="0" dirty="0">
                <a:ln>
                  <a:noFill/>
                </a:ln>
                <a:solidFill>
                  <a:srgbClr val="001D35"/>
                </a:solidFill>
                <a:effectLst/>
                <a:latin typeface="Google Sans"/>
              </a:rPr>
              <a:t> Databases typically include automated backup and recovery features to protect against 		</a:t>
            </a:r>
            <a:r>
              <a:rPr kumimoji="0" lang="en-US" altLang="en-US" sz="2000" b="0" i="0" u="none" strike="noStrike" cap="none" normalizeH="0" dirty="0">
                <a:ln>
                  <a:noFill/>
                </a:ln>
                <a:solidFill>
                  <a:srgbClr val="001D35"/>
                </a:solidFill>
                <a:effectLst/>
                <a:latin typeface="Google Sans"/>
              </a:rPr>
              <a:t>           </a:t>
            </a:r>
            <a:r>
              <a:rPr kumimoji="0" lang="en-US" altLang="en-US" sz="2000" b="0" i="0" u="none" strike="noStrike" cap="none" normalizeH="0" baseline="0" dirty="0">
                <a:ln>
                  <a:noFill/>
                </a:ln>
                <a:solidFill>
                  <a:srgbClr val="001D35"/>
                </a:solidFill>
                <a:effectLst/>
                <a:latin typeface="Google Sans"/>
              </a:rPr>
              <a:t>data loss in the event of a system failure.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Data Integration:</a:t>
            </a:r>
            <a:r>
              <a:rPr kumimoji="0" lang="en-US" altLang="en-US" sz="2000" b="0" i="0" u="none" strike="noStrike" cap="none" normalizeH="0" baseline="0" dirty="0">
                <a:ln>
                  <a:noFill/>
                </a:ln>
                <a:solidFill>
                  <a:srgbClr val="001D35"/>
                </a:solidFill>
                <a:effectLst/>
                <a:latin typeface="Google Sans"/>
              </a:rPr>
              <a:t> They facilitate data sharing and consistent access across different systems and applications, 		allowing for the combination of data from various sources.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Reduced Redundancy:</a:t>
            </a:r>
            <a:r>
              <a:rPr kumimoji="0" lang="en-US" altLang="en-US" sz="2000" b="0" i="0" u="none" strike="noStrike" cap="none" normalizeH="0" baseline="0" dirty="0">
                <a:ln>
                  <a:noFill/>
                </a:ln>
                <a:solidFill>
                  <a:srgbClr val="001D35"/>
                </a:solidFill>
                <a:effectLst/>
                <a:latin typeface="Google Sans"/>
              </a:rPr>
              <a:t> By centralizing data, databases minimize duplication, which saves storage space and 		</a:t>
            </a:r>
            <a:r>
              <a:rPr kumimoji="0" lang="en-US" altLang="en-US" sz="2000" b="0" i="0" u="none" strike="noStrike" cap="none" normalizeH="0" dirty="0">
                <a:ln>
                  <a:noFill/>
                </a:ln>
                <a:solidFill>
                  <a:srgbClr val="001D35"/>
                </a:solidFill>
                <a:effectLst/>
                <a:latin typeface="Google Sans"/>
              </a:rPr>
              <a:t>            </a:t>
            </a:r>
            <a:r>
              <a:rPr kumimoji="0" lang="en-US" altLang="en-US" sz="2000" b="0" i="0" u="none" strike="noStrike" cap="none" normalizeH="0" baseline="0" dirty="0">
                <a:ln>
                  <a:noFill/>
                </a:ln>
                <a:solidFill>
                  <a:srgbClr val="001D35"/>
                </a:solidFill>
                <a:effectLst/>
                <a:latin typeface="Google Sans"/>
              </a:rPr>
              <a:t>maintains data consistency across the system.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1668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6CBF9-B21F-5CB4-A8E2-2546B3964A09}"/>
              </a:ext>
            </a:extLst>
          </p:cNvPr>
          <p:cNvSpPr>
            <a:spLocks noGrp="1"/>
          </p:cNvSpPr>
          <p:nvPr>
            <p:ph type="title"/>
          </p:nvPr>
        </p:nvSpPr>
        <p:spPr/>
        <p:txBody>
          <a:bodyPr/>
          <a:lstStyle/>
          <a:p>
            <a:r>
              <a:rPr lang="en-US" dirty="0"/>
              <a:t>Data Store Techniques</a:t>
            </a:r>
            <a:endParaRPr lang="en-IN" dirty="0"/>
          </a:p>
        </p:txBody>
      </p:sp>
      <p:sp>
        <p:nvSpPr>
          <p:cNvPr id="3" name="Content Placeholder 2">
            <a:extLst>
              <a:ext uri="{FF2B5EF4-FFF2-40B4-BE49-F238E27FC236}">
                <a16:creationId xmlns:a16="http://schemas.microsoft.com/office/drawing/2014/main" id="{6EA06290-7E8F-B557-89CA-E4BBDEB0C3C3}"/>
              </a:ext>
            </a:extLst>
          </p:cNvPr>
          <p:cNvSpPr>
            <a:spLocks noGrp="1"/>
          </p:cNvSpPr>
          <p:nvPr>
            <p:ph idx="1"/>
          </p:nvPr>
        </p:nvSpPr>
        <p:spPr/>
        <p:txBody>
          <a:bodyPr/>
          <a:lstStyle/>
          <a:p>
            <a:r>
              <a:rPr lang="en-US" dirty="0"/>
              <a:t>Books and File System</a:t>
            </a:r>
          </a:p>
          <a:p>
            <a:r>
              <a:rPr lang="en-US" dirty="0"/>
              <a:t>Flat File System</a:t>
            </a:r>
          </a:p>
          <a:p>
            <a:r>
              <a:rPr lang="en-US" dirty="0"/>
              <a:t>Database</a:t>
            </a:r>
            <a:endParaRPr lang="en-IN" dirty="0"/>
          </a:p>
        </p:txBody>
      </p:sp>
    </p:spTree>
    <p:extLst>
      <p:ext uri="{BB962C8B-B14F-4D97-AF65-F5344CB8AC3E}">
        <p14:creationId xmlns:p14="http://schemas.microsoft.com/office/powerpoint/2010/main" val="2057507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CCF50-1E0F-A22D-D32A-C7B757A96942}"/>
              </a:ext>
            </a:extLst>
          </p:cNvPr>
          <p:cNvSpPr>
            <a:spLocks noGrp="1"/>
          </p:cNvSpPr>
          <p:nvPr>
            <p:ph type="title"/>
          </p:nvPr>
        </p:nvSpPr>
        <p:spPr/>
        <p:txBody>
          <a:bodyPr/>
          <a:lstStyle/>
          <a:p>
            <a:r>
              <a:rPr lang="en-US" dirty="0"/>
              <a:t>Flat File System</a:t>
            </a:r>
            <a:endParaRPr lang="en-IN" dirty="0"/>
          </a:p>
        </p:txBody>
      </p:sp>
      <p:sp>
        <p:nvSpPr>
          <p:cNvPr id="3" name="Content Placeholder 2">
            <a:extLst>
              <a:ext uri="{FF2B5EF4-FFF2-40B4-BE49-F238E27FC236}">
                <a16:creationId xmlns:a16="http://schemas.microsoft.com/office/drawing/2014/main" id="{BAD56A2F-B1D5-499C-3FDA-4EA367852345}"/>
              </a:ext>
            </a:extLst>
          </p:cNvPr>
          <p:cNvSpPr>
            <a:spLocks noGrp="1"/>
          </p:cNvSpPr>
          <p:nvPr>
            <p:ph idx="1"/>
          </p:nvPr>
        </p:nvSpPr>
        <p:spPr/>
        <p:txBody>
          <a:bodyPr>
            <a:normAutofit/>
          </a:bodyPr>
          <a:lstStyle/>
          <a:p>
            <a:r>
              <a:rPr lang="en-IN" b="1" dirty="0"/>
              <a:t>Data Related Problems</a:t>
            </a:r>
            <a:r>
              <a:rPr lang="en-IN" dirty="0"/>
              <a:t> </a:t>
            </a:r>
          </a:p>
          <a:p>
            <a:pPr lvl="1"/>
            <a:r>
              <a:rPr lang="en-US" b="1" dirty="0">
                <a:hlinkClick r:id="rId2"/>
              </a:rPr>
              <a:t>Data Redundancy</a:t>
            </a:r>
            <a:r>
              <a:rPr lang="en-US" b="1" dirty="0"/>
              <a:t>:</a:t>
            </a:r>
            <a:r>
              <a:rPr lang="en-US" dirty="0"/>
              <a:t> The same data is often duplicated across multiple files, consuming more storage space. </a:t>
            </a:r>
            <a:endParaRPr lang="en-IN" dirty="0"/>
          </a:p>
          <a:p>
            <a:pPr lvl="1"/>
            <a:r>
              <a:rPr lang="en-US" b="1" dirty="0">
                <a:hlinkClick r:id="rId3"/>
              </a:rPr>
              <a:t>Data Inconsistency</a:t>
            </a:r>
            <a:r>
              <a:rPr lang="en-US" b="1" dirty="0"/>
              <a:t>:</a:t>
            </a:r>
            <a:r>
              <a:rPr lang="en-US" dirty="0"/>
              <a:t> Due to redundancy, updates to data in one file may not be reflected in others, leading to data being different across the system</a:t>
            </a:r>
          </a:p>
          <a:p>
            <a:pPr lvl="1"/>
            <a:r>
              <a:rPr lang="en-US" b="1" dirty="0">
                <a:hlinkClick r:id="rId4"/>
              </a:rPr>
              <a:t>Data Isolation</a:t>
            </a:r>
            <a:r>
              <a:rPr lang="en-US" b="1" dirty="0"/>
              <a:t>:</a:t>
            </a:r>
            <a:r>
              <a:rPr lang="en-US" dirty="0"/>
              <a:t> Data is scattered across various files in different formats, making it difficult to find and access all related information in one place</a:t>
            </a:r>
          </a:p>
          <a:p>
            <a:endParaRPr lang="en-US" dirty="0"/>
          </a:p>
        </p:txBody>
      </p:sp>
    </p:spTree>
    <p:extLst>
      <p:ext uri="{BB962C8B-B14F-4D97-AF65-F5344CB8AC3E}">
        <p14:creationId xmlns:p14="http://schemas.microsoft.com/office/powerpoint/2010/main" val="1181624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99009A-9408-3D96-9585-CB89F5B421ED}"/>
              </a:ext>
            </a:extLst>
          </p:cNvPr>
          <p:cNvSpPr>
            <a:spLocks noGrp="1"/>
          </p:cNvSpPr>
          <p:nvPr>
            <p:ph idx="1"/>
          </p:nvPr>
        </p:nvSpPr>
        <p:spPr>
          <a:xfrm>
            <a:off x="838200" y="304800"/>
            <a:ext cx="10515600" cy="5872163"/>
          </a:xfrm>
        </p:spPr>
        <p:txBody>
          <a:bodyPr>
            <a:normAutofit fontScale="92500" lnSpcReduction="10000"/>
          </a:bodyPr>
          <a:lstStyle/>
          <a:p>
            <a:r>
              <a:rPr lang="en-IN" b="1" dirty="0"/>
              <a:t>Access and Usage Problems</a:t>
            </a:r>
          </a:p>
          <a:p>
            <a:pPr lvl="1"/>
            <a:r>
              <a:rPr lang="en-US" b="1" u="sng" dirty="0">
                <a:solidFill>
                  <a:srgbClr val="00B0F0"/>
                </a:solidFill>
              </a:rPr>
              <a:t>Difficulty in Data Access</a:t>
            </a:r>
            <a:r>
              <a:rPr lang="en-US" b="1" dirty="0"/>
              <a:t>: </a:t>
            </a:r>
            <a:r>
              <a:rPr lang="en-US" dirty="0"/>
              <a:t>Retrieving specific information requires manual searching through files or writing application programs, rather than using efficient query systems</a:t>
            </a:r>
          </a:p>
          <a:p>
            <a:pPr lvl="1"/>
            <a:r>
              <a:rPr lang="en-US" b="1" u="sng" dirty="0">
                <a:solidFill>
                  <a:srgbClr val="00B0F0"/>
                </a:solidFill>
              </a:rPr>
              <a:t>Lack of Data Integration</a:t>
            </a:r>
            <a:r>
              <a:rPr lang="en-US" b="1" dirty="0"/>
              <a:t>:</a:t>
            </a:r>
            <a:r>
              <a:rPr lang="en-US" dirty="0"/>
              <a:t> It is challenging to combine and relate data stored in different, isolated files, hindering coherent data views</a:t>
            </a:r>
          </a:p>
          <a:p>
            <a:pPr lvl="1"/>
            <a:r>
              <a:rPr lang="en-US" b="1" dirty="0">
                <a:solidFill>
                  <a:srgbClr val="00B0F0"/>
                </a:solidFill>
                <a:hlinkClick r:id="rId2">
                  <a:extLst>
                    <a:ext uri="{A12FA001-AC4F-418D-AE19-62706E023703}">
                      <ahyp:hlinkClr xmlns:ahyp="http://schemas.microsoft.com/office/drawing/2018/hyperlinkcolor" val="tx"/>
                    </a:ext>
                  </a:extLst>
                </a:hlinkClick>
              </a:rPr>
              <a:t>Program Dependence</a:t>
            </a:r>
            <a:r>
              <a:rPr lang="en-US" b="1" dirty="0"/>
              <a:t>:</a:t>
            </a:r>
            <a:r>
              <a:rPr lang="en-US" dirty="0"/>
              <a:t> The physical structure and file formats are tied to specific application programs, meaning any change to a file structure requires modifying the application</a:t>
            </a:r>
          </a:p>
          <a:p>
            <a:pPr marL="457200" lvl="1" indent="0">
              <a:buNone/>
            </a:pPr>
            <a:endParaRPr lang="en-US" dirty="0"/>
          </a:p>
          <a:p>
            <a:r>
              <a:rPr lang="en-US" b="1" dirty="0"/>
              <a:t>Integrity, Security, and Concurrency Issues</a:t>
            </a:r>
          </a:p>
          <a:p>
            <a:pPr lvl="1"/>
            <a:r>
              <a:rPr lang="en-US" b="1" u="sng" dirty="0">
                <a:solidFill>
                  <a:srgbClr val="00B0F0"/>
                </a:solidFill>
                <a:hlinkClick r:id="rId3">
                  <a:extLst>
                    <a:ext uri="{A12FA001-AC4F-418D-AE19-62706E023703}">
                      <ahyp:hlinkClr xmlns:ahyp="http://schemas.microsoft.com/office/drawing/2018/hyperlinkcolor" val="tx"/>
                    </a:ext>
                  </a:extLst>
                </a:hlinkClick>
              </a:rPr>
              <a:t>Data Integrity</a:t>
            </a:r>
            <a:r>
              <a:rPr lang="en-US" b="1" u="sng" dirty="0">
                <a:solidFill>
                  <a:srgbClr val="00B0F0"/>
                </a:solidFill>
              </a:rPr>
              <a:t> Problems</a:t>
            </a:r>
            <a:r>
              <a:rPr lang="en-US" b="1" dirty="0"/>
              <a:t>:</a:t>
            </a:r>
            <a:r>
              <a:rPr lang="en-US" dirty="0"/>
              <a:t> Enforcing rules and constraints on data is difficult, as they must be programmed into each application individually</a:t>
            </a:r>
          </a:p>
          <a:p>
            <a:pPr lvl="1"/>
            <a:r>
              <a:rPr lang="en-US" b="1" dirty="0">
                <a:solidFill>
                  <a:srgbClr val="00B0F0"/>
                </a:solidFill>
                <a:hlinkClick r:id="rId4">
                  <a:extLst>
                    <a:ext uri="{A12FA001-AC4F-418D-AE19-62706E023703}">
                      <ahyp:hlinkClr xmlns:ahyp="http://schemas.microsoft.com/office/drawing/2018/hyperlinkcolor" val="tx"/>
                    </a:ext>
                  </a:extLst>
                </a:hlinkClick>
              </a:rPr>
              <a:t>Security Problems</a:t>
            </a:r>
            <a:r>
              <a:rPr lang="en-US" b="1" dirty="0"/>
              <a:t>:</a:t>
            </a:r>
            <a:r>
              <a:rPr lang="en-US" dirty="0"/>
              <a:t> File-based systems offer limited security controls, making it hard to restrict access to specific data for different users</a:t>
            </a:r>
          </a:p>
          <a:p>
            <a:pPr lvl="1"/>
            <a:r>
              <a:rPr lang="en-US" b="1" u="sng" dirty="0">
                <a:solidFill>
                  <a:srgbClr val="00B0F0"/>
                </a:solidFill>
                <a:hlinkClick r:id="rId5">
                  <a:extLst>
                    <a:ext uri="{A12FA001-AC4F-418D-AE19-62706E023703}">
                      <ahyp:hlinkClr xmlns:ahyp="http://schemas.microsoft.com/office/drawing/2018/hyperlinkcolor" val="tx"/>
                    </a:ext>
                  </a:extLst>
                </a:hlinkClick>
              </a:rPr>
              <a:t>Concurrent Access</a:t>
            </a:r>
            <a:r>
              <a:rPr lang="en-US" b="1" u="sng" dirty="0">
                <a:solidFill>
                  <a:srgbClr val="00B0F0"/>
                </a:solidFill>
              </a:rPr>
              <a:t> Anomalies</a:t>
            </a:r>
            <a:r>
              <a:rPr lang="en-US" b="1" dirty="0"/>
              <a:t>:</a:t>
            </a:r>
            <a:r>
              <a:rPr lang="en-US" dirty="0"/>
              <a:t> Multiple users trying to access and modify the same data simultaneously can lead to incorrect results and data corruption due to a lack of proper control</a:t>
            </a:r>
          </a:p>
          <a:p>
            <a:endParaRPr lang="en-IN" dirty="0"/>
          </a:p>
        </p:txBody>
      </p:sp>
    </p:spTree>
    <p:extLst>
      <p:ext uri="{BB962C8B-B14F-4D97-AF65-F5344CB8AC3E}">
        <p14:creationId xmlns:p14="http://schemas.microsoft.com/office/powerpoint/2010/main" val="2911755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A8FC-30C8-BF75-94F5-44AA113C2FE4}"/>
              </a:ext>
            </a:extLst>
          </p:cNvPr>
          <p:cNvSpPr>
            <a:spLocks noGrp="1"/>
          </p:cNvSpPr>
          <p:nvPr>
            <p:ph type="title"/>
          </p:nvPr>
        </p:nvSpPr>
        <p:spPr>
          <a:xfrm>
            <a:off x="838200" y="-298903"/>
            <a:ext cx="10515600" cy="1325563"/>
          </a:xfrm>
        </p:spPr>
        <p:txBody>
          <a:bodyPr/>
          <a:lstStyle/>
          <a:p>
            <a:r>
              <a:rPr lang="en-US" dirty="0"/>
              <a:t>Database Model</a:t>
            </a:r>
            <a:endParaRPr lang="en-IN" dirty="0"/>
          </a:p>
        </p:txBody>
      </p:sp>
      <p:sp>
        <p:nvSpPr>
          <p:cNvPr id="3" name="Content Placeholder 2">
            <a:extLst>
              <a:ext uri="{FF2B5EF4-FFF2-40B4-BE49-F238E27FC236}">
                <a16:creationId xmlns:a16="http://schemas.microsoft.com/office/drawing/2014/main" id="{2BA0083D-65A4-F412-C9C2-6FCB0F70284C}"/>
              </a:ext>
            </a:extLst>
          </p:cNvPr>
          <p:cNvSpPr>
            <a:spLocks noGrp="1"/>
          </p:cNvSpPr>
          <p:nvPr>
            <p:ph idx="1"/>
          </p:nvPr>
        </p:nvSpPr>
        <p:spPr>
          <a:xfrm>
            <a:off x="838200" y="685801"/>
            <a:ext cx="10515600" cy="3494317"/>
          </a:xfrm>
        </p:spPr>
        <p:txBody>
          <a:bodyPr>
            <a:normAutofit fontScale="92500" lnSpcReduction="10000"/>
          </a:bodyPr>
          <a:lstStyle/>
          <a:p>
            <a:r>
              <a:rPr lang="en-US" dirty="0"/>
              <a:t>RDBMS</a:t>
            </a:r>
          </a:p>
          <a:p>
            <a:pPr lvl="1"/>
            <a:r>
              <a:rPr lang="en-US" dirty="0"/>
              <a:t>Store Data in tabular format (Rows and Columns ) </a:t>
            </a:r>
          </a:p>
          <a:p>
            <a:pPr lvl="2"/>
            <a:r>
              <a:rPr lang="en-US" dirty="0"/>
              <a:t>Oracle , </a:t>
            </a:r>
            <a:r>
              <a:rPr lang="en-US" dirty="0" err="1"/>
              <a:t>MySql</a:t>
            </a:r>
            <a:r>
              <a:rPr lang="en-US" dirty="0"/>
              <a:t> , </a:t>
            </a:r>
            <a:r>
              <a:rPr lang="en-US" dirty="0" err="1"/>
              <a:t>Postgre</a:t>
            </a:r>
            <a:r>
              <a:rPr lang="en-US" dirty="0"/>
              <a:t> </a:t>
            </a:r>
            <a:r>
              <a:rPr lang="en-US" dirty="0" err="1"/>
              <a:t>Sql</a:t>
            </a:r>
            <a:r>
              <a:rPr lang="en-US" dirty="0"/>
              <a:t> </a:t>
            </a:r>
            <a:r>
              <a:rPr lang="en-US" dirty="0" err="1"/>
              <a:t>etc</a:t>
            </a:r>
            <a:endParaRPr lang="en-IN" dirty="0"/>
          </a:p>
          <a:p>
            <a:r>
              <a:rPr lang="en-US" dirty="0"/>
              <a:t>NoSQL</a:t>
            </a:r>
          </a:p>
          <a:p>
            <a:pPr lvl="1"/>
            <a:r>
              <a:rPr lang="en-US" dirty="0"/>
              <a:t>Store data in Unstructured format</a:t>
            </a:r>
          </a:p>
          <a:p>
            <a:pPr lvl="2"/>
            <a:r>
              <a:rPr lang="en-US" dirty="0" err="1"/>
              <a:t>MangoDB</a:t>
            </a:r>
            <a:r>
              <a:rPr lang="en-US" dirty="0"/>
              <a:t> , Redis </a:t>
            </a:r>
            <a:r>
              <a:rPr lang="en-US" dirty="0" err="1"/>
              <a:t>etc</a:t>
            </a:r>
            <a:r>
              <a:rPr lang="en-US" dirty="0"/>
              <a:t>…</a:t>
            </a:r>
          </a:p>
          <a:p>
            <a:r>
              <a:rPr lang="en-US" dirty="0"/>
              <a:t>HDBMS</a:t>
            </a:r>
          </a:p>
          <a:p>
            <a:pPr lvl="1"/>
            <a:r>
              <a:rPr lang="en-US" dirty="0"/>
              <a:t>Hierarchical DBMS – Data Store like Tree Format(Organizational Structure)</a:t>
            </a:r>
          </a:p>
          <a:p>
            <a:pPr lvl="1"/>
            <a:r>
              <a:rPr lang="en-US" dirty="0"/>
              <a:t>IBM-Information Management System</a:t>
            </a:r>
          </a:p>
          <a:p>
            <a:pPr lvl="2"/>
            <a:endParaRPr lang="en-US" dirty="0"/>
          </a:p>
          <a:p>
            <a:pPr lvl="2"/>
            <a:endParaRPr lang="en-US" dirty="0"/>
          </a:p>
        </p:txBody>
      </p:sp>
      <p:sp>
        <p:nvSpPr>
          <p:cNvPr id="4" name="Rectangle 3">
            <a:extLst>
              <a:ext uri="{FF2B5EF4-FFF2-40B4-BE49-F238E27FC236}">
                <a16:creationId xmlns:a16="http://schemas.microsoft.com/office/drawing/2014/main" id="{587BC774-2D30-ECA8-BD08-D45ED924FDBA}"/>
              </a:ext>
            </a:extLst>
          </p:cNvPr>
          <p:cNvSpPr/>
          <p:nvPr/>
        </p:nvSpPr>
        <p:spPr>
          <a:xfrm>
            <a:off x="5007429" y="4245428"/>
            <a:ext cx="1600200" cy="4789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 1</a:t>
            </a:r>
            <a:endParaRPr lang="en-IN" dirty="0">
              <a:solidFill>
                <a:schemeClr val="tx1"/>
              </a:solidFill>
            </a:endParaRPr>
          </a:p>
        </p:txBody>
      </p:sp>
      <p:sp>
        <p:nvSpPr>
          <p:cNvPr id="5" name="Rectangle 4">
            <a:extLst>
              <a:ext uri="{FF2B5EF4-FFF2-40B4-BE49-F238E27FC236}">
                <a16:creationId xmlns:a16="http://schemas.microsoft.com/office/drawing/2014/main" id="{A22CFF56-D3A9-D3D9-7F39-567EFC8AE1F6}"/>
              </a:ext>
            </a:extLst>
          </p:cNvPr>
          <p:cNvSpPr/>
          <p:nvPr/>
        </p:nvSpPr>
        <p:spPr>
          <a:xfrm>
            <a:off x="2166257" y="5029199"/>
            <a:ext cx="1600200" cy="4789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 2</a:t>
            </a:r>
            <a:endParaRPr lang="en-IN" dirty="0">
              <a:solidFill>
                <a:schemeClr val="tx1"/>
              </a:solidFill>
            </a:endParaRPr>
          </a:p>
        </p:txBody>
      </p:sp>
      <p:sp>
        <p:nvSpPr>
          <p:cNvPr id="6" name="Rectangle 5">
            <a:extLst>
              <a:ext uri="{FF2B5EF4-FFF2-40B4-BE49-F238E27FC236}">
                <a16:creationId xmlns:a16="http://schemas.microsoft.com/office/drawing/2014/main" id="{3C920248-D50F-F2CC-9675-8A7558F57379}"/>
              </a:ext>
            </a:extLst>
          </p:cNvPr>
          <p:cNvSpPr/>
          <p:nvPr/>
        </p:nvSpPr>
        <p:spPr>
          <a:xfrm>
            <a:off x="5007429" y="5029199"/>
            <a:ext cx="1600200" cy="4789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 3</a:t>
            </a:r>
            <a:endParaRPr lang="en-IN" dirty="0">
              <a:solidFill>
                <a:schemeClr val="tx1"/>
              </a:solidFill>
            </a:endParaRPr>
          </a:p>
        </p:txBody>
      </p:sp>
      <p:sp>
        <p:nvSpPr>
          <p:cNvPr id="7" name="Rectangle 6">
            <a:extLst>
              <a:ext uri="{FF2B5EF4-FFF2-40B4-BE49-F238E27FC236}">
                <a16:creationId xmlns:a16="http://schemas.microsoft.com/office/drawing/2014/main" id="{441D9FF1-E6C1-EE3F-C37A-15FDD7E49739}"/>
              </a:ext>
            </a:extLst>
          </p:cNvPr>
          <p:cNvSpPr/>
          <p:nvPr/>
        </p:nvSpPr>
        <p:spPr>
          <a:xfrm>
            <a:off x="8556172" y="5029199"/>
            <a:ext cx="1600200" cy="4789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 4</a:t>
            </a:r>
            <a:endParaRPr lang="en-IN" dirty="0">
              <a:solidFill>
                <a:schemeClr val="tx1"/>
              </a:solidFill>
            </a:endParaRPr>
          </a:p>
        </p:txBody>
      </p:sp>
      <p:sp>
        <p:nvSpPr>
          <p:cNvPr id="9" name="Rectangle 8">
            <a:extLst>
              <a:ext uri="{FF2B5EF4-FFF2-40B4-BE49-F238E27FC236}">
                <a16:creationId xmlns:a16="http://schemas.microsoft.com/office/drawing/2014/main" id="{CCEF977D-8354-F02A-8AEA-6B26D8146713}"/>
              </a:ext>
            </a:extLst>
          </p:cNvPr>
          <p:cNvSpPr/>
          <p:nvPr/>
        </p:nvSpPr>
        <p:spPr>
          <a:xfrm>
            <a:off x="4049486" y="6085110"/>
            <a:ext cx="1600200" cy="4789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 5</a:t>
            </a:r>
            <a:endParaRPr lang="en-IN" dirty="0">
              <a:solidFill>
                <a:schemeClr val="tx1"/>
              </a:solidFill>
            </a:endParaRPr>
          </a:p>
        </p:txBody>
      </p:sp>
      <p:sp>
        <p:nvSpPr>
          <p:cNvPr id="10" name="Rectangle 9">
            <a:extLst>
              <a:ext uri="{FF2B5EF4-FFF2-40B4-BE49-F238E27FC236}">
                <a16:creationId xmlns:a16="http://schemas.microsoft.com/office/drawing/2014/main" id="{3EF00FDC-C240-0A6B-DE39-27B30C5AA9CD}"/>
              </a:ext>
            </a:extLst>
          </p:cNvPr>
          <p:cNvSpPr/>
          <p:nvPr/>
        </p:nvSpPr>
        <p:spPr>
          <a:xfrm>
            <a:off x="6096000" y="6085111"/>
            <a:ext cx="1600200" cy="4789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 6</a:t>
            </a:r>
            <a:endParaRPr lang="en-IN" dirty="0">
              <a:solidFill>
                <a:schemeClr val="tx1"/>
              </a:solidFill>
            </a:endParaRPr>
          </a:p>
        </p:txBody>
      </p:sp>
      <p:cxnSp>
        <p:nvCxnSpPr>
          <p:cNvPr id="12" name="Connector: Elbow 11">
            <a:extLst>
              <a:ext uri="{FF2B5EF4-FFF2-40B4-BE49-F238E27FC236}">
                <a16:creationId xmlns:a16="http://schemas.microsoft.com/office/drawing/2014/main" id="{5ACF4993-8221-0349-0560-7FE79ED652D6}"/>
              </a:ext>
            </a:extLst>
          </p:cNvPr>
          <p:cNvCxnSpPr>
            <a:stCxn id="6" idx="2"/>
            <a:endCxn id="10" idx="0"/>
          </p:cNvCxnSpPr>
          <p:nvPr/>
        </p:nvCxnSpPr>
        <p:spPr>
          <a:xfrm rot="16200000" flipH="1">
            <a:off x="6063344" y="5252354"/>
            <a:ext cx="576941" cy="108857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CC682E48-CCC8-260B-4496-3B6C677E422D}"/>
              </a:ext>
            </a:extLst>
          </p:cNvPr>
          <p:cNvCxnSpPr>
            <a:cxnSpLocks/>
            <a:endCxn id="9" idx="0"/>
          </p:cNvCxnSpPr>
          <p:nvPr/>
        </p:nvCxnSpPr>
        <p:spPr>
          <a:xfrm rot="10800000" flipV="1">
            <a:off x="4849587" y="5785746"/>
            <a:ext cx="974275" cy="2993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51B1E80-38F3-FCF5-19A4-25B0A5F35685}"/>
              </a:ext>
            </a:extLst>
          </p:cNvPr>
          <p:cNvCxnSpPr/>
          <p:nvPr/>
        </p:nvCxnSpPr>
        <p:spPr>
          <a:xfrm>
            <a:off x="2966357" y="4844143"/>
            <a:ext cx="63899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DB2847C-776C-4CAA-E9E6-EB358BC4184C}"/>
              </a:ext>
            </a:extLst>
          </p:cNvPr>
          <p:cNvCxnSpPr>
            <a:endCxn id="6" idx="0"/>
          </p:cNvCxnSpPr>
          <p:nvPr/>
        </p:nvCxnSpPr>
        <p:spPr>
          <a:xfrm>
            <a:off x="5807529" y="4724399"/>
            <a:ext cx="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C3154D6-A3CB-6D2B-B980-111C8A0BC8D2}"/>
              </a:ext>
            </a:extLst>
          </p:cNvPr>
          <p:cNvCxnSpPr>
            <a:endCxn id="7" idx="0"/>
          </p:cNvCxnSpPr>
          <p:nvPr/>
        </p:nvCxnSpPr>
        <p:spPr>
          <a:xfrm>
            <a:off x="9356272" y="4844143"/>
            <a:ext cx="0" cy="185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38758F8-678C-F48B-C46A-64EF069F6EFE}"/>
              </a:ext>
            </a:extLst>
          </p:cNvPr>
          <p:cNvCxnSpPr>
            <a:endCxn id="5" idx="0"/>
          </p:cNvCxnSpPr>
          <p:nvPr/>
        </p:nvCxnSpPr>
        <p:spPr>
          <a:xfrm>
            <a:off x="2966357" y="4844143"/>
            <a:ext cx="0" cy="185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326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67FE2-1E83-0C74-559A-D802693BDDA9}"/>
              </a:ext>
            </a:extLst>
          </p:cNvPr>
          <p:cNvSpPr>
            <a:spLocks noGrp="1"/>
          </p:cNvSpPr>
          <p:nvPr>
            <p:ph type="title"/>
          </p:nvPr>
        </p:nvSpPr>
        <p:spPr/>
        <p:txBody>
          <a:bodyPr/>
          <a:lstStyle/>
          <a:p>
            <a:r>
              <a:rPr lang="en-US" dirty="0"/>
              <a:t>Database Model</a:t>
            </a:r>
            <a:br>
              <a:rPr lang="en-US" dirty="0"/>
            </a:br>
            <a:endParaRPr lang="en-IN" dirty="0"/>
          </a:p>
        </p:txBody>
      </p:sp>
      <p:sp>
        <p:nvSpPr>
          <p:cNvPr id="3" name="Content Placeholder 2">
            <a:extLst>
              <a:ext uri="{FF2B5EF4-FFF2-40B4-BE49-F238E27FC236}">
                <a16:creationId xmlns:a16="http://schemas.microsoft.com/office/drawing/2014/main" id="{027B0C5F-D68B-A11F-5270-8E6F0D46AF0D}"/>
              </a:ext>
            </a:extLst>
          </p:cNvPr>
          <p:cNvSpPr>
            <a:spLocks noGrp="1"/>
          </p:cNvSpPr>
          <p:nvPr>
            <p:ph idx="1"/>
          </p:nvPr>
        </p:nvSpPr>
        <p:spPr/>
        <p:txBody>
          <a:bodyPr/>
          <a:lstStyle/>
          <a:p>
            <a:r>
              <a:rPr lang="en-US" dirty="0"/>
              <a:t>NDBMS(Network DBMS)</a:t>
            </a:r>
          </a:p>
          <a:p>
            <a:pPr lvl="1"/>
            <a:r>
              <a:rPr lang="en-US" dirty="0"/>
              <a:t>Data store in graphical structure where node are directly connected with each other</a:t>
            </a:r>
          </a:p>
        </p:txBody>
      </p:sp>
      <p:sp>
        <p:nvSpPr>
          <p:cNvPr id="4" name="Rectangle 3">
            <a:extLst>
              <a:ext uri="{FF2B5EF4-FFF2-40B4-BE49-F238E27FC236}">
                <a16:creationId xmlns:a16="http://schemas.microsoft.com/office/drawing/2014/main" id="{705CCD71-BC2E-F7DE-3643-D2374C241D24}"/>
              </a:ext>
            </a:extLst>
          </p:cNvPr>
          <p:cNvSpPr/>
          <p:nvPr/>
        </p:nvSpPr>
        <p:spPr>
          <a:xfrm>
            <a:off x="2710543" y="5388429"/>
            <a:ext cx="2144486" cy="6422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Library</a:t>
            </a:r>
            <a:endParaRPr lang="en-IN" dirty="0">
              <a:solidFill>
                <a:schemeClr val="tx1"/>
              </a:solidFill>
            </a:endParaRPr>
          </a:p>
        </p:txBody>
      </p:sp>
      <p:sp>
        <p:nvSpPr>
          <p:cNvPr id="5" name="Rectangle 4">
            <a:extLst>
              <a:ext uri="{FF2B5EF4-FFF2-40B4-BE49-F238E27FC236}">
                <a16:creationId xmlns:a16="http://schemas.microsoft.com/office/drawing/2014/main" id="{FDBD0107-EFA4-B756-572C-94F477AF9321}"/>
              </a:ext>
            </a:extLst>
          </p:cNvPr>
          <p:cNvSpPr/>
          <p:nvPr/>
        </p:nvSpPr>
        <p:spPr>
          <a:xfrm>
            <a:off x="4169229" y="3060022"/>
            <a:ext cx="2144486" cy="6422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DYP-ATU</a:t>
            </a:r>
            <a:endParaRPr lang="en-IN" dirty="0">
              <a:solidFill>
                <a:schemeClr val="tx1"/>
              </a:solidFill>
            </a:endParaRPr>
          </a:p>
        </p:txBody>
      </p:sp>
      <p:sp>
        <p:nvSpPr>
          <p:cNvPr id="6" name="Rectangle 5">
            <a:extLst>
              <a:ext uri="{FF2B5EF4-FFF2-40B4-BE49-F238E27FC236}">
                <a16:creationId xmlns:a16="http://schemas.microsoft.com/office/drawing/2014/main" id="{7160BB36-6383-B4A9-D92C-AF7B7858003A}"/>
              </a:ext>
            </a:extLst>
          </p:cNvPr>
          <p:cNvSpPr/>
          <p:nvPr/>
        </p:nvSpPr>
        <p:spPr>
          <a:xfrm>
            <a:off x="5655129" y="4316414"/>
            <a:ext cx="2144486" cy="6422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Computer Dept</a:t>
            </a:r>
            <a:endParaRPr lang="en-IN" dirty="0">
              <a:solidFill>
                <a:schemeClr val="tx1"/>
              </a:solidFill>
            </a:endParaRPr>
          </a:p>
        </p:txBody>
      </p:sp>
      <p:sp>
        <p:nvSpPr>
          <p:cNvPr id="7" name="Rectangle 6">
            <a:extLst>
              <a:ext uri="{FF2B5EF4-FFF2-40B4-BE49-F238E27FC236}">
                <a16:creationId xmlns:a16="http://schemas.microsoft.com/office/drawing/2014/main" id="{4C71EA3D-46DB-4A35-B264-67B7829844A1}"/>
              </a:ext>
            </a:extLst>
          </p:cNvPr>
          <p:cNvSpPr/>
          <p:nvPr/>
        </p:nvSpPr>
        <p:spPr>
          <a:xfrm>
            <a:off x="2710543" y="4357575"/>
            <a:ext cx="2144486" cy="6422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Math Dept</a:t>
            </a:r>
            <a:endParaRPr lang="en-IN" dirty="0">
              <a:solidFill>
                <a:schemeClr val="tx1"/>
              </a:solidFill>
            </a:endParaRPr>
          </a:p>
        </p:txBody>
      </p:sp>
      <p:sp>
        <p:nvSpPr>
          <p:cNvPr id="8" name="Rectangle 7">
            <a:extLst>
              <a:ext uri="{FF2B5EF4-FFF2-40B4-BE49-F238E27FC236}">
                <a16:creationId xmlns:a16="http://schemas.microsoft.com/office/drawing/2014/main" id="{0DEBD3AC-C6DD-FB18-EFD1-46FF2556C99B}"/>
              </a:ext>
            </a:extLst>
          </p:cNvPr>
          <p:cNvSpPr/>
          <p:nvPr/>
        </p:nvSpPr>
        <p:spPr>
          <a:xfrm>
            <a:off x="5807528" y="5369039"/>
            <a:ext cx="2144486" cy="6422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Computer Lib</a:t>
            </a:r>
            <a:endParaRPr lang="en-IN" dirty="0">
              <a:solidFill>
                <a:schemeClr val="tx1"/>
              </a:solidFill>
            </a:endParaRPr>
          </a:p>
        </p:txBody>
      </p:sp>
      <p:cxnSp>
        <p:nvCxnSpPr>
          <p:cNvPr id="10" name="Straight Arrow Connector 9">
            <a:extLst>
              <a:ext uri="{FF2B5EF4-FFF2-40B4-BE49-F238E27FC236}">
                <a16:creationId xmlns:a16="http://schemas.microsoft.com/office/drawing/2014/main" id="{A5FF8CB2-263F-86A0-97DD-B1F11A011BBE}"/>
              </a:ext>
            </a:extLst>
          </p:cNvPr>
          <p:cNvCxnSpPr>
            <a:cxnSpLocks/>
            <a:stCxn id="5" idx="2"/>
          </p:cNvCxnSpPr>
          <p:nvPr/>
        </p:nvCxnSpPr>
        <p:spPr>
          <a:xfrm flipH="1">
            <a:off x="3782786" y="3702279"/>
            <a:ext cx="1458686" cy="587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EDE5D07-312F-56F6-3A2D-490DF59439EF}"/>
              </a:ext>
            </a:extLst>
          </p:cNvPr>
          <p:cNvCxnSpPr>
            <a:stCxn id="5" idx="2"/>
            <a:endCxn id="6" idx="0"/>
          </p:cNvCxnSpPr>
          <p:nvPr/>
        </p:nvCxnSpPr>
        <p:spPr>
          <a:xfrm>
            <a:off x="5241472" y="3702279"/>
            <a:ext cx="1485900" cy="614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0F3441E-8290-83C1-0E62-069C5593FE1B}"/>
              </a:ext>
            </a:extLst>
          </p:cNvPr>
          <p:cNvCxnSpPr>
            <a:stCxn id="6" idx="1"/>
            <a:endCxn id="7" idx="3"/>
          </p:cNvCxnSpPr>
          <p:nvPr/>
        </p:nvCxnSpPr>
        <p:spPr>
          <a:xfrm flipH="1">
            <a:off x="4855029" y="4637543"/>
            <a:ext cx="800100" cy="41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33334B1-50EA-3CCC-8A44-555836BA676F}"/>
              </a:ext>
            </a:extLst>
          </p:cNvPr>
          <p:cNvCxnSpPr>
            <a:stCxn id="7" idx="2"/>
            <a:endCxn id="4" idx="0"/>
          </p:cNvCxnSpPr>
          <p:nvPr/>
        </p:nvCxnSpPr>
        <p:spPr>
          <a:xfrm>
            <a:off x="3782786" y="4999832"/>
            <a:ext cx="0" cy="388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469C224-F639-D3F7-28B3-4E0E9D21710F}"/>
              </a:ext>
            </a:extLst>
          </p:cNvPr>
          <p:cNvCxnSpPr>
            <a:stCxn id="6" idx="2"/>
          </p:cNvCxnSpPr>
          <p:nvPr/>
        </p:nvCxnSpPr>
        <p:spPr>
          <a:xfrm>
            <a:off x="6727372" y="4958671"/>
            <a:ext cx="0" cy="4297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F4E2D2B-2B9F-F4D7-53AD-84DAEA94E4EB}"/>
              </a:ext>
            </a:extLst>
          </p:cNvPr>
          <p:cNvCxnSpPr>
            <a:stCxn id="6" idx="2"/>
          </p:cNvCxnSpPr>
          <p:nvPr/>
        </p:nvCxnSpPr>
        <p:spPr>
          <a:xfrm flipH="1">
            <a:off x="4169229" y="4958671"/>
            <a:ext cx="2558143" cy="410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907BF69-5239-D41A-8225-AE9B81D2BC69}"/>
              </a:ext>
            </a:extLst>
          </p:cNvPr>
          <p:cNvCxnSpPr/>
          <p:nvPr/>
        </p:nvCxnSpPr>
        <p:spPr>
          <a:xfrm>
            <a:off x="4169229" y="4999832"/>
            <a:ext cx="2144486" cy="369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8939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919DF-9E91-8D8F-F318-57957EF6D988}"/>
              </a:ext>
            </a:extLst>
          </p:cNvPr>
          <p:cNvSpPr>
            <a:spLocks noGrp="1"/>
          </p:cNvSpPr>
          <p:nvPr>
            <p:ph type="title"/>
          </p:nvPr>
        </p:nvSpPr>
        <p:spPr/>
        <p:txBody>
          <a:bodyPr/>
          <a:lstStyle/>
          <a:p>
            <a:r>
              <a:rPr lang="en-US" dirty="0"/>
              <a:t>Database Model</a:t>
            </a:r>
            <a:endParaRPr lang="en-IN" dirty="0"/>
          </a:p>
        </p:txBody>
      </p:sp>
      <p:sp>
        <p:nvSpPr>
          <p:cNvPr id="3" name="Content Placeholder 2">
            <a:extLst>
              <a:ext uri="{FF2B5EF4-FFF2-40B4-BE49-F238E27FC236}">
                <a16:creationId xmlns:a16="http://schemas.microsoft.com/office/drawing/2014/main" id="{A17DE840-2E0B-06BB-EEE8-9D43266D81E6}"/>
              </a:ext>
            </a:extLst>
          </p:cNvPr>
          <p:cNvSpPr>
            <a:spLocks noGrp="1"/>
          </p:cNvSpPr>
          <p:nvPr>
            <p:ph idx="1"/>
          </p:nvPr>
        </p:nvSpPr>
        <p:spPr/>
        <p:txBody>
          <a:bodyPr/>
          <a:lstStyle/>
          <a:p>
            <a:r>
              <a:rPr lang="en-US" dirty="0"/>
              <a:t>ODBMS</a:t>
            </a:r>
          </a:p>
          <a:p>
            <a:pPr lvl="1"/>
            <a:r>
              <a:rPr lang="en-US" dirty="0"/>
              <a:t>An Object-Oriented DBMS (OODBMS) is a database management system that stores data as objects, similar to how data is represented in object-oriented programming (OOP) languages</a:t>
            </a:r>
            <a:endParaRPr lang="en-IN" dirty="0"/>
          </a:p>
        </p:txBody>
      </p:sp>
    </p:spTree>
    <p:extLst>
      <p:ext uri="{BB962C8B-B14F-4D97-AF65-F5344CB8AC3E}">
        <p14:creationId xmlns:p14="http://schemas.microsoft.com/office/powerpoint/2010/main" val="1203517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21677-F508-C7F3-FAD6-01CAEAE45B4E}"/>
              </a:ext>
            </a:extLst>
          </p:cNvPr>
          <p:cNvSpPr>
            <a:spLocks noGrp="1"/>
          </p:cNvSpPr>
          <p:nvPr>
            <p:ph type="title"/>
          </p:nvPr>
        </p:nvSpPr>
        <p:spPr/>
        <p:txBody>
          <a:bodyPr/>
          <a:lstStyle/>
          <a:p>
            <a:r>
              <a:rPr lang="en-US" dirty="0"/>
              <a:t>RDBMS</a:t>
            </a:r>
            <a:endParaRPr lang="en-IN" dirty="0"/>
          </a:p>
        </p:txBody>
      </p:sp>
      <p:sp>
        <p:nvSpPr>
          <p:cNvPr id="3" name="Content Placeholder 2">
            <a:extLst>
              <a:ext uri="{FF2B5EF4-FFF2-40B4-BE49-F238E27FC236}">
                <a16:creationId xmlns:a16="http://schemas.microsoft.com/office/drawing/2014/main" id="{4DFC0004-3BE9-943A-0ED1-24999546CB18}"/>
              </a:ext>
            </a:extLst>
          </p:cNvPr>
          <p:cNvSpPr>
            <a:spLocks noGrp="1"/>
          </p:cNvSpPr>
          <p:nvPr>
            <p:ph idx="1"/>
          </p:nvPr>
        </p:nvSpPr>
        <p:spPr>
          <a:xfrm>
            <a:off x="838200" y="1463336"/>
            <a:ext cx="10515600" cy="1325563"/>
          </a:xfrm>
        </p:spPr>
        <p:txBody>
          <a:bodyPr/>
          <a:lstStyle/>
          <a:p>
            <a:r>
              <a:rPr lang="en-US" dirty="0"/>
              <a:t>An RDBMS (Relational Database Management System) is software that manages data stored in a </a:t>
            </a:r>
            <a:r>
              <a:rPr lang="en-US" dirty="0">
                <a:solidFill>
                  <a:srgbClr val="FF0000"/>
                </a:solidFill>
              </a:rPr>
              <a:t>relational database</a:t>
            </a:r>
            <a:r>
              <a:rPr lang="en-US" dirty="0"/>
              <a:t>, which organizes data into tables (relations) with structured </a:t>
            </a:r>
            <a:r>
              <a:rPr lang="en-US" dirty="0">
                <a:solidFill>
                  <a:srgbClr val="FF0000"/>
                </a:solidFill>
              </a:rPr>
              <a:t>rows and columns.</a:t>
            </a:r>
            <a:endParaRPr lang="en-IN" dirty="0">
              <a:solidFill>
                <a:srgbClr val="FF0000"/>
              </a:solidFill>
            </a:endParaRPr>
          </a:p>
        </p:txBody>
      </p:sp>
      <p:sp>
        <p:nvSpPr>
          <p:cNvPr id="4" name="AutoShape 2" descr="Lightbox">
            <a:extLst>
              <a:ext uri="{FF2B5EF4-FFF2-40B4-BE49-F238E27FC236}">
                <a16:creationId xmlns:a16="http://schemas.microsoft.com/office/drawing/2014/main" id="{4428B15A-70D2-5B1E-6713-FC1D745F0395}"/>
              </a:ext>
            </a:extLst>
          </p:cNvPr>
          <p:cNvSpPr>
            <a:spLocks noChangeAspect="1" noChangeArrowheads="1"/>
          </p:cNvSpPr>
          <p:nvPr/>
        </p:nvSpPr>
        <p:spPr bwMode="auto">
          <a:xfrm>
            <a:off x="5943599" y="3276599"/>
            <a:ext cx="2710543" cy="27105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165338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FB7FD-95E2-712E-2A2B-062A0C341586}"/>
              </a:ext>
            </a:extLst>
          </p:cNvPr>
          <p:cNvSpPr>
            <a:spLocks noGrp="1"/>
          </p:cNvSpPr>
          <p:nvPr>
            <p:ph type="title"/>
          </p:nvPr>
        </p:nvSpPr>
        <p:spPr/>
        <p:txBody>
          <a:bodyPr/>
          <a:lstStyle/>
          <a:p>
            <a:r>
              <a:rPr lang="en-IN" dirty="0"/>
              <a:t>Basic Terminology</a:t>
            </a:r>
          </a:p>
        </p:txBody>
      </p:sp>
      <p:sp>
        <p:nvSpPr>
          <p:cNvPr id="3" name="Content Placeholder 2">
            <a:extLst>
              <a:ext uri="{FF2B5EF4-FFF2-40B4-BE49-F238E27FC236}">
                <a16:creationId xmlns:a16="http://schemas.microsoft.com/office/drawing/2014/main" id="{3E84C397-6179-9796-E11A-B8FBFC6DD533}"/>
              </a:ext>
            </a:extLst>
          </p:cNvPr>
          <p:cNvSpPr>
            <a:spLocks noGrp="1"/>
          </p:cNvSpPr>
          <p:nvPr>
            <p:ph idx="1"/>
          </p:nvPr>
        </p:nvSpPr>
        <p:spPr/>
        <p:txBody>
          <a:bodyPr>
            <a:normAutofit lnSpcReduction="10000"/>
          </a:bodyPr>
          <a:lstStyle/>
          <a:p>
            <a:r>
              <a:rPr lang="en-IN" dirty="0"/>
              <a:t>Relation -  Table/Entity</a:t>
            </a:r>
          </a:p>
          <a:p>
            <a:r>
              <a:rPr lang="en-IN" dirty="0"/>
              <a:t>Tuple – Record</a:t>
            </a:r>
          </a:p>
          <a:p>
            <a:pPr lvl="1"/>
            <a:r>
              <a:rPr lang="en-IN" dirty="0"/>
              <a:t>No Duplicate Tuple</a:t>
            </a:r>
          </a:p>
          <a:p>
            <a:pPr lvl="1"/>
            <a:r>
              <a:rPr lang="en-IN" dirty="0"/>
              <a:t>Must follow same format</a:t>
            </a:r>
          </a:p>
          <a:p>
            <a:r>
              <a:rPr lang="en-IN" dirty="0"/>
              <a:t>Attribute</a:t>
            </a:r>
          </a:p>
          <a:p>
            <a:pPr lvl="1"/>
            <a:r>
              <a:rPr lang="en-IN" dirty="0"/>
              <a:t>Column Name</a:t>
            </a:r>
          </a:p>
          <a:p>
            <a:pPr lvl="1"/>
            <a:r>
              <a:rPr lang="en-IN" dirty="0"/>
              <a:t>Attribute should have name</a:t>
            </a:r>
          </a:p>
          <a:p>
            <a:pPr lvl="1"/>
            <a:r>
              <a:rPr lang="en-IN" dirty="0"/>
              <a:t>Unique attribute – Primary Key</a:t>
            </a:r>
          </a:p>
          <a:p>
            <a:r>
              <a:rPr lang="en-IN" dirty="0"/>
              <a:t>Data Item</a:t>
            </a:r>
          </a:p>
          <a:p>
            <a:pPr lvl="1"/>
            <a:r>
              <a:rPr lang="en-IN" dirty="0"/>
              <a:t>Cell Data</a:t>
            </a:r>
          </a:p>
          <a:p>
            <a:pPr lvl="1"/>
            <a:r>
              <a:rPr lang="en-IN" dirty="0" err="1"/>
              <a:t>Automic</a:t>
            </a:r>
            <a:r>
              <a:rPr lang="en-IN" dirty="0"/>
              <a:t> -  Single Value</a:t>
            </a:r>
          </a:p>
        </p:txBody>
      </p:sp>
      <p:pic>
        <p:nvPicPr>
          <p:cNvPr id="2050" name="Picture 2" descr="MySQL or SQLite table records using FPDF">
            <a:extLst>
              <a:ext uri="{FF2B5EF4-FFF2-40B4-BE49-F238E27FC236}">
                <a16:creationId xmlns:a16="http://schemas.microsoft.com/office/drawing/2014/main" id="{A317CBFD-F3BC-3DF7-90A6-3CCB55758C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5795" y="2028146"/>
            <a:ext cx="6266091" cy="3926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9472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E06AB69-5AAC-7547-D39C-63732D0B5735}"/>
              </a:ext>
            </a:extLst>
          </p:cNvPr>
          <p:cNvPicPr>
            <a:picLocks noChangeAspect="1"/>
          </p:cNvPicPr>
          <p:nvPr/>
        </p:nvPicPr>
        <p:blipFill>
          <a:blip r:embed="rId2"/>
          <a:stretch>
            <a:fillRect/>
          </a:stretch>
        </p:blipFill>
        <p:spPr>
          <a:xfrm>
            <a:off x="5736770" y="576712"/>
            <a:ext cx="6085115" cy="5856745"/>
          </a:xfrm>
          <a:prstGeom prst="rect">
            <a:avLst/>
          </a:prstGeom>
        </p:spPr>
      </p:pic>
      <p:sp>
        <p:nvSpPr>
          <p:cNvPr id="7" name="Content Placeholder 2">
            <a:extLst>
              <a:ext uri="{FF2B5EF4-FFF2-40B4-BE49-F238E27FC236}">
                <a16:creationId xmlns:a16="http://schemas.microsoft.com/office/drawing/2014/main" id="{9EA9A842-DBEB-A3EB-A1F8-49F4A104A30C}"/>
              </a:ext>
            </a:extLst>
          </p:cNvPr>
          <p:cNvSpPr>
            <a:spLocks noGrp="1"/>
          </p:cNvSpPr>
          <p:nvPr>
            <p:ph idx="1"/>
          </p:nvPr>
        </p:nvSpPr>
        <p:spPr>
          <a:xfrm>
            <a:off x="370115" y="576712"/>
            <a:ext cx="10515600" cy="4351338"/>
          </a:xfrm>
        </p:spPr>
        <p:txBody>
          <a:bodyPr>
            <a:normAutofit/>
          </a:bodyPr>
          <a:lstStyle/>
          <a:p>
            <a:r>
              <a:rPr lang="en-IN" dirty="0"/>
              <a:t>Cardinality</a:t>
            </a:r>
          </a:p>
          <a:p>
            <a:pPr lvl="1"/>
            <a:r>
              <a:rPr lang="en-IN" dirty="0"/>
              <a:t>No. of Tuple / No. Rows </a:t>
            </a:r>
          </a:p>
          <a:p>
            <a:r>
              <a:rPr lang="en-IN" dirty="0"/>
              <a:t>Degree</a:t>
            </a:r>
          </a:p>
          <a:p>
            <a:pPr lvl="1"/>
            <a:r>
              <a:rPr lang="en-IN" dirty="0"/>
              <a:t>No. of Attribute </a:t>
            </a:r>
          </a:p>
          <a:p>
            <a:r>
              <a:rPr lang="en-IN" dirty="0"/>
              <a:t>Domain</a:t>
            </a:r>
          </a:p>
          <a:p>
            <a:pPr lvl="1"/>
            <a:r>
              <a:rPr lang="en-IN" dirty="0"/>
              <a:t>Possible values given to attribute</a:t>
            </a:r>
          </a:p>
          <a:p>
            <a:r>
              <a:rPr lang="en-IN" dirty="0"/>
              <a:t>Null Values</a:t>
            </a:r>
          </a:p>
          <a:p>
            <a:pPr marL="457200" lvl="1" indent="0">
              <a:buNone/>
            </a:pPr>
            <a:endParaRPr lang="en-IN" dirty="0"/>
          </a:p>
        </p:txBody>
      </p:sp>
    </p:spTree>
    <p:extLst>
      <p:ext uri="{BB962C8B-B14F-4D97-AF65-F5344CB8AC3E}">
        <p14:creationId xmlns:p14="http://schemas.microsoft.com/office/powerpoint/2010/main" val="1963657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1A2B-4E75-D5D9-EDF4-E1C4D9BACBE8}"/>
              </a:ext>
            </a:extLst>
          </p:cNvPr>
          <p:cNvSpPr>
            <a:spLocks noGrp="1"/>
          </p:cNvSpPr>
          <p:nvPr>
            <p:ph type="title"/>
          </p:nvPr>
        </p:nvSpPr>
        <p:spPr>
          <a:xfrm>
            <a:off x="838200" y="593725"/>
            <a:ext cx="10515600" cy="1325563"/>
          </a:xfrm>
        </p:spPr>
        <p:txBody>
          <a:bodyPr>
            <a:normAutofit fontScale="90000"/>
          </a:bodyPr>
          <a:lstStyle/>
          <a:p>
            <a:r>
              <a:rPr lang="en-IN" dirty="0"/>
              <a:t>Why RDBMS ?</a:t>
            </a:r>
            <a:br>
              <a:rPr lang="en-IN" dirty="0"/>
            </a:br>
            <a:br>
              <a:rPr lang="en-IN" dirty="0"/>
            </a:br>
            <a:r>
              <a:rPr lang="en-IN" sz="3600" b="1" dirty="0"/>
              <a:t>Difference between Relational Vs Non Relational Database</a:t>
            </a:r>
          </a:p>
        </p:txBody>
      </p:sp>
      <p:pic>
        <p:nvPicPr>
          <p:cNvPr id="7" name="Picture 6">
            <a:extLst>
              <a:ext uri="{FF2B5EF4-FFF2-40B4-BE49-F238E27FC236}">
                <a16:creationId xmlns:a16="http://schemas.microsoft.com/office/drawing/2014/main" id="{46ACDCD5-BB8D-2E1E-96C9-81825171B8FF}"/>
              </a:ext>
            </a:extLst>
          </p:cNvPr>
          <p:cNvPicPr>
            <a:picLocks noChangeAspect="1"/>
          </p:cNvPicPr>
          <p:nvPr/>
        </p:nvPicPr>
        <p:blipFill>
          <a:blip r:embed="rId2"/>
          <a:stretch>
            <a:fillRect/>
          </a:stretch>
        </p:blipFill>
        <p:spPr>
          <a:xfrm>
            <a:off x="1981200" y="2231571"/>
            <a:ext cx="8926286" cy="3807758"/>
          </a:xfrm>
          <a:prstGeom prst="rect">
            <a:avLst/>
          </a:prstGeom>
        </p:spPr>
      </p:pic>
    </p:spTree>
    <p:extLst>
      <p:ext uri="{BB962C8B-B14F-4D97-AF65-F5344CB8AC3E}">
        <p14:creationId xmlns:p14="http://schemas.microsoft.com/office/powerpoint/2010/main" val="86024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76742-BC90-8407-2CC0-CE2ABA3F52B4}"/>
              </a:ext>
            </a:extLst>
          </p:cNvPr>
          <p:cNvSpPr>
            <a:spLocks noGrp="1"/>
          </p:cNvSpPr>
          <p:nvPr>
            <p:ph type="title"/>
          </p:nvPr>
        </p:nvSpPr>
        <p:spPr/>
        <p:txBody>
          <a:bodyPr>
            <a:normAutofit/>
          </a:bodyPr>
          <a:lstStyle/>
          <a:p>
            <a:r>
              <a:rPr lang="en-IN" sz="3200" b="1" dirty="0"/>
              <a:t>Difference between Relational Vs Non Relational Database</a:t>
            </a:r>
            <a:endParaRPr lang="en-IN" sz="3200" dirty="0"/>
          </a:p>
        </p:txBody>
      </p:sp>
      <p:pic>
        <p:nvPicPr>
          <p:cNvPr id="5" name="Content Placeholder 4">
            <a:extLst>
              <a:ext uri="{FF2B5EF4-FFF2-40B4-BE49-F238E27FC236}">
                <a16:creationId xmlns:a16="http://schemas.microsoft.com/office/drawing/2014/main" id="{7256E67A-316E-C67A-305B-726DC31FD49A}"/>
              </a:ext>
            </a:extLst>
          </p:cNvPr>
          <p:cNvPicPr>
            <a:picLocks noGrp="1" noChangeAspect="1"/>
          </p:cNvPicPr>
          <p:nvPr>
            <p:ph idx="1"/>
          </p:nvPr>
        </p:nvPicPr>
        <p:blipFill>
          <a:blip r:embed="rId2"/>
          <a:stretch>
            <a:fillRect/>
          </a:stretch>
        </p:blipFill>
        <p:spPr>
          <a:xfrm>
            <a:off x="1360713" y="1623641"/>
            <a:ext cx="9470574" cy="4755306"/>
          </a:xfrm>
          <a:prstGeom prst="rect">
            <a:avLst/>
          </a:prstGeom>
        </p:spPr>
      </p:pic>
    </p:spTree>
    <p:extLst>
      <p:ext uri="{BB962C8B-B14F-4D97-AF65-F5344CB8AC3E}">
        <p14:creationId xmlns:p14="http://schemas.microsoft.com/office/powerpoint/2010/main" val="899535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E0CF8-7DE7-1B9F-F92F-5C4A96AC9935}"/>
              </a:ext>
            </a:extLst>
          </p:cNvPr>
          <p:cNvSpPr>
            <a:spLocks noGrp="1"/>
          </p:cNvSpPr>
          <p:nvPr>
            <p:ph type="title"/>
          </p:nvPr>
        </p:nvSpPr>
        <p:spPr/>
        <p:txBody>
          <a:bodyPr/>
          <a:lstStyle/>
          <a:p>
            <a:r>
              <a:rPr lang="en-IN" dirty="0"/>
              <a:t>Why RDBMS ?</a:t>
            </a:r>
          </a:p>
        </p:txBody>
      </p:sp>
      <p:sp>
        <p:nvSpPr>
          <p:cNvPr id="3" name="Content Placeholder 2">
            <a:extLst>
              <a:ext uri="{FF2B5EF4-FFF2-40B4-BE49-F238E27FC236}">
                <a16:creationId xmlns:a16="http://schemas.microsoft.com/office/drawing/2014/main" id="{0BA58FDB-C7AA-278A-7216-68F37F26BE2E}"/>
              </a:ext>
            </a:extLst>
          </p:cNvPr>
          <p:cNvSpPr>
            <a:spLocks noGrp="1"/>
          </p:cNvSpPr>
          <p:nvPr>
            <p:ph idx="1"/>
          </p:nvPr>
        </p:nvSpPr>
        <p:spPr/>
        <p:txBody>
          <a:bodyPr/>
          <a:lstStyle/>
          <a:p>
            <a:r>
              <a:rPr lang="en-US" dirty="0"/>
              <a:t>RDBMS is used for its ability to store large volumes of structured data in an organized, reliable, and accessible way, ensuring data integrity, security, and scalability through features like SQL query language, tabular data storage, ACID properties, and concurrent access for multiple users.</a:t>
            </a:r>
            <a:endParaRPr lang="en-IN" dirty="0"/>
          </a:p>
        </p:txBody>
      </p:sp>
    </p:spTree>
    <p:extLst>
      <p:ext uri="{BB962C8B-B14F-4D97-AF65-F5344CB8AC3E}">
        <p14:creationId xmlns:p14="http://schemas.microsoft.com/office/powerpoint/2010/main" val="822045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DE02B-4792-0F6A-4DC1-3C9FADA81699}"/>
              </a:ext>
            </a:extLst>
          </p:cNvPr>
          <p:cNvSpPr>
            <a:spLocks noGrp="1"/>
          </p:cNvSpPr>
          <p:nvPr>
            <p:ph type="title"/>
          </p:nvPr>
        </p:nvSpPr>
        <p:spPr/>
        <p:txBody>
          <a:bodyPr/>
          <a:lstStyle/>
          <a:p>
            <a:r>
              <a:rPr lang="en-US" dirty="0"/>
              <a:t>Key Benefits of Using an RDBMS</a:t>
            </a:r>
            <a:endParaRPr lang="en-IN" dirty="0"/>
          </a:p>
        </p:txBody>
      </p:sp>
      <p:sp>
        <p:nvSpPr>
          <p:cNvPr id="3" name="Content Placeholder 2">
            <a:extLst>
              <a:ext uri="{FF2B5EF4-FFF2-40B4-BE49-F238E27FC236}">
                <a16:creationId xmlns:a16="http://schemas.microsoft.com/office/drawing/2014/main" id="{AD4368A1-AF6F-48BD-55C0-BA1A4A725CE0}"/>
              </a:ext>
            </a:extLst>
          </p:cNvPr>
          <p:cNvSpPr>
            <a:spLocks noGrp="1"/>
          </p:cNvSpPr>
          <p:nvPr>
            <p:ph idx="1"/>
          </p:nvPr>
        </p:nvSpPr>
        <p:spPr/>
        <p:txBody>
          <a:bodyPr>
            <a:normAutofit lnSpcReduction="10000"/>
          </a:bodyPr>
          <a:lstStyle/>
          <a:p>
            <a:r>
              <a:rPr lang="en-US" b="1" dirty="0"/>
              <a:t>Data Integrity and Consistency:</a:t>
            </a:r>
            <a:r>
              <a:rPr lang="en-US" dirty="0"/>
              <a:t> </a:t>
            </a:r>
          </a:p>
          <a:p>
            <a:pPr marL="457200" lvl="1" indent="0">
              <a:buNone/>
            </a:pPr>
            <a:r>
              <a:rPr lang="en-US" sz="2000" dirty="0"/>
              <a:t>RDBMS enforces data accuracy and reliability through ACID properties (Atomicity, Consistency, Isolation, Durability) and referential integrity via keys, preventing data inconsistencies and errors</a:t>
            </a:r>
          </a:p>
          <a:p>
            <a:r>
              <a:rPr lang="en-US" b="1" dirty="0"/>
              <a:t>Structured Data Management:</a:t>
            </a:r>
            <a:r>
              <a:rPr lang="en-US" dirty="0"/>
              <a:t> </a:t>
            </a:r>
          </a:p>
          <a:p>
            <a:pPr marL="457200" lvl="1" indent="0">
              <a:buNone/>
            </a:pPr>
            <a:r>
              <a:rPr lang="en-US" sz="2000" dirty="0"/>
              <a:t>Data is stored in tables with rows and columns, providing a simple, user-friendly, and organized way to manage large datasets</a:t>
            </a:r>
          </a:p>
          <a:p>
            <a:r>
              <a:rPr lang="en-US" b="1" dirty="0"/>
              <a:t>SQL Accessibility:</a:t>
            </a:r>
            <a:r>
              <a:rPr lang="en-US" dirty="0"/>
              <a:t> </a:t>
            </a:r>
          </a:p>
          <a:p>
            <a:pPr marL="457200" lvl="1" indent="0">
              <a:buNone/>
            </a:pPr>
            <a:r>
              <a:rPr lang="en-US" sz="2000" dirty="0"/>
              <a:t>The standard Structured Query Language (SQL) makes it easy for users to access, retrieve, update, and manipulate data with simple queries</a:t>
            </a:r>
          </a:p>
          <a:p>
            <a:r>
              <a:rPr lang="en-US" b="1" dirty="0"/>
              <a:t>Reduced Data Redundancy:</a:t>
            </a:r>
            <a:r>
              <a:rPr lang="en-US" dirty="0"/>
              <a:t> </a:t>
            </a:r>
          </a:p>
          <a:p>
            <a:pPr marL="457200" lvl="1" indent="0">
              <a:buNone/>
            </a:pPr>
            <a:r>
              <a:rPr lang="en-US" sz="2100" dirty="0"/>
              <a:t>Normalization principles and the use of keys help minimize data duplication and improve efficiency, as changes are made in a central location</a:t>
            </a:r>
          </a:p>
          <a:p>
            <a:endParaRPr lang="en-IN" dirty="0"/>
          </a:p>
        </p:txBody>
      </p:sp>
    </p:spTree>
    <p:extLst>
      <p:ext uri="{BB962C8B-B14F-4D97-AF65-F5344CB8AC3E}">
        <p14:creationId xmlns:p14="http://schemas.microsoft.com/office/powerpoint/2010/main" val="3842361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0AACF-C333-F292-A769-3643501E7781}"/>
              </a:ext>
            </a:extLst>
          </p:cNvPr>
          <p:cNvSpPr>
            <a:spLocks noGrp="1"/>
          </p:cNvSpPr>
          <p:nvPr>
            <p:ph type="title"/>
          </p:nvPr>
        </p:nvSpPr>
        <p:spPr/>
        <p:txBody>
          <a:bodyPr/>
          <a:lstStyle/>
          <a:p>
            <a:r>
              <a:rPr lang="en-US" dirty="0"/>
              <a:t>Key Benefits of Using an RDBMS</a:t>
            </a:r>
            <a:endParaRPr lang="en-IN" dirty="0"/>
          </a:p>
        </p:txBody>
      </p:sp>
      <p:sp>
        <p:nvSpPr>
          <p:cNvPr id="3" name="Content Placeholder 2">
            <a:extLst>
              <a:ext uri="{FF2B5EF4-FFF2-40B4-BE49-F238E27FC236}">
                <a16:creationId xmlns:a16="http://schemas.microsoft.com/office/drawing/2014/main" id="{BCCCAC5D-932F-6B53-4C6F-E48756B20207}"/>
              </a:ext>
            </a:extLst>
          </p:cNvPr>
          <p:cNvSpPr>
            <a:spLocks noGrp="1"/>
          </p:cNvSpPr>
          <p:nvPr>
            <p:ph idx="1"/>
          </p:nvPr>
        </p:nvSpPr>
        <p:spPr/>
        <p:txBody>
          <a:bodyPr>
            <a:normAutofit lnSpcReduction="10000"/>
          </a:bodyPr>
          <a:lstStyle/>
          <a:p>
            <a:r>
              <a:rPr lang="en-US" b="1" dirty="0"/>
              <a:t>Scalability:</a:t>
            </a:r>
            <a:r>
              <a:rPr lang="en-US" dirty="0"/>
              <a:t> </a:t>
            </a:r>
          </a:p>
          <a:p>
            <a:pPr marL="457200" lvl="1" indent="0">
              <a:buNone/>
            </a:pPr>
            <a:r>
              <a:rPr lang="en-US" sz="2000" dirty="0"/>
              <a:t>RDBMS can easily scale to handle growing data volumes by adding more resources, ensuring performance with the help of indexes for rapid sorting</a:t>
            </a:r>
          </a:p>
          <a:p>
            <a:r>
              <a:rPr lang="en-US" b="1" dirty="0"/>
              <a:t>Enhanced Security:</a:t>
            </a:r>
            <a:r>
              <a:rPr lang="en-US" dirty="0"/>
              <a:t> </a:t>
            </a:r>
          </a:p>
          <a:p>
            <a:pPr marL="457200" lvl="1" indent="0">
              <a:buNone/>
            </a:pPr>
            <a:r>
              <a:rPr lang="en-US" sz="2000" dirty="0"/>
              <a:t>Multiple security layers, including user authorization and role-based access control, protect sensitive data from unauthorized access</a:t>
            </a:r>
          </a:p>
          <a:p>
            <a:r>
              <a:rPr lang="en-US" b="1" dirty="0"/>
              <a:t>Concurrent User Access:</a:t>
            </a:r>
            <a:r>
              <a:rPr lang="en-US" dirty="0"/>
              <a:t> </a:t>
            </a:r>
          </a:p>
          <a:p>
            <a:pPr marL="457200" lvl="1" indent="0">
              <a:buNone/>
            </a:pPr>
            <a:r>
              <a:rPr lang="en-US" sz="2000" dirty="0"/>
              <a:t>RDBMS supports multiple users accessing and modifying data simultaneously, ensuring that multiple users can work together without conflicts</a:t>
            </a:r>
          </a:p>
          <a:p>
            <a:r>
              <a:rPr lang="en-US" b="1" dirty="0"/>
              <a:t>Fault Tolerance:</a:t>
            </a:r>
            <a:r>
              <a:rPr lang="en-US" dirty="0"/>
              <a:t> </a:t>
            </a:r>
          </a:p>
          <a:p>
            <a:pPr marL="457200" lvl="1" indent="0">
              <a:buNone/>
            </a:pPr>
            <a:r>
              <a:rPr lang="en-US" sz="2100" dirty="0"/>
              <a:t>Database replication and backup/recovery mechanisms provide fault tolerance, ensuring data availability and system recovery in case of failures or power outages</a:t>
            </a:r>
          </a:p>
          <a:p>
            <a:endParaRPr lang="en-IN" dirty="0"/>
          </a:p>
        </p:txBody>
      </p:sp>
    </p:spTree>
    <p:extLst>
      <p:ext uri="{BB962C8B-B14F-4D97-AF65-F5344CB8AC3E}">
        <p14:creationId xmlns:p14="http://schemas.microsoft.com/office/powerpoint/2010/main" val="579378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Constraints</a:t>
            </a:r>
          </a:p>
        </p:txBody>
      </p:sp>
      <p:sp>
        <p:nvSpPr>
          <p:cNvPr id="3" name="Content Placeholder 2"/>
          <p:cNvSpPr>
            <a:spLocks noGrp="1"/>
          </p:cNvSpPr>
          <p:nvPr>
            <p:ph idx="1"/>
          </p:nvPr>
        </p:nvSpPr>
        <p:spPr/>
        <p:txBody>
          <a:bodyPr/>
          <a:lstStyle/>
          <a:p>
            <a:r>
              <a:rPr lang="en-US" dirty="0"/>
              <a:t>Integrity constraints are rules defined in a database to maintain data accuracy , consistency and reliability</a:t>
            </a:r>
          </a:p>
          <a:p>
            <a:r>
              <a:rPr lang="en-US" dirty="0"/>
              <a:t>They ensure that data stored in the database follows predefined rules or conditions.</a:t>
            </a:r>
            <a:endParaRPr lang="en-IN" dirty="0"/>
          </a:p>
        </p:txBody>
      </p:sp>
    </p:spTree>
    <p:extLst>
      <p:ext uri="{BB962C8B-B14F-4D97-AF65-F5344CB8AC3E}">
        <p14:creationId xmlns:p14="http://schemas.microsoft.com/office/powerpoint/2010/main" val="2408283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10637" y="695459"/>
            <a:ext cx="3052293" cy="940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Integrity Constraints</a:t>
            </a:r>
            <a:endParaRPr lang="en-IN" sz="2200" dirty="0">
              <a:latin typeface="Times New Roman" panose="02020603050405020304" pitchFamily="18" charset="0"/>
              <a:cs typeface="Times New Roman" panose="02020603050405020304" pitchFamily="18" charset="0"/>
            </a:endParaRPr>
          </a:p>
        </p:txBody>
      </p:sp>
      <p:sp>
        <p:nvSpPr>
          <p:cNvPr id="5" name="Rectangle 4"/>
          <p:cNvSpPr/>
          <p:nvPr/>
        </p:nvSpPr>
        <p:spPr>
          <a:xfrm>
            <a:off x="382611" y="2577921"/>
            <a:ext cx="2582750" cy="940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Domain Constraints</a:t>
            </a:r>
            <a:endParaRPr lang="en-IN" sz="2200" dirty="0">
              <a:latin typeface="Times New Roman" panose="02020603050405020304" pitchFamily="18" charset="0"/>
              <a:cs typeface="Times New Roman" panose="02020603050405020304" pitchFamily="18" charset="0"/>
            </a:endParaRPr>
          </a:p>
        </p:txBody>
      </p:sp>
      <p:sp>
        <p:nvSpPr>
          <p:cNvPr id="6" name="Rectangle 5"/>
          <p:cNvSpPr/>
          <p:nvPr/>
        </p:nvSpPr>
        <p:spPr>
          <a:xfrm>
            <a:off x="3402438" y="2577921"/>
            <a:ext cx="2582750" cy="940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Entity Integrity Constraints</a:t>
            </a:r>
            <a:endParaRPr lang="en-IN" sz="2200" dirty="0">
              <a:latin typeface="Times New Roman" panose="02020603050405020304" pitchFamily="18" charset="0"/>
              <a:cs typeface="Times New Roman" panose="02020603050405020304" pitchFamily="18" charset="0"/>
            </a:endParaRPr>
          </a:p>
        </p:txBody>
      </p:sp>
      <p:sp>
        <p:nvSpPr>
          <p:cNvPr id="7" name="Rectangle 6"/>
          <p:cNvSpPr/>
          <p:nvPr/>
        </p:nvSpPr>
        <p:spPr>
          <a:xfrm>
            <a:off x="6373433" y="2577921"/>
            <a:ext cx="2582750" cy="940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Referential integrity Constraints</a:t>
            </a:r>
            <a:endParaRPr lang="en-IN" sz="2200" dirty="0">
              <a:latin typeface="Times New Roman" panose="02020603050405020304" pitchFamily="18" charset="0"/>
              <a:cs typeface="Times New Roman" panose="02020603050405020304" pitchFamily="18" charset="0"/>
            </a:endParaRPr>
          </a:p>
        </p:txBody>
      </p:sp>
      <p:sp>
        <p:nvSpPr>
          <p:cNvPr id="8" name="Rectangle 7"/>
          <p:cNvSpPr/>
          <p:nvPr/>
        </p:nvSpPr>
        <p:spPr>
          <a:xfrm>
            <a:off x="9308743" y="2530698"/>
            <a:ext cx="2582750" cy="940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Key Constraints</a:t>
            </a:r>
            <a:endParaRPr lang="en-IN" sz="2200" dirty="0">
              <a:latin typeface="Times New Roman" panose="02020603050405020304" pitchFamily="18" charset="0"/>
              <a:cs typeface="Times New Roman" panose="02020603050405020304" pitchFamily="18" charset="0"/>
            </a:endParaRPr>
          </a:p>
        </p:txBody>
      </p:sp>
      <p:sp>
        <p:nvSpPr>
          <p:cNvPr id="9" name="Bent-Up Arrow 8"/>
          <p:cNvSpPr/>
          <p:nvPr/>
        </p:nvSpPr>
        <p:spPr>
          <a:xfrm flipV="1">
            <a:off x="6373433" y="1970468"/>
            <a:ext cx="4303154" cy="560230"/>
          </a:xfrm>
          <a:prstGeom prst="bentUpArrow">
            <a:avLst>
              <a:gd name="adj1" fmla="val 25000"/>
              <a:gd name="adj2" fmla="val 11364"/>
              <a:gd name="adj3" fmla="val 203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Bent-Up Arrow 9"/>
          <p:cNvSpPr/>
          <p:nvPr/>
        </p:nvSpPr>
        <p:spPr>
          <a:xfrm flipH="1" flipV="1">
            <a:off x="1584101" y="1968320"/>
            <a:ext cx="4941732" cy="560230"/>
          </a:xfrm>
          <a:prstGeom prst="bentUpArrow">
            <a:avLst>
              <a:gd name="adj1" fmla="val 25000"/>
              <a:gd name="adj2" fmla="val 11364"/>
              <a:gd name="adj3" fmla="val 203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Bent-Up Arrow 10"/>
          <p:cNvSpPr/>
          <p:nvPr/>
        </p:nvSpPr>
        <p:spPr>
          <a:xfrm flipH="1" flipV="1">
            <a:off x="4610637" y="1968320"/>
            <a:ext cx="4941732" cy="560230"/>
          </a:xfrm>
          <a:prstGeom prst="bentUpArrow">
            <a:avLst>
              <a:gd name="adj1" fmla="val 25000"/>
              <a:gd name="adj2" fmla="val 11364"/>
              <a:gd name="adj3" fmla="val 203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Bent-Up Arrow 11"/>
          <p:cNvSpPr/>
          <p:nvPr/>
        </p:nvSpPr>
        <p:spPr>
          <a:xfrm flipV="1">
            <a:off x="4693813" y="1968320"/>
            <a:ext cx="2980921" cy="560230"/>
          </a:xfrm>
          <a:prstGeom prst="bentUpArrow">
            <a:avLst>
              <a:gd name="adj1" fmla="val 25000"/>
              <a:gd name="adj2" fmla="val 11364"/>
              <a:gd name="adj3" fmla="val 203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L-Shape 12"/>
          <p:cNvSpPr/>
          <p:nvPr/>
        </p:nvSpPr>
        <p:spPr>
          <a:xfrm>
            <a:off x="6184273" y="1635617"/>
            <a:ext cx="189160" cy="437882"/>
          </a:xfrm>
          <a:prstGeom prst="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382611" y="3837904"/>
            <a:ext cx="2582750" cy="28977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Attribute</a:t>
            </a:r>
          </a:p>
          <a:p>
            <a:pPr algn="ctr"/>
            <a:r>
              <a:rPr lang="en-US" b="1" dirty="0" err="1"/>
              <a:t>e.g</a:t>
            </a:r>
            <a:r>
              <a:rPr lang="en-US" b="1" dirty="0"/>
              <a:t> Student table</a:t>
            </a:r>
          </a:p>
          <a:p>
            <a:pPr algn="ctr"/>
            <a:r>
              <a:rPr lang="en-US" b="1" dirty="0" err="1"/>
              <a:t>Age|Name|MobileNo</a:t>
            </a:r>
            <a:endParaRPr lang="en-US" b="1" dirty="0"/>
          </a:p>
          <a:p>
            <a:pPr algn="ctr"/>
            <a:r>
              <a:rPr lang="en-US" b="1" dirty="0"/>
              <a:t>-5|ajay |98606166</a:t>
            </a:r>
          </a:p>
          <a:p>
            <a:pPr algn="ctr"/>
            <a:endParaRPr lang="en-US" b="1" dirty="0"/>
          </a:p>
          <a:p>
            <a:pPr algn="ctr"/>
            <a:r>
              <a:rPr lang="en-US" b="1" dirty="0"/>
              <a:t>Check(Age&gt;0)</a:t>
            </a:r>
          </a:p>
          <a:p>
            <a:pPr algn="ctr"/>
            <a:endParaRPr lang="en-US" b="1" dirty="0"/>
          </a:p>
          <a:p>
            <a:pPr algn="ctr"/>
            <a:endParaRPr lang="en-US" b="1" dirty="0"/>
          </a:p>
          <a:p>
            <a:pPr algn="ctr"/>
            <a:endParaRPr lang="en-US" b="1" dirty="0"/>
          </a:p>
          <a:p>
            <a:pPr algn="ctr"/>
            <a:endParaRPr lang="en-IN" b="1" dirty="0"/>
          </a:p>
        </p:txBody>
      </p:sp>
      <p:sp>
        <p:nvSpPr>
          <p:cNvPr id="16" name="Rectangle 15"/>
          <p:cNvSpPr/>
          <p:nvPr/>
        </p:nvSpPr>
        <p:spPr>
          <a:xfrm>
            <a:off x="3402438" y="3837903"/>
            <a:ext cx="2582750" cy="28977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Entity – Table</a:t>
            </a:r>
          </a:p>
          <a:p>
            <a:pPr algn="ctr"/>
            <a:r>
              <a:rPr lang="en-US" b="1" dirty="0"/>
              <a:t>Unique Data</a:t>
            </a:r>
          </a:p>
          <a:p>
            <a:pPr algn="ctr"/>
            <a:r>
              <a:rPr lang="en-US" b="1" dirty="0"/>
              <a:t>Not Null</a:t>
            </a:r>
          </a:p>
          <a:p>
            <a:pPr algn="ctr"/>
            <a:r>
              <a:rPr lang="en-US" b="1" dirty="0"/>
              <a:t>:</a:t>
            </a:r>
          </a:p>
          <a:p>
            <a:pPr algn="ctr"/>
            <a:r>
              <a:rPr lang="en-US" b="1" dirty="0"/>
              <a:t>Primary Key</a:t>
            </a:r>
          </a:p>
          <a:p>
            <a:pPr algn="ctr"/>
            <a:endParaRPr lang="en-US" b="1" dirty="0"/>
          </a:p>
          <a:p>
            <a:pPr algn="ctr"/>
            <a:endParaRPr lang="en-US" b="1" dirty="0"/>
          </a:p>
          <a:p>
            <a:pPr algn="ctr"/>
            <a:endParaRPr lang="en-US" b="1" dirty="0"/>
          </a:p>
          <a:p>
            <a:pPr algn="ctr"/>
            <a:endParaRPr lang="en-US" b="1" dirty="0"/>
          </a:p>
          <a:p>
            <a:pPr algn="ctr"/>
            <a:endParaRPr lang="en-US" b="1" dirty="0"/>
          </a:p>
        </p:txBody>
      </p:sp>
      <p:sp>
        <p:nvSpPr>
          <p:cNvPr id="17" name="Rectangle 16"/>
          <p:cNvSpPr/>
          <p:nvPr/>
        </p:nvSpPr>
        <p:spPr>
          <a:xfrm>
            <a:off x="6356126" y="3837903"/>
            <a:ext cx="2582750" cy="28977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Foreign Key</a:t>
            </a:r>
          </a:p>
          <a:p>
            <a:pPr algn="ctr"/>
            <a:r>
              <a:rPr lang="en-US" b="1" dirty="0"/>
              <a:t>Parent Table</a:t>
            </a:r>
          </a:p>
          <a:p>
            <a:pPr algn="ctr"/>
            <a:r>
              <a:rPr lang="en-US" b="1" dirty="0"/>
              <a:t>Child Table</a:t>
            </a:r>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IN" b="1" dirty="0"/>
          </a:p>
        </p:txBody>
      </p:sp>
      <p:sp>
        <p:nvSpPr>
          <p:cNvPr id="18" name="Rectangle 17"/>
          <p:cNvSpPr/>
          <p:nvPr/>
        </p:nvSpPr>
        <p:spPr>
          <a:xfrm>
            <a:off x="9189614" y="3837903"/>
            <a:ext cx="2582750" cy="28977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Unique Key </a:t>
            </a:r>
          </a:p>
          <a:p>
            <a:pPr algn="ctr"/>
            <a:r>
              <a:rPr lang="en-US" b="1" dirty="0"/>
              <a:t>Candidate Key</a:t>
            </a:r>
            <a:endParaRPr lang="en-IN" b="1" dirty="0"/>
          </a:p>
        </p:txBody>
      </p:sp>
    </p:spTree>
    <p:extLst>
      <p:ext uri="{BB962C8B-B14F-4D97-AF65-F5344CB8AC3E}">
        <p14:creationId xmlns:p14="http://schemas.microsoft.com/office/powerpoint/2010/main" val="1873765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Candidate Key</a:t>
            </a:r>
            <a:endParaRPr lang="en-IN" dirty="0"/>
          </a:p>
        </p:txBody>
      </p:sp>
      <p:sp>
        <p:nvSpPr>
          <p:cNvPr id="3" name="Content Placeholder 2"/>
          <p:cNvSpPr>
            <a:spLocks noGrp="1"/>
          </p:cNvSpPr>
          <p:nvPr>
            <p:ph idx="1"/>
          </p:nvPr>
        </p:nvSpPr>
        <p:spPr/>
        <p:txBody>
          <a:bodyPr/>
          <a:lstStyle/>
          <a:p>
            <a:r>
              <a:rPr lang="en-US" dirty="0"/>
              <a:t>What is Key- Attribute</a:t>
            </a:r>
          </a:p>
          <a:p>
            <a:r>
              <a:rPr lang="en-US" dirty="0"/>
              <a:t>Use of Key – Uniquely Identify the Attribute</a:t>
            </a:r>
            <a:endParaRPr lang="en-IN" dirty="0"/>
          </a:p>
        </p:txBody>
      </p:sp>
      <p:graphicFrame>
        <p:nvGraphicFramePr>
          <p:cNvPr id="4" name="Table 3"/>
          <p:cNvGraphicFramePr>
            <a:graphicFrameLocks noGrp="1"/>
          </p:cNvGraphicFramePr>
          <p:nvPr/>
        </p:nvGraphicFramePr>
        <p:xfrm>
          <a:off x="838200" y="3553019"/>
          <a:ext cx="6096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en-US" dirty="0" err="1"/>
                        <a:t>Sname</a:t>
                      </a:r>
                      <a:endParaRPr lang="en-IN" dirty="0"/>
                    </a:p>
                  </a:txBody>
                  <a:tcPr/>
                </a:tc>
                <a:tc>
                  <a:txBody>
                    <a:bodyPr/>
                    <a:lstStyle/>
                    <a:p>
                      <a:r>
                        <a:rPr lang="en-US" dirty="0"/>
                        <a:t>Age</a:t>
                      </a:r>
                      <a:endParaRPr lang="en-IN" dirty="0"/>
                    </a:p>
                  </a:txBody>
                  <a:tcPr/>
                </a:tc>
                <a:tc>
                  <a:txBody>
                    <a:bodyPr/>
                    <a:lstStyle/>
                    <a:p>
                      <a:r>
                        <a:rPr lang="en-US" dirty="0"/>
                        <a:t>City</a:t>
                      </a:r>
                      <a:endParaRPr lang="en-IN" dirty="0"/>
                    </a:p>
                  </a:txBody>
                  <a:tcPr/>
                </a:tc>
                <a:extLst>
                  <a:ext uri="{0D108BD9-81ED-4DB2-BD59-A6C34878D82A}">
                    <a16:rowId xmlns:a16="http://schemas.microsoft.com/office/drawing/2014/main" val="10000"/>
                  </a:ext>
                </a:extLst>
              </a:tr>
              <a:tr h="370840">
                <a:tc>
                  <a:txBody>
                    <a:bodyPr/>
                    <a:lstStyle/>
                    <a:p>
                      <a:r>
                        <a:rPr lang="en-US" dirty="0"/>
                        <a:t>Ajay</a:t>
                      </a:r>
                      <a:endParaRPr lang="en-IN" dirty="0"/>
                    </a:p>
                  </a:txBody>
                  <a:tcPr/>
                </a:tc>
                <a:tc>
                  <a:txBody>
                    <a:bodyPr/>
                    <a:lstStyle/>
                    <a:p>
                      <a:r>
                        <a:rPr lang="en-US" dirty="0"/>
                        <a:t>29</a:t>
                      </a:r>
                      <a:endParaRPr lang="en-IN" dirty="0"/>
                    </a:p>
                  </a:txBody>
                  <a:tcPr/>
                </a:tc>
                <a:tc>
                  <a:txBody>
                    <a:bodyPr/>
                    <a:lstStyle/>
                    <a:p>
                      <a:r>
                        <a:rPr lang="en-US" dirty="0"/>
                        <a:t>Pune</a:t>
                      </a:r>
                      <a:endParaRPr lang="en-IN" dirty="0"/>
                    </a:p>
                  </a:txBody>
                  <a:tcPr/>
                </a:tc>
                <a:extLst>
                  <a:ext uri="{0D108BD9-81ED-4DB2-BD59-A6C34878D82A}">
                    <a16:rowId xmlns:a16="http://schemas.microsoft.com/office/drawing/2014/main" val="10001"/>
                  </a:ext>
                </a:extLst>
              </a:tr>
              <a:tr h="370840">
                <a:tc>
                  <a:txBody>
                    <a:bodyPr/>
                    <a:lstStyle/>
                    <a:p>
                      <a:r>
                        <a:rPr lang="en-US" dirty="0"/>
                        <a:t>Raj</a:t>
                      </a:r>
                      <a:endParaRPr lang="en-IN" dirty="0"/>
                    </a:p>
                  </a:txBody>
                  <a:tcPr/>
                </a:tc>
                <a:tc>
                  <a:txBody>
                    <a:bodyPr/>
                    <a:lstStyle/>
                    <a:p>
                      <a:r>
                        <a:rPr lang="en-US" dirty="0"/>
                        <a:t>25</a:t>
                      </a:r>
                      <a:endParaRPr lang="en-IN" dirty="0"/>
                    </a:p>
                  </a:txBody>
                  <a:tcPr/>
                </a:tc>
                <a:tc>
                  <a:txBody>
                    <a:bodyPr/>
                    <a:lstStyle/>
                    <a:p>
                      <a:r>
                        <a:rPr lang="en-US" dirty="0" err="1"/>
                        <a:t>Satara</a:t>
                      </a:r>
                      <a:endParaRPr lang="en-IN" dirty="0"/>
                    </a:p>
                  </a:txBody>
                  <a:tcPr/>
                </a:tc>
                <a:extLst>
                  <a:ext uri="{0D108BD9-81ED-4DB2-BD59-A6C34878D82A}">
                    <a16:rowId xmlns:a16="http://schemas.microsoft.com/office/drawing/2014/main" val="10002"/>
                  </a:ext>
                </a:extLst>
              </a:tr>
              <a:tr h="370840">
                <a:tc>
                  <a:txBody>
                    <a:bodyPr/>
                    <a:lstStyle/>
                    <a:p>
                      <a:r>
                        <a:rPr lang="en-US" dirty="0"/>
                        <a:t>Ajay</a:t>
                      </a:r>
                      <a:endParaRPr lang="en-IN" dirty="0"/>
                    </a:p>
                  </a:txBody>
                  <a:tcPr/>
                </a:tc>
                <a:tc>
                  <a:txBody>
                    <a:bodyPr/>
                    <a:lstStyle/>
                    <a:p>
                      <a:r>
                        <a:rPr lang="en-US" dirty="0"/>
                        <a:t>29</a:t>
                      </a:r>
                      <a:endParaRPr lang="en-IN" dirty="0"/>
                    </a:p>
                  </a:txBody>
                  <a:tcPr/>
                </a:tc>
                <a:tc>
                  <a:txBody>
                    <a:bodyPr/>
                    <a:lstStyle/>
                    <a:p>
                      <a:r>
                        <a:rPr lang="en-US" dirty="0"/>
                        <a:t>Pune</a:t>
                      </a:r>
                      <a:endParaRPr lang="en-IN" dirty="0"/>
                    </a:p>
                  </a:txBody>
                  <a:tcPr/>
                </a:tc>
                <a:extLst>
                  <a:ext uri="{0D108BD9-81ED-4DB2-BD59-A6C34878D82A}">
                    <a16:rowId xmlns:a16="http://schemas.microsoft.com/office/drawing/2014/main" val="10003"/>
                  </a:ext>
                </a:extLst>
              </a:tr>
            </a:tbl>
          </a:graphicData>
        </a:graphic>
      </p:graphicFrame>
      <p:sp>
        <p:nvSpPr>
          <p:cNvPr id="5" name="Rectangle 4"/>
          <p:cNvSpPr/>
          <p:nvPr/>
        </p:nvSpPr>
        <p:spPr>
          <a:xfrm>
            <a:off x="8268237" y="1133341"/>
            <a:ext cx="3309870" cy="4108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Student Table</a:t>
            </a:r>
          </a:p>
          <a:p>
            <a:pPr marL="285750" indent="-285750">
              <a:buFont typeface="Arial" panose="020B0604020202020204" pitchFamily="34" charset="0"/>
              <a:buChar char="•"/>
            </a:pPr>
            <a:r>
              <a:rPr lang="en-US" sz="2800" dirty="0"/>
              <a:t>Adhar Card No</a:t>
            </a:r>
          </a:p>
          <a:p>
            <a:pPr marL="285750" indent="-285750">
              <a:buFont typeface="Arial" panose="020B0604020202020204" pitchFamily="34" charset="0"/>
              <a:buChar char="•"/>
            </a:pPr>
            <a:r>
              <a:rPr lang="en-US" sz="2800" dirty="0"/>
              <a:t>Roll No</a:t>
            </a:r>
          </a:p>
          <a:p>
            <a:pPr marL="285750" indent="-285750">
              <a:buFont typeface="Arial" panose="020B0604020202020204" pitchFamily="34" charset="0"/>
              <a:buChar char="•"/>
            </a:pPr>
            <a:r>
              <a:rPr lang="en-US" sz="2800" dirty="0"/>
              <a:t>Registration No</a:t>
            </a:r>
          </a:p>
          <a:p>
            <a:pPr marL="285750" indent="-285750">
              <a:buFont typeface="Arial" panose="020B0604020202020204" pitchFamily="34" charset="0"/>
              <a:buChar char="•"/>
            </a:pPr>
            <a:r>
              <a:rPr lang="en-US" sz="2800" dirty="0"/>
              <a:t>Phone No</a:t>
            </a:r>
          </a:p>
          <a:p>
            <a:pPr marL="285750" indent="-285750">
              <a:buFont typeface="Arial" panose="020B0604020202020204" pitchFamily="34" charset="0"/>
              <a:buChar char="•"/>
            </a:pPr>
            <a:r>
              <a:rPr lang="en-US" sz="2800" dirty="0"/>
              <a:t>License No</a:t>
            </a:r>
          </a:p>
          <a:p>
            <a:pPr marL="285750" indent="-285750">
              <a:buFont typeface="Arial" panose="020B0604020202020204" pitchFamily="34" charset="0"/>
              <a:buChar char="•"/>
            </a:pPr>
            <a:r>
              <a:rPr lang="en-US" sz="2800" dirty="0" err="1"/>
              <a:t>Votar</a:t>
            </a:r>
            <a:r>
              <a:rPr lang="en-US" sz="2800" dirty="0"/>
              <a:t> Id</a:t>
            </a:r>
          </a:p>
          <a:p>
            <a:pPr marL="285750" indent="-285750">
              <a:buFont typeface="Arial" panose="020B0604020202020204" pitchFamily="34" charset="0"/>
              <a:buChar char="•"/>
            </a:pPr>
            <a:r>
              <a:rPr lang="en-US" sz="2800" dirty="0"/>
              <a:t>Email </a:t>
            </a:r>
          </a:p>
          <a:p>
            <a:pPr marL="285750" indent="-285750" algn="ctr">
              <a:buFont typeface="Arial" panose="020B0604020202020204" pitchFamily="34" charset="0"/>
              <a:buChar char="•"/>
            </a:pPr>
            <a:endParaRPr lang="en-US" dirty="0"/>
          </a:p>
        </p:txBody>
      </p:sp>
    </p:spTree>
    <p:extLst>
      <p:ext uri="{BB962C8B-B14F-4D97-AF65-F5344CB8AC3E}">
        <p14:creationId xmlns:p14="http://schemas.microsoft.com/office/powerpoint/2010/main" val="3163862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 – {Unique + Not Null}</a:t>
            </a:r>
            <a:endParaRPr lang="en-IN" dirty="0"/>
          </a:p>
        </p:txBody>
      </p:sp>
      <p:graphicFrame>
        <p:nvGraphicFramePr>
          <p:cNvPr id="4" name="Table 3"/>
          <p:cNvGraphicFramePr>
            <a:graphicFrameLocks noGrp="1"/>
          </p:cNvGraphicFramePr>
          <p:nvPr/>
        </p:nvGraphicFramePr>
        <p:xfrm>
          <a:off x="928352" y="2548467"/>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726127">
                  <a:extLst>
                    <a:ext uri="{9D8B030D-6E8A-4147-A177-3AD203B41FA5}">
                      <a16:colId xmlns:a16="http://schemas.microsoft.com/office/drawing/2014/main" val="20001"/>
                    </a:ext>
                  </a:extLst>
                </a:gridCol>
                <a:gridCol w="1906073">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370840">
                <a:tc>
                  <a:txBody>
                    <a:bodyPr/>
                    <a:lstStyle/>
                    <a:p>
                      <a:r>
                        <a:rPr lang="en-US" dirty="0"/>
                        <a:t>Roll</a:t>
                      </a:r>
                      <a:r>
                        <a:rPr lang="en-US" baseline="0" dirty="0"/>
                        <a:t> No.</a:t>
                      </a:r>
                      <a:endParaRPr lang="en-IN" dirty="0"/>
                    </a:p>
                  </a:txBody>
                  <a:tcPr/>
                </a:tc>
                <a:tc>
                  <a:txBody>
                    <a:bodyPr/>
                    <a:lstStyle/>
                    <a:p>
                      <a:r>
                        <a:rPr lang="en-US" dirty="0" err="1"/>
                        <a:t>Sname</a:t>
                      </a:r>
                      <a:endParaRPr lang="en-IN" dirty="0"/>
                    </a:p>
                  </a:txBody>
                  <a:tcPr/>
                </a:tc>
                <a:tc>
                  <a:txBody>
                    <a:bodyPr/>
                    <a:lstStyle/>
                    <a:p>
                      <a:r>
                        <a:rPr lang="en-US" dirty="0"/>
                        <a:t>Age</a:t>
                      </a:r>
                      <a:endParaRPr lang="en-IN" dirty="0"/>
                    </a:p>
                  </a:txBody>
                  <a:tcPr/>
                </a:tc>
                <a:tc>
                  <a:txBody>
                    <a:bodyPr/>
                    <a:lstStyle/>
                    <a:p>
                      <a:r>
                        <a:rPr lang="en-US" dirty="0"/>
                        <a:t>City</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tc>
                  <a:txBody>
                    <a:bodyPr/>
                    <a:lstStyle/>
                    <a:p>
                      <a:r>
                        <a:rPr lang="en-US" dirty="0"/>
                        <a:t>29</a:t>
                      </a:r>
                      <a:endParaRPr lang="en-IN" dirty="0"/>
                    </a:p>
                  </a:txBody>
                  <a:tcPr/>
                </a:tc>
                <a:tc>
                  <a:txBody>
                    <a:bodyPr/>
                    <a:lstStyle/>
                    <a:p>
                      <a:r>
                        <a:rPr lang="en-US" dirty="0"/>
                        <a:t>Pune</a:t>
                      </a:r>
                      <a:endParaRPr lang="en-IN" dirty="0"/>
                    </a:p>
                  </a:txBody>
                  <a:tcPr/>
                </a:tc>
                <a:extLst>
                  <a:ext uri="{0D108BD9-81ED-4DB2-BD59-A6C34878D82A}">
                    <a16:rowId xmlns:a16="http://schemas.microsoft.com/office/drawing/2014/main" val="10001"/>
                  </a:ext>
                </a:extLst>
              </a:tr>
              <a:tr h="370840">
                <a:tc>
                  <a:txBody>
                    <a:bodyPr/>
                    <a:lstStyle/>
                    <a:p>
                      <a:r>
                        <a:rPr lang="en-US" dirty="0"/>
                        <a:t>2</a:t>
                      </a:r>
                      <a:endParaRPr lang="en-IN" dirty="0"/>
                    </a:p>
                  </a:txBody>
                  <a:tcPr/>
                </a:tc>
                <a:tc>
                  <a:txBody>
                    <a:bodyPr/>
                    <a:lstStyle/>
                    <a:p>
                      <a:r>
                        <a:rPr lang="en-US" dirty="0"/>
                        <a:t>Raj</a:t>
                      </a:r>
                      <a:endParaRPr lang="en-IN" dirty="0"/>
                    </a:p>
                  </a:txBody>
                  <a:tcPr/>
                </a:tc>
                <a:tc>
                  <a:txBody>
                    <a:bodyPr/>
                    <a:lstStyle/>
                    <a:p>
                      <a:r>
                        <a:rPr lang="en-US" dirty="0"/>
                        <a:t>25</a:t>
                      </a:r>
                      <a:endParaRPr lang="en-IN" dirty="0"/>
                    </a:p>
                  </a:txBody>
                  <a:tcPr/>
                </a:tc>
                <a:tc>
                  <a:txBody>
                    <a:bodyPr/>
                    <a:lstStyle/>
                    <a:p>
                      <a:r>
                        <a:rPr lang="en-US" dirty="0" err="1"/>
                        <a:t>Satara</a:t>
                      </a:r>
                      <a:endParaRPr lang="en-IN" dirty="0"/>
                    </a:p>
                  </a:txBody>
                  <a:tcPr/>
                </a:tc>
                <a:extLst>
                  <a:ext uri="{0D108BD9-81ED-4DB2-BD59-A6C34878D82A}">
                    <a16:rowId xmlns:a16="http://schemas.microsoft.com/office/drawing/2014/main" val="10002"/>
                  </a:ext>
                </a:extLst>
              </a:tr>
              <a:tr h="370840">
                <a:tc>
                  <a:txBody>
                    <a:bodyPr/>
                    <a:lstStyle/>
                    <a:p>
                      <a:r>
                        <a:rPr lang="en-US" dirty="0"/>
                        <a:t>3</a:t>
                      </a:r>
                      <a:endParaRPr lang="en-IN" dirty="0"/>
                    </a:p>
                  </a:txBody>
                  <a:tcPr/>
                </a:tc>
                <a:tc>
                  <a:txBody>
                    <a:bodyPr/>
                    <a:lstStyle/>
                    <a:p>
                      <a:r>
                        <a:rPr lang="en-US" dirty="0"/>
                        <a:t>Ajay</a:t>
                      </a:r>
                      <a:endParaRPr lang="en-IN" dirty="0"/>
                    </a:p>
                  </a:txBody>
                  <a:tcPr/>
                </a:tc>
                <a:tc>
                  <a:txBody>
                    <a:bodyPr/>
                    <a:lstStyle/>
                    <a:p>
                      <a:r>
                        <a:rPr lang="en-US" dirty="0"/>
                        <a:t>29</a:t>
                      </a:r>
                      <a:endParaRPr lang="en-IN" dirty="0"/>
                    </a:p>
                  </a:txBody>
                  <a:tcPr/>
                </a:tc>
                <a:tc>
                  <a:txBody>
                    <a:bodyPr/>
                    <a:lstStyle/>
                    <a:p>
                      <a:r>
                        <a:rPr lang="en-US" dirty="0"/>
                        <a:t>Pune</a:t>
                      </a:r>
                      <a:endParaRPr lang="en-IN"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52870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Foreign Key</a:t>
            </a:r>
            <a:endParaRPr lang="en-IN" dirty="0"/>
          </a:p>
        </p:txBody>
      </p:sp>
      <p:sp>
        <p:nvSpPr>
          <p:cNvPr id="3" name="Content Placeholder 2"/>
          <p:cNvSpPr>
            <a:spLocks noGrp="1"/>
          </p:cNvSpPr>
          <p:nvPr>
            <p:ph idx="1"/>
          </p:nvPr>
        </p:nvSpPr>
        <p:spPr/>
        <p:txBody>
          <a:bodyPr/>
          <a:lstStyle/>
          <a:p>
            <a:r>
              <a:rPr lang="en-US" dirty="0"/>
              <a:t>It is an attribute or set of attribute that references to primary key of same table or another table.</a:t>
            </a:r>
          </a:p>
          <a:p>
            <a:r>
              <a:rPr lang="en-US" dirty="0"/>
              <a:t>Maintain referential integrity</a:t>
            </a:r>
            <a:endParaRPr lang="en-IN" dirty="0"/>
          </a:p>
        </p:txBody>
      </p:sp>
      <p:graphicFrame>
        <p:nvGraphicFramePr>
          <p:cNvPr id="4" name="Table 3"/>
          <p:cNvGraphicFramePr>
            <a:graphicFrameLocks noGrp="1"/>
          </p:cNvGraphicFramePr>
          <p:nvPr/>
        </p:nvGraphicFramePr>
        <p:xfrm>
          <a:off x="838200" y="4415900"/>
          <a:ext cx="2920972" cy="1752600"/>
        </p:xfrm>
        <a:graphic>
          <a:graphicData uri="http://schemas.openxmlformats.org/drawingml/2006/table">
            <a:tbl>
              <a:tblPr firstRow="1" bandRow="1">
                <a:tableStyleId>{5C22544A-7EE6-4342-B048-85BDC9FD1C3A}</a:tableStyleId>
              </a:tblPr>
              <a:tblGrid>
                <a:gridCol w="585811">
                  <a:extLst>
                    <a:ext uri="{9D8B030D-6E8A-4147-A177-3AD203B41FA5}">
                      <a16:colId xmlns:a16="http://schemas.microsoft.com/office/drawing/2014/main" val="20000"/>
                    </a:ext>
                  </a:extLst>
                </a:gridCol>
                <a:gridCol w="995258">
                  <a:extLst>
                    <a:ext uri="{9D8B030D-6E8A-4147-A177-3AD203B41FA5}">
                      <a16:colId xmlns:a16="http://schemas.microsoft.com/office/drawing/2014/main" val="20001"/>
                    </a:ext>
                  </a:extLst>
                </a:gridCol>
                <a:gridCol w="1339903">
                  <a:extLst>
                    <a:ext uri="{9D8B030D-6E8A-4147-A177-3AD203B41FA5}">
                      <a16:colId xmlns:a16="http://schemas.microsoft.com/office/drawing/2014/main" val="20002"/>
                    </a:ext>
                  </a:extLst>
                </a:gridCol>
              </a:tblGrid>
              <a:tr h="370840">
                <a:tc>
                  <a:txBody>
                    <a:bodyPr/>
                    <a:lstStyle/>
                    <a:p>
                      <a:r>
                        <a:rPr lang="en-US" b="1" dirty="0"/>
                        <a:t>Roll</a:t>
                      </a:r>
                      <a:r>
                        <a:rPr lang="en-US" b="1" baseline="0" dirty="0"/>
                        <a:t> No.</a:t>
                      </a:r>
                      <a:endParaRPr lang="en-IN" b="1" dirty="0"/>
                    </a:p>
                  </a:txBody>
                  <a:tcPr/>
                </a:tc>
                <a:tc>
                  <a:txBody>
                    <a:bodyPr/>
                    <a:lstStyle/>
                    <a:p>
                      <a:r>
                        <a:rPr lang="en-US" b="1" dirty="0" err="1"/>
                        <a:t>Sname</a:t>
                      </a:r>
                      <a:endParaRPr lang="en-IN" b="1" dirty="0"/>
                    </a:p>
                  </a:txBody>
                  <a:tcPr/>
                </a:tc>
                <a:tc>
                  <a:txBody>
                    <a:bodyPr/>
                    <a:lstStyle/>
                    <a:p>
                      <a:r>
                        <a:rPr lang="en-US" b="1" dirty="0"/>
                        <a:t>Department</a:t>
                      </a:r>
                      <a:endParaRPr lang="en-IN" b="1" dirty="0"/>
                    </a:p>
                  </a:txBody>
                  <a:tcPr/>
                </a:tc>
                <a:extLst>
                  <a:ext uri="{0D108BD9-81ED-4DB2-BD59-A6C34878D82A}">
                    <a16:rowId xmlns:a16="http://schemas.microsoft.com/office/drawing/2014/main" val="10000"/>
                  </a:ext>
                </a:extLst>
              </a:tr>
              <a:tr h="370840">
                <a:tc>
                  <a:txBody>
                    <a:bodyPr/>
                    <a:lstStyle/>
                    <a:p>
                      <a:r>
                        <a:rPr lang="en-US" b="0" dirty="0"/>
                        <a:t>1</a:t>
                      </a:r>
                      <a:endParaRPr lang="en-IN" b="0" dirty="0"/>
                    </a:p>
                  </a:txBody>
                  <a:tcPr/>
                </a:tc>
                <a:tc>
                  <a:txBody>
                    <a:bodyPr/>
                    <a:lstStyle/>
                    <a:p>
                      <a:r>
                        <a:rPr lang="en-US" b="0" dirty="0"/>
                        <a:t>Ajay</a:t>
                      </a:r>
                      <a:endParaRPr lang="en-IN" b="0" dirty="0"/>
                    </a:p>
                  </a:txBody>
                  <a:tcPr/>
                </a:tc>
                <a:tc>
                  <a:txBody>
                    <a:bodyPr/>
                    <a:lstStyle/>
                    <a:p>
                      <a:r>
                        <a:rPr lang="en-US" b="0" dirty="0"/>
                        <a:t>IT</a:t>
                      </a:r>
                      <a:endParaRPr lang="en-IN" b="0" dirty="0"/>
                    </a:p>
                  </a:txBody>
                  <a:tcPr/>
                </a:tc>
                <a:extLst>
                  <a:ext uri="{0D108BD9-81ED-4DB2-BD59-A6C34878D82A}">
                    <a16:rowId xmlns:a16="http://schemas.microsoft.com/office/drawing/2014/main" val="10001"/>
                  </a:ext>
                </a:extLst>
              </a:tr>
              <a:tr h="370840">
                <a:tc>
                  <a:txBody>
                    <a:bodyPr/>
                    <a:lstStyle/>
                    <a:p>
                      <a:r>
                        <a:rPr lang="en-US" b="0" dirty="0"/>
                        <a:t>2</a:t>
                      </a:r>
                      <a:endParaRPr lang="en-IN" b="0" dirty="0"/>
                    </a:p>
                  </a:txBody>
                  <a:tcPr/>
                </a:tc>
                <a:tc>
                  <a:txBody>
                    <a:bodyPr/>
                    <a:lstStyle/>
                    <a:p>
                      <a:r>
                        <a:rPr lang="en-US" b="0" dirty="0"/>
                        <a:t>Raj</a:t>
                      </a:r>
                      <a:endParaRPr lang="en-IN" b="0" dirty="0"/>
                    </a:p>
                  </a:txBody>
                  <a:tcPr/>
                </a:tc>
                <a:tc>
                  <a:txBody>
                    <a:bodyPr/>
                    <a:lstStyle/>
                    <a:p>
                      <a:r>
                        <a:rPr lang="en-US" b="0" dirty="0"/>
                        <a:t>Computer</a:t>
                      </a:r>
                      <a:endParaRPr lang="en-IN" b="0" dirty="0"/>
                    </a:p>
                  </a:txBody>
                  <a:tcPr/>
                </a:tc>
                <a:extLst>
                  <a:ext uri="{0D108BD9-81ED-4DB2-BD59-A6C34878D82A}">
                    <a16:rowId xmlns:a16="http://schemas.microsoft.com/office/drawing/2014/main" val="10002"/>
                  </a:ext>
                </a:extLst>
              </a:tr>
              <a:tr h="370840">
                <a:tc>
                  <a:txBody>
                    <a:bodyPr/>
                    <a:lstStyle/>
                    <a:p>
                      <a:r>
                        <a:rPr lang="en-US" b="0" dirty="0"/>
                        <a:t>3</a:t>
                      </a:r>
                      <a:endParaRPr lang="en-IN" b="0" dirty="0"/>
                    </a:p>
                  </a:txBody>
                  <a:tcPr/>
                </a:tc>
                <a:tc>
                  <a:txBody>
                    <a:bodyPr/>
                    <a:lstStyle/>
                    <a:p>
                      <a:r>
                        <a:rPr lang="en-US" b="0" dirty="0"/>
                        <a:t>Ajay</a:t>
                      </a:r>
                      <a:endParaRPr lang="en-IN" b="0" dirty="0"/>
                    </a:p>
                  </a:txBody>
                  <a:tcPr/>
                </a:tc>
                <a:tc>
                  <a:txBody>
                    <a:bodyPr/>
                    <a:lstStyle/>
                    <a:p>
                      <a:r>
                        <a:rPr lang="en-US" b="0" dirty="0"/>
                        <a:t>E&amp;TC</a:t>
                      </a:r>
                      <a:endParaRPr lang="en-IN" b="0" dirty="0"/>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838200" y="3172358"/>
            <a:ext cx="3137269" cy="369332"/>
          </a:xfrm>
          <a:prstGeom prst="rect">
            <a:avLst/>
          </a:prstGeom>
          <a:noFill/>
        </p:spPr>
        <p:txBody>
          <a:bodyPr wrap="none" rtlCol="0">
            <a:spAutoFit/>
          </a:bodyPr>
          <a:lstStyle/>
          <a:p>
            <a:r>
              <a:rPr lang="en-US" dirty="0"/>
              <a:t>Student -  Roll No (Primary Key)</a:t>
            </a:r>
            <a:endParaRPr lang="en-IN" dirty="0"/>
          </a:p>
        </p:txBody>
      </p:sp>
      <p:graphicFrame>
        <p:nvGraphicFramePr>
          <p:cNvPr id="6" name="Table 5"/>
          <p:cNvGraphicFramePr>
            <a:graphicFrameLocks noGrp="1"/>
          </p:cNvGraphicFramePr>
          <p:nvPr/>
        </p:nvGraphicFramePr>
        <p:xfrm>
          <a:off x="4699715" y="4424363"/>
          <a:ext cx="3284866" cy="1752600"/>
        </p:xfrm>
        <a:graphic>
          <a:graphicData uri="http://schemas.openxmlformats.org/drawingml/2006/table">
            <a:tbl>
              <a:tblPr firstRow="1" bandRow="1">
                <a:tableStyleId>{5C22544A-7EE6-4342-B048-85BDC9FD1C3A}</a:tableStyleId>
              </a:tblPr>
              <a:tblGrid>
                <a:gridCol w="915473">
                  <a:extLst>
                    <a:ext uri="{9D8B030D-6E8A-4147-A177-3AD203B41FA5}">
                      <a16:colId xmlns:a16="http://schemas.microsoft.com/office/drawing/2014/main" val="20000"/>
                    </a:ext>
                  </a:extLst>
                </a:gridCol>
                <a:gridCol w="1352282">
                  <a:extLst>
                    <a:ext uri="{9D8B030D-6E8A-4147-A177-3AD203B41FA5}">
                      <a16:colId xmlns:a16="http://schemas.microsoft.com/office/drawing/2014/main" val="20001"/>
                    </a:ext>
                  </a:extLst>
                </a:gridCol>
                <a:gridCol w="1017111">
                  <a:extLst>
                    <a:ext uri="{9D8B030D-6E8A-4147-A177-3AD203B41FA5}">
                      <a16:colId xmlns:a16="http://schemas.microsoft.com/office/drawing/2014/main" val="20002"/>
                    </a:ext>
                  </a:extLst>
                </a:gridCol>
              </a:tblGrid>
              <a:tr h="370840">
                <a:tc>
                  <a:txBody>
                    <a:bodyPr/>
                    <a:lstStyle/>
                    <a:p>
                      <a:r>
                        <a:rPr lang="en-US" dirty="0"/>
                        <a:t>Course ID</a:t>
                      </a:r>
                      <a:endParaRPr lang="en-IN" dirty="0"/>
                    </a:p>
                  </a:txBody>
                  <a:tcPr/>
                </a:tc>
                <a:tc>
                  <a:txBody>
                    <a:bodyPr/>
                    <a:lstStyle/>
                    <a:p>
                      <a:r>
                        <a:rPr lang="en-US" baseline="0" dirty="0"/>
                        <a:t>Course </a:t>
                      </a:r>
                      <a:r>
                        <a:rPr lang="en-US" dirty="0"/>
                        <a:t>name</a:t>
                      </a:r>
                      <a:endParaRPr lang="en-IN" dirty="0"/>
                    </a:p>
                  </a:txBody>
                  <a:tcPr/>
                </a:tc>
                <a:tc>
                  <a:txBody>
                    <a:bodyPr/>
                    <a:lstStyle/>
                    <a:p>
                      <a:r>
                        <a:rPr lang="en-US" dirty="0"/>
                        <a:t>Roll No.</a:t>
                      </a:r>
                      <a:endParaRPr lang="en-IN" dirty="0"/>
                    </a:p>
                  </a:txBody>
                  <a:tcPr/>
                </a:tc>
                <a:extLst>
                  <a:ext uri="{0D108BD9-81ED-4DB2-BD59-A6C34878D82A}">
                    <a16:rowId xmlns:a16="http://schemas.microsoft.com/office/drawing/2014/main" val="10000"/>
                  </a:ext>
                </a:extLst>
              </a:tr>
              <a:tr h="370840">
                <a:tc>
                  <a:txBody>
                    <a:bodyPr/>
                    <a:lstStyle/>
                    <a:p>
                      <a:r>
                        <a:rPr lang="en-US" dirty="0"/>
                        <a:t>1001</a:t>
                      </a:r>
                      <a:endParaRPr lang="en-IN" dirty="0"/>
                    </a:p>
                  </a:txBody>
                  <a:tcPr/>
                </a:tc>
                <a:tc>
                  <a:txBody>
                    <a:bodyPr/>
                    <a:lstStyle/>
                    <a:p>
                      <a:r>
                        <a:rPr lang="en-US" dirty="0"/>
                        <a:t>DBMS</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001"/>
                  </a:ext>
                </a:extLst>
              </a:tr>
              <a:tr h="370840">
                <a:tc>
                  <a:txBody>
                    <a:bodyPr/>
                    <a:lstStyle/>
                    <a:p>
                      <a:r>
                        <a:rPr lang="en-US" dirty="0"/>
                        <a:t>1002</a:t>
                      </a:r>
                      <a:endParaRPr lang="en-IN" dirty="0"/>
                    </a:p>
                  </a:txBody>
                  <a:tcPr/>
                </a:tc>
                <a:tc>
                  <a:txBody>
                    <a:bodyPr/>
                    <a:lstStyle/>
                    <a:p>
                      <a:r>
                        <a:rPr lang="en-US" dirty="0"/>
                        <a:t>Networking</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002"/>
                  </a:ext>
                </a:extLst>
              </a:tr>
              <a:tr h="370840">
                <a:tc>
                  <a:txBody>
                    <a:bodyPr/>
                    <a:lstStyle/>
                    <a:p>
                      <a:r>
                        <a:rPr lang="en-US" dirty="0"/>
                        <a:t>1003</a:t>
                      </a:r>
                      <a:endParaRPr lang="en-IN" dirty="0"/>
                    </a:p>
                  </a:txBody>
                  <a:tcPr/>
                </a:tc>
                <a:tc>
                  <a:txBody>
                    <a:bodyPr/>
                    <a:lstStyle/>
                    <a:p>
                      <a:r>
                        <a:rPr lang="en-US" dirty="0"/>
                        <a:t>Java</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4712594" y="3218524"/>
            <a:ext cx="3224344" cy="646331"/>
          </a:xfrm>
          <a:prstGeom prst="rect">
            <a:avLst/>
          </a:prstGeom>
          <a:noFill/>
        </p:spPr>
        <p:txBody>
          <a:bodyPr wrap="none" rtlCol="0">
            <a:spAutoFit/>
          </a:bodyPr>
          <a:lstStyle/>
          <a:p>
            <a:r>
              <a:rPr lang="en-US" dirty="0"/>
              <a:t>Course-  Course ID (Primary Key)</a:t>
            </a:r>
          </a:p>
          <a:p>
            <a:r>
              <a:rPr lang="en-US" dirty="0"/>
              <a:t>                Roll No. Foreign Key</a:t>
            </a:r>
            <a:endParaRPr lang="en-IN" dirty="0"/>
          </a:p>
        </p:txBody>
      </p:sp>
      <p:sp>
        <p:nvSpPr>
          <p:cNvPr id="10" name="Bent-Up Arrow 9"/>
          <p:cNvSpPr/>
          <p:nvPr/>
        </p:nvSpPr>
        <p:spPr>
          <a:xfrm flipH="1" flipV="1">
            <a:off x="1004552" y="3818685"/>
            <a:ext cx="6348211" cy="629159"/>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Up Arrow 10"/>
          <p:cNvSpPr/>
          <p:nvPr/>
        </p:nvSpPr>
        <p:spPr>
          <a:xfrm>
            <a:off x="7133824" y="3818686"/>
            <a:ext cx="218940" cy="62915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8089888" y="3357024"/>
            <a:ext cx="4102112" cy="3539430"/>
          </a:xfrm>
          <a:prstGeom prst="rect">
            <a:avLst/>
          </a:prstGeom>
        </p:spPr>
        <p:txBody>
          <a:bodyPr wrap="square">
            <a:spAutoFit/>
          </a:bodyPr>
          <a:lstStyle/>
          <a:p>
            <a:r>
              <a:rPr lang="en-IN" sz="1600" dirty="0"/>
              <a:t>CREATE TABLE student (</a:t>
            </a:r>
          </a:p>
          <a:p>
            <a:r>
              <a:rPr lang="en-IN" sz="1600" dirty="0"/>
              <a:t>    </a:t>
            </a:r>
            <a:r>
              <a:rPr lang="en-IN" sz="1600" dirty="0" err="1"/>
              <a:t>roll_no</a:t>
            </a:r>
            <a:r>
              <a:rPr lang="en-IN" sz="1600" dirty="0"/>
              <a:t> INT PRIMARY KEY,</a:t>
            </a:r>
          </a:p>
          <a:p>
            <a:r>
              <a:rPr lang="en-IN" sz="1600" dirty="0"/>
              <a:t>    name VARCHAR(50),</a:t>
            </a:r>
          </a:p>
          <a:p>
            <a:r>
              <a:rPr lang="en-IN" sz="1600" dirty="0"/>
              <a:t>    department VARCHAR(50)</a:t>
            </a:r>
          </a:p>
          <a:p>
            <a:r>
              <a:rPr lang="en-IN" sz="1600" dirty="0"/>
              <a:t>);</a:t>
            </a:r>
          </a:p>
          <a:p>
            <a:endParaRPr lang="en-IN" sz="1600" dirty="0"/>
          </a:p>
          <a:p>
            <a:r>
              <a:rPr lang="en-IN" sz="1600" dirty="0"/>
              <a:t>-- Referencing (child) table: course</a:t>
            </a:r>
          </a:p>
          <a:p>
            <a:r>
              <a:rPr lang="en-IN" sz="1600" dirty="0"/>
              <a:t>CREATE TABLE course (</a:t>
            </a:r>
          </a:p>
          <a:p>
            <a:r>
              <a:rPr lang="en-IN" sz="1600" dirty="0"/>
              <a:t>    </a:t>
            </a:r>
            <a:r>
              <a:rPr lang="en-IN" sz="1600" dirty="0" err="1"/>
              <a:t>course_id</a:t>
            </a:r>
            <a:r>
              <a:rPr lang="en-IN" sz="1600" dirty="0"/>
              <a:t> INT PRIMARY KEY,</a:t>
            </a:r>
          </a:p>
          <a:p>
            <a:r>
              <a:rPr lang="en-IN" sz="1600" dirty="0"/>
              <a:t>    </a:t>
            </a:r>
            <a:r>
              <a:rPr lang="en-IN" sz="1600" dirty="0" err="1"/>
              <a:t>course_name</a:t>
            </a:r>
            <a:r>
              <a:rPr lang="en-IN" sz="1600" dirty="0"/>
              <a:t> VARCHAR(50),</a:t>
            </a:r>
          </a:p>
          <a:p>
            <a:r>
              <a:rPr lang="en-IN" sz="1600" dirty="0"/>
              <a:t>    </a:t>
            </a:r>
            <a:r>
              <a:rPr lang="en-IN" sz="1600" dirty="0" err="1"/>
              <a:t>roll_no</a:t>
            </a:r>
            <a:r>
              <a:rPr lang="en-IN" sz="1600" dirty="0"/>
              <a:t> INT,</a:t>
            </a:r>
          </a:p>
          <a:p>
            <a:r>
              <a:rPr lang="en-IN" sz="1600" dirty="0"/>
              <a:t>    FOREIGN KEY (</a:t>
            </a:r>
            <a:r>
              <a:rPr lang="en-IN" sz="1600" dirty="0" err="1"/>
              <a:t>roll_no</a:t>
            </a:r>
            <a:r>
              <a:rPr lang="en-IN" sz="1600" dirty="0"/>
              <a:t>) REFERENCES student(</a:t>
            </a:r>
            <a:r>
              <a:rPr lang="en-IN" sz="1600" dirty="0" err="1"/>
              <a:t>roll_no</a:t>
            </a:r>
            <a:r>
              <a:rPr lang="en-IN" sz="1600" dirty="0"/>
              <a:t>)</a:t>
            </a:r>
          </a:p>
          <a:p>
            <a:r>
              <a:rPr lang="en-IN" sz="1600" dirty="0"/>
              <a:t>);</a:t>
            </a:r>
          </a:p>
        </p:txBody>
      </p:sp>
    </p:spTree>
    <p:extLst>
      <p:ext uri="{BB962C8B-B14F-4D97-AF65-F5344CB8AC3E}">
        <p14:creationId xmlns:p14="http://schemas.microsoft.com/office/powerpoint/2010/main" val="1470088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 Key</a:t>
            </a:r>
            <a:endParaRPr lang="en-IN" dirty="0"/>
          </a:p>
        </p:txBody>
      </p:sp>
      <p:sp>
        <p:nvSpPr>
          <p:cNvPr id="3" name="Content Placeholder 2"/>
          <p:cNvSpPr>
            <a:spLocks noGrp="1"/>
          </p:cNvSpPr>
          <p:nvPr>
            <p:ph idx="1"/>
          </p:nvPr>
        </p:nvSpPr>
        <p:spPr/>
        <p:txBody>
          <a:bodyPr/>
          <a:lstStyle/>
          <a:p>
            <a:r>
              <a:rPr lang="en-US" dirty="0"/>
              <a:t>A super key is a combination 	of all possible attributes which can identify two tuples in the table.</a:t>
            </a:r>
            <a:endParaRPr lang="en-IN" dirty="0"/>
          </a:p>
        </p:txBody>
      </p:sp>
    </p:spTree>
    <p:extLst>
      <p:ext uri="{BB962C8B-B14F-4D97-AF65-F5344CB8AC3E}">
        <p14:creationId xmlns:p14="http://schemas.microsoft.com/office/powerpoint/2010/main" val="2664880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B025C-9382-C8EB-7363-187E50C3FEE6}"/>
              </a:ext>
            </a:extLst>
          </p:cNvPr>
          <p:cNvSpPr>
            <a:spLocks noGrp="1"/>
          </p:cNvSpPr>
          <p:nvPr>
            <p:ph type="title"/>
          </p:nvPr>
        </p:nvSpPr>
        <p:spPr/>
        <p:txBody>
          <a:bodyPr/>
          <a:lstStyle/>
          <a:p>
            <a:r>
              <a:rPr lang="en-US" dirty="0"/>
              <a:t>Data Modeling</a:t>
            </a:r>
            <a:endParaRPr lang="en-IN" dirty="0"/>
          </a:p>
        </p:txBody>
      </p:sp>
      <p:sp>
        <p:nvSpPr>
          <p:cNvPr id="3" name="Content Placeholder 2">
            <a:extLst>
              <a:ext uri="{FF2B5EF4-FFF2-40B4-BE49-F238E27FC236}">
                <a16:creationId xmlns:a16="http://schemas.microsoft.com/office/drawing/2014/main" id="{EB559AE2-0955-6244-8731-59CAA6301DAE}"/>
              </a:ext>
            </a:extLst>
          </p:cNvPr>
          <p:cNvSpPr>
            <a:spLocks noGrp="1"/>
          </p:cNvSpPr>
          <p:nvPr>
            <p:ph idx="1"/>
          </p:nvPr>
        </p:nvSpPr>
        <p:spPr/>
        <p:txBody>
          <a:bodyPr>
            <a:normAutofit/>
          </a:bodyPr>
          <a:lstStyle/>
          <a:p>
            <a:pPr algn="just" fontAlgn="base"/>
            <a:r>
              <a:rPr lang="en-US" sz="2400" dirty="0">
                <a:latin typeface="Times New Roman" panose="02020603050405020304" pitchFamily="18" charset="0"/>
                <a:cs typeface="Times New Roman" panose="02020603050405020304" pitchFamily="18" charset="0"/>
              </a:rPr>
              <a:t>Conceptualization</a:t>
            </a:r>
          </a:p>
          <a:p>
            <a:pPr algn="just" fontAlgn="base"/>
            <a:r>
              <a:rPr lang="en-US" sz="2400" dirty="0">
                <a:latin typeface="Times New Roman" panose="02020603050405020304" pitchFamily="18" charset="0"/>
                <a:cs typeface="Times New Roman" panose="02020603050405020304" pitchFamily="18" charset="0"/>
              </a:rPr>
              <a:t>Visualization</a:t>
            </a:r>
          </a:p>
          <a:p>
            <a:pPr algn="just" fontAlgn="base"/>
            <a:r>
              <a:rPr lang="en-US" sz="2400" dirty="0">
                <a:latin typeface="Times New Roman" panose="02020603050405020304" pitchFamily="18" charset="0"/>
                <a:cs typeface="Times New Roman" panose="02020603050405020304" pitchFamily="18" charset="0"/>
              </a:rPr>
              <a:t>Representation</a:t>
            </a:r>
          </a:p>
          <a:p>
            <a:pPr algn="just" fontAlgn="base"/>
            <a:r>
              <a:rPr lang="en-US" sz="2400" dirty="0">
                <a:latin typeface="Times New Roman" panose="02020603050405020304" pitchFamily="18" charset="0"/>
                <a:cs typeface="Times New Roman" panose="02020603050405020304" pitchFamily="18" charset="0"/>
              </a:rPr>
              <a:t>Data Standard </a:t>
            </a:r>
          </a:p>
          <a:p>
            <a:pPr algn="just" fontAlgn="base"/>
            <a:endParaRPr 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77623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4593-2EF9-1738-AFEA-619B963E3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9514C-797E-9F11-2F80-D5D1CDDC452E}"/>
              </a:ext>
            </a:extLst>
          </p:cNvPr>
          <p:cNvSpPr>
            <a:spLocks noGrp="1"/>
          </p:cNvSpPr>
          <p:nvPr>
            <p:ph type="title"/>
          </p:nvPr>
        </p:nvSpPr>
        <p:spPr/>
        <p:txBody>
          <a:bodyPr/>
          <a:lstStyle/>
          <a:p>
            <a:r>
              <a:rPr lang="en-US" dirty="0"/>
              <a:t>Data Modeling</a:t>
            </a:r>
            <a:endParaRPr lang="en-IN" dirty="0"/>
          </a:p>
        </p:txBody>
      </p:sp>
      <p:sp>
        <p:nvSpPr>
          <p:cNvPr id="3" name="Content Placeholder 2">
            <a:extLst>
              <a:ext uri="{FF2B5EF4-FFF2-40B4-BE49-F238E27FC236}">
                <a16:creationId xmlns:a16="http://schemas.microsoft.com/office/drawing/2014/main" id="{F400A039-6DD6-E249-C26A-C814D2286A0C}"/>
              </a:ext>
            </a:extLst>
          </p:cNvPr>
          <p:cNvSpPr>
            <a:spLocks noGrp="1"/>
          </p:cNvSpPr>
          <p:nvPr>
            <p:ph idx="1"/>
          </p:nvPr>
        </p:nvSpPr>
        <p:spPr/>
        <p:txBody>
          <a:bodyPr>
            <a:normAutofit/>
          </a:bodyPr>
          <a:lstStyle/>
          <a:p>
            <a:pPr algn="just" fontAlgn="base"/>
            <a:r>
              <a:rPr lang="en-US" sz="2400" dirty="0">
                <a:latin typeface="Times New Roman" panose="02020603050405020304" pitchFamily="18" charset="0"/>
                <a:cs typeface="Times New Roman" panose="02020603050405020304" pitchFamily="18" charset="0"/>
              </a:rPr>
              <a:t>Data modelling in analysis is the process of creating a </a:t>
            </a:r>
            <a:r>
              <a:rPr lang="en-US" sz="2400" b="1" dirty="0">
                <a:solidFill>
                  <a:srgbClr val="FF0000"/>
                </a:solidFill>
                <a:latin typeface="Times New Roman" panose="02020603050405020304" pitchFamily="18" charset="0"/>
                <a:cs typeface="Times New Roman" panose="02020603050405020304" pitchFamily="18" charset="0"/>
              </a:rPr>
              <a:t>visual representation </a:t>
            </a:r>
            <a:r>
              <a:rPr lang="en-US" sz="2400" dirty="0">
                <a:latin typeface="Times New Roman" panose="02020603050405020304" pitchFamily="18" charset="0"/>
                <a:cs typeface="Times New Roman" panose="02020603050405020304" pitchFamily="18" charset="0"/>
              </a:rPr>
              <a:t>, abstraction of data structures, relationships, and rules within a system or organization. Determining and </a:t>
            </a:r>
            <a:r>
              <a:rPr lang="en-US" sz="2400" dirty="0" err="1">
                <a:latin typeface="Times New Roman" panose="02020603050405020304" pitchFamily="18" charset="0"/>
                <a:cs typeface="Times New Roman" panose="02020603050405020304" pitchFamily="18" charset="0"/>
              </a:rPr>
              <a:t>analysing</a:t>
            </a:r>
            <a:r>
              <a:rPr lang="en-US" sz="2400" dirty="0">
                <a:latin typeface="Times New Roman" panose="02020603050405020304" pitchFamily="18" charset="0"/>
                <a:cs typeface="Times New Roman" panose="02020603050405020304" pitchFamily="18" charset="0"/>
              </a:rPr>
              <a:t> the data requirements required to support business activities within the bounds of related information systems in </a:t>
            </a:r>
            <a:r>
              <a:rPr lang="en-US" sz="2400" dirty="0" err="1">
                <a:latin typeface="Times New Roman" panose="02020603050405020304" pitchFamily="18" charset="0"/>
                <a:cs typeface="Times New Roman" panose="02020603050405020304" pitchFamily="18" charset="0"/>
              </a:rPr>
              <a:t>organisations</a:t>
            </a:r>
            <a:r>
              <a:rPr lang="en-US" sz="2400" dirty="0">
                <a:latin typeface="Times New Roman" panose="02020603050405020304" pitchFamily="18" charset="0"/>
                <a:cs typeface="Times New Roman" panose="02020603050405020304" pitchFamily="18" charset="0"/>
              </a:rPr>
              <a:t> is another process known as data modelling.</a:t>
            </a:r>
          </a:p>
          <a:p>
            <a:pPr algn="just" fontAlgn="base"/>
            <a:r>
              <a:rPr lang="en-US" sz="2400" dirty="0">
                <a:latin typeface="Times New Roman" panose="02020603050405020304" pitchFamily="18" charset="0"/>
                <a:cs typeface="Times New Roman" panose="02020603050405020304" pitchFamily="18" charset="0"/>
              </a:rPr>
              <a:t>The main objective of data modelling is to provide a precise and well-organized framework for data </a:t>
            </a:r>
            <a:r>
              <a:rPr lang="en-US" sz="2400" dirty="0" err="1">
                <a:latin typeface="Times New Roman" panose="02020603050405020304" pitchFamily="18" charset="0"/>
                <a:cs typeface="Times New Roman" panose="02020603050405020304" pitchFamily="18" charset="0"/>
              </a:rPr>
              <a:t>organisation</a:t>
            </a:r>
            <a:r>
              <a:rPr lang="en-US" sz="2400" dirty="0">
                <a:latin typeface="Times New Roman" panose="02020603050405020304" pitchFamily="18" charset="0"/>
                <a:cs typeface="Times New Roman" panose="02020603050405020304" pitchFamily="18" charset="0"/>
              </a:rPr>
              <a:t> and representation, since it enables efficient analysis and decision-making. Analysts can discover trends, understand the connections between various data items, and make sure that data is efficiently and accurately stored by building models</a:t>
            </a:r>
          </a:p>
          <a:p>
            <a:endParaRPr lang="en-IN" dirty="0"/>
          </a:p>
        </p:txBody>
      </p:sp>
    </p:spTree>
    <p:extLst>
      <p:ext uri="{BB962C8B-B14F-4D97-AF65-F5344CB8AC3E}">
        <p14:creationId xmlns:p14="http://schemas.microsoft.com/office/powerpoint/2010/main" val="2611246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F48F-ED19-ED3F-CC1A-C9539BD943B3}"/>
              </a:ext>
            </a:extLst>
          </p:cNvPr>
          <p:cNvSpPr>
            <a:spLocks noGrp="1"/>
          </p:cNvSpPr>
          <p:nvPr>
            <p:ph type="title"/>
          </p:nvPr>
        </p:nvSpPr>
        <p:spPr/>
        <p:txBody>
          <a:bodyPr/>
          <a:lstStyle/>
          <a:p>
            <a:r>
              <a:rPr lang="en-US" dirty="0"/>
              <a:t>Types</a:t>
            </a:r>
            <a:endParaRPr lang="en-IN" dirty="0"/>
          </a:p>
        </p:txBody>
      </p:sp>
      <p:pic>
        <p:nvPicPr>
          <p:cNvPr id="6" name="Picture 5">
            <a:extLst>
              <a:ext uri="{FF2B5EF4-FFF2-40B4-BE49-F238E27FC236}">
                <a16:creationId xmlns:a16="http://schemas.microsoft.com/office/drawing/2014/main" id="{0D7B2A24-4E05-E2BA-AEFF-0C786BF20A8B}"/>
              </a:ext>
            </a:extLst>
          </p:cNvPr>
          <p:cNvPicPr>
            <a:picLocks noChangeAspect="1"/>
          </p:cNvPicPr>
          <p:nvPr/>
        </p:nvPicPr>
        <p:blipFill>
          <a:blip r:embed="rId2"/>
          <a:stretch>
            <a:fillRect/>
          </a:stretch>
        </p:blipFill>
        <p:spPr>
          <a:xfrm>
            <a:off x="2030865" y="2340428"/>
            <a:ext cx="7629525" cy="3810000"/>
          </a:xfrm>
          <a:prstGeom prst="rect">
            <a:avLst/>
          </a:prstGeom>
        </p:spPr>
      </p:pic>
      <p:sp>
        <p:nvSpPr>
          <p:cNvPr id="7" name="TextBox 6">
            <a:extLst>
              <a:ext uri="{FF2B5EF4-FFF2-40B4-BE49-F238E27FC236}">
                <a16:creationId xmlns:a16="http://schemas.microsoft.com/office/drawing/2014/main" id="{F296227E-AF8B-5976-AAE2-96868D0EC844}"/>
              </a:ext>
            </a:extLst>
          </p:cNvPr>
          <p:cNvSpPr txBox="1"/>
          <p:nvPr/>
        </p:nvSpPr>
        <p:spPr>
          <a:xfrm>
            <a:off x="9660390" y="2373977"/>
            <a:ext cx="2031325" cy="923330"/>
          </a:xfrm>
          <a:prstGeom prst="rect">
            <a:avLst/>
          </a:prstGeom>
          <a:noFill/>
          <a:ln>
            <a:solidFill>
              <a:schemeClr val="accent1"/>
            </a:solidFill>
          </a:ln>
        </p:spPr>
        <p:txBody>
          <a:bodyPr wrap="none" rtlCol="0">
            <a:spAutoFit/>
          </a:bodyPr>
          <a:lstStyle/>
          <a:p>
            <a:r>
              <a:rPr lang="en-US" dirty="0"/>
              <a:t>High Level View	</a:t>
            </a:r>
          </a:p>
          <a:p>
            <a:r>
              <a:rPr lang="en-US" dirty="0"/>
              <a:t>What attribute </a:t>
            </a:r>
          </a:p>
          <a:p>
            <a:r>
              <a:rPr lang="en-US" dirty="0"/>
              <a:t>Business Rules</a:t>
            </a:r>
            <a:endParaRPr lang="en-IN" dirty="0"/>
          </a:p>
        </p:txBody>
      </p:sp>
      <p:sp>
        <p:nvSpPr>
          <p:cNvPr id="8" name="TextBox 7">
            <a:extLst>
              <a:ext uri="{FF2B5EF4-FFF2-40B4-BE49-F238E27FC236}">
                <a16:creationId xmlns:a16="http://schemas.microsoft.com/office/drawing/2014/main" id="{35DBD7DC-0E82-BB0A-95CA-965DE4FBB7C3}"/>
              </a:ext>
            </a:extLst>
          </p:cNvPr>
          <p:cNvSpPr txBox="1"/>
          <p:nvPr/>
        </p:nvSpPr>
        <p:spPr>
          <a:xfrm>
            <a:off x="9619910" y="3560694"/>
            <a:ext cx="2572090" cy="923330"/>
          </a:xfrm>
          <a:prstGeom prst="rect">
            <a:avLst/>
          </a:prstGeom>
          <a:solidFill>
            <a:schemeClr val="bg1"/>
          </a:solidFill>
          <a:ln>
            <a:solidFill>
              <a:schemeClr val="accent1"/>
            </a:solidFill>
          </a:ln>
        </p:spPr>
        <p:txBody>
          <a:bodyPr wrap="square" rtlCol="0">
            <a:spAutoFit/>
          </a:bodyPr>
          <a:lstStyle/>
          <a:p>
            <a:r>
              <a:rPr lang="en-US" dirty="0"/>
              <a:t>More Details on concept </a:t>
            </a:r>
          </a:p>
          <a:p>
            <a:r>
              <a:rPr lang="en-US" dirty="0"/>
              <a:t>Data Types</a:t>
            </a:r>
          </a:p>
          <a:p>
            <a:r>
              <a:rPr lang="en-US" dirty="0"/>
              <a:t>Primary Attributes</a:t>
            </a:r>
            <a:endParaRPr lang="en-IN" dirty="0"/>
          </a:p>
        </p:txBody>
      </p:sp>
      <p:sp>
        <p:nvSpPr>
          <p:cNvPr id="9" name="TextBox 8">
            <a:extLst>
              <a:ext uri="{FF2B5EF4-FFF2-40B4-BE49-F238E27FC236}">
                <a16:creationId xmlns:a16="http://schemas.microsoft.com/office/drawing/2014/main" id="{13F635F7-1179-D971-C7EE-C3D052C93378}"/>
              </a:ext>
            </a:extLst>
          </p:cNvPr>
          <p:cNvSpPr txBox="1"/>
          <p:nvPr/>
        </p:nvSpPr>
        <p:spPr>
          <a:xfrm>
            <a:off x="9619910" y="4672099"/>
            <a:ext cx="2492829" cy="1200329"/>
          </a:xfrm>
          <a:prstGeom prst="rect">
            <a:avLst/>
          </a:prstGeom>
          <a:solidFill>
            <a:schemeClr val="bg1"/>
          </a:solidFill>
          <a:ln>
            <a:solidFill>
              <a:schemeClr val="accent1"/>
            </a:solidFill>
          </a:ln>
        </p:spPr>
        <p:txBody>
          <a:bodyPr wrap="square" rtlCol="0">
            <a:spAutoFit/>
          </a:bodyPr>
          <a:lstStyle/>
          <a:p>
            <a:r>
              <a:rPr lang="en-US" dirty="0"/>
              <a:t>High Level Details </a:t>
            </a:r>
          </a:p>
          <a:p>
            <a:r>
              <a:rPr lang="en-US" dirty="0"/>
              <a:t>Data Types &amp; Relations</a:t>
            </a:r>
          </a:p>
          <a:p>
            <a:r>
              <a:rPr lang="en-US" dirty="0"/>
              <a:t>Constraints</a:t>
            </a:r>
          </a:p>
          <a:p>
            <a:r>
              <a:rPr lang="en-US" dirty="0"/>
              <a:t>Actual implementation</a:t>
            </a:r>
            <a:endParaRPr lang="en-IN" dirty="0"/>
          </a:p>
        </p:txBody>
      </p:sp>
      <p:cxnSp>
        <p:nvCxnSpPr>
          <p:cNvPr id="11" name="Straight Arrow Connector 10">
            <a:extLst>
              <a:ext uri="{FF2B5EF4-FFF2-40B4-BE49-F238E27FC236}">
                <a16:creationId xmlns:a16="http://schemas.microsoft.com/office/drawing/2014/main" id="{26603D49-11B9-1C1B-284E-9B536ADE1B3A}"/>
              </a:ext>
            </a:extLst>
          </p:cNvPr>
          <p:cNvCxnSpPr/>
          <p:nvPr/>
        </p:nvCxnSpPr>
        <p:spPr>
          <a:xfrm>
            <a:off x="7587343" y="2835642"/>
            <a:ext cx="199208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D7BA320D-A616-AF38-E362-D9B772B29E06}"/>
              </a:ext>
            </a:extLst>
          </p:cNvPr>
          <p:cNvCxnSpPr/>
          <p:nvPr/>
        </p:nvCxnSpPr>
        <p:spPr>
          <a:xfrm>
            <a:off x="7587343" y="4022359"/>
            <a:ext cx="199208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53448DA4-7652-7F71-5132-F4D09435B5BB}"/>
              </a:ext>
            </a:extLst>
          </p:cNvPr>
          <p:cNvCxnSpPr/>
          <p:nvPr/>
        </p:nvCxnSpPr>
        <p:spPr>
          <a:xfrm>
            <a:off x="7587343" y="5187130"/>
            <a:ext cx="199208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986163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D00BF-7150-9DD8-F128-B1829CC06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EA9F6-76D7-9727-E2A9-82197CA06BA7}"/>
              </a:ext>
            </a:extLst>
          </p:cNvPr>
          <p:cNvSpPr>
            <a:spLocks noGrp="1"/>
          </p:cNvSpPr>
          <p:nvPr>
            <p:ph type="title"/>
          </p:nvPr>
        </p:nvSpPr>
        <p:spPr/>
        <p:txBody>
          <a:bodyPr/>
          <a:lstStyle/>
          <a:p>
            <a:r>
              <a:rPr lang="en-IN" dirty="0"/>
              <a:t>Normalization</a:t>
            </a:r>
          </a:p>
        </p:txBody>
      </p:sp>
      <p:sp>
        <p:nvSpPr>
          <p:cNvPr id="3" name="Content Placeholder 2">
            <a:extLst>
              <a:ext uri="{FF2B5EF4-FFF2-40B4-BE49-F238E27FC236}">
                <a16:creationId xmlns:a16="http://schemas.microsoft.com/office/drawing/2014/main" id="{B1F9CCFE-2FDE-1A10-2A00-35D93CA630C0}"/>
              </a:ext>
            </a:extLst>
          </p:cNvPr>
          <p:cNvSpPr>
            <a:spLocks noGrp="1"/>
          </p:cNvSpPr>
          <p:nvPr>
            <p:ph idx="1"/>
          </p:nvPr>
        </p:nvSpPr>
        <p:spPr/>
        <p:txBody>
          <a:bodyPr/>
          <a:lstStyle/>
          <a:p>
            <a:r>
              <a:rPr lang="en-US" dirty="0"/>
              <a:t>It reduces the redundancy of data in a table also removes inconsistency problem and unwanted risk.</a:t>
            </a:r>
          </a:p>
          <a:p>
            <a:r>
              <a:rPr lang="en-US" dirty="0"/>
              <a:t>It is a technique to Remove or reduce redundancy from a table.</a:t>
            </a:r>
            <a:endParaRPr lang="en-IN" dirty="0"/>
          </a:p>
        </p:txBody>
      </p:sp>
    </p:spTree>
    <p:extLst>
      <p:ext uri="{BB962C8B-B14F-4D97-AF65-F5344CB8AC3E}">
        <p14:creationId xmlns:p14="http://schemas.microsoft.com/office/powerpoint/2010/main" val="796381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38C1C-E596-7885-FBC3-1E7508DC36CD}"/>
              </a:ext>
            </a:extLst>
          </p:cNvPr>
          <p:cNvSpPr>
            <a:spLocks noGrp="1"/>
          </p:cNvSpPr>
          <p:nvPr>
            <p:ph type="title"/>
          </p:nvPr>
        </p:nvSpPr>
        <p:spPr/>
        <p:txBody>
          <a:bodyPr/>
          <a:lstStyle/>
          <a:p>
            <a:r>
              <a:rPr lang="en-US" dirty="0"/>
              <a:t>Row and Column Level Duplication are their</a:t>
            </a:r>
          </a:p>
        </p:txBody>
      </p:sp>
      <p:sp>
        <p:nvSpPr>
          <p:cNvPr id="3" name="Content Placeholder 2">
            <a:extLst>
              <a:ext uri="{FF2B5EF4-FFF2-40B4-BE49-F238E27FC236}">
                <a16:creationId xmlns:a16="http://schemas.microsoft.com/office/drawing/2014/main" id="{F51E1535-D1A8-C39D-48DD-26B57AA6D610}"/>
              </a:ext>
            </a:extLst>
          </p:cNvPr>
          <p:cNvSpPr>
            <a:spLocks noGrp="1"/>
          </p:cNvSpPr>
          <p:nvPr>
            <p:ph idx="1"/>
          </p:nvPr>
        </p:nvSpPr>
        <p:spPr>
          <a:xfrm>
            <a:off x="598714" y="2064462"/>
            <a:ext cx="10515600" cy="4351338"/>
          </a:xfrm>
        </p:spPr>
        <p:txBody>
          <a:bodyPr/>
          <a:lstStyle/>
          <a:p>
            <a:endParaRPr lang="en-US" dirty="0"/>
          </a:p>
          <a:p>
            <a:endParaRPr lang="en-IN" dirty="0"/>
          </a:p>
        </p:txBody>
      </p:sp>
      <p:graphicFrame>
        <p:nvGraphicFramePr>
          <p:cNvPr id="4" name="Table 3">
            <a:extLst>
              <a:ext uri="{FF2B5EF4-FFF2-40B4-BE49-F238E27FC236}">
                <a16:creationId xmlns:a16="http://schemas.microsoft.com/office/drawing/2014/main" id="{6BCB6728-666F-34F9-80E2-776C1AD6F819}"/>
              </a:ext>
            </a:extLst>
          </p:cNvPr>
          <p:cNvGraphicFramePr>
            <a:graphicFrameLocks noGrp="1"/>
          </p:cNvGraphicFramePr>
          <p:nvPr>
            <p:extLst>
              <p:ext uri="{D42A27DB-BD31-4B8C-83A1-F6EECF244321}">
                <p14:modId xmlns:p14="http://schemas.microsoft.com/office/powerpoint/2010/main" val="1918421929"/>
              </p:ext>
            </p:extLst>
          </p:nvPr>
        </p:nvGraphicFramePr>
        <p:xfrm>
          <a:off x="240687" y="2685433"/>
          <a:ext cx="3374571" cy="1523515"/>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gridCol w="1360714">
                  <a:extLst>
                    <a:ext uri="{9D8B030D-6E8A-4147-A177-3AD203B41FA5}">
                      <a16:colId xmlns:a16="http://schemas.microsoft.com/office/drawing/2014/main" val="20002"/>
                    </a:ext>
                  </a:extLst>
                </a:gridCol>
              </a:tblGrid>
              <a:tr h="370840">
                <a:tc>
                  <a:txBody>
                    <a:bodyPr/>
                    <a:lstStyle/>
                    <a:p>
                      <a:r>
                        <a:rPr lang="en-US" dirty="0"/>
                        <a:t>Roll</a:t>
                      </a:r>
                      <a:r>
                        <a:rPr lang="en-US" baseline="0" dirty="0"/>
                        <a:t> No.</a:t>
                      </a:r>
                      <a:endParaRPr lang="en-IN" dirty="0"/>
                    </a:p>
                  </a:txBody>
                  <a:tcPr/>
                </a:tc>
                <a:tc>
                  <a:txBody>
                    <a:bodyPr/>
                    <a:lstStyle/>
                    <a:p>
                      <a:r>
                        <a:rPr lang="en-US" dirty="0" err="1"/>
                        <a:t>Sname</a:t>
                      </a:r>
                      <a:endParaRPr lang="en-IN" dirty="0"/>
                    </a:p>
                  </a:txBody>
                  <a:tcPr/>
                </a:tc>
                <a:tc>
                  <a:txBody>
                    <a:bodyPr/>
                    <a:lstStyle/>
                    <a:p>
                      <a:r>
                        <a:rPr lang="en-US" dirty="0"/>
                        <a:t>Age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tc>
                  <a:txBody>
                    <a:bodyPr/>
                    <a:lstStyle/>
                    <a:p>
                      <a:r>
                        <a:rPr lang="en-US" dirty="0"/>
                        <a:t>29</a:t>
                      </a:r>
                      <a:endParaRPr lang="en-IN" dirty="0"/>
                    </a:p>
                  </a:txBody>
                  <a:tcPr/>
                </a:tc>
                <a:extLst>
                  <a:ext uri="{0D108BD9-81ED-4DB2-BD59-A6C34878D82A}">
                    <a16:rowId xmlns:a16="http://schemas.microsoft.com/office/drawing/2014/main" val="10001"/>
                  </a:ext>
                </a:extLst>
              </a:tr>
              <a:tr h="410995">
                <a:tc>
                  <a:txBody>
                    <a:bodyPr/>
                    <a:lstStyle/>
                    <a:p>
                      <a:r>
                        <a:rPr lang="en-US" dirty="0"/>
                        <a:t>2</a:t>
                      </a:r>
                      <a:endParaRPr lang="en-IN" dirty="0"/>
                    </a:p>
                  </a:txBody>
                  <a:tcPr/>
                </a:tc>
                <a:tc>
                  <a:txBody>
                    <a:bodyPr/>
                    <a:lstStyle/>
                    <a:p>
                      <a:r>
                        <a:rPr lang="en-US" dirty="0"/>
                        <a:t>Raj</a:t>
                      </a:r>
                      <a:endParaRPr lang="en-IN" dirty="0"/>
                    </a:p>
                  </a:txBody>
                  <a:tcPr/>
                </a:tc>
                <a:tc>
                  <a:txBody>
                    <a:bodyPr/>
                    <a:lstStyle/>
                    <a:p>
                      <a:r>
                        <a:rPr lang="en-US" dirty="0"/>
                        <a:t>25</a:t>
                      </a:r>
                      <a:endParaRPr lang="en-IN" dirty="0"/>
                    </a:p>
                  </a:txBody>
                  <a:tcPr/>
                </a:tc>
                <a:extLst>
                  <a:ext uri="{0D108BD9-81ED-4DB2-BD59-A6C34878D82A}">
                    <a16:rowId xmlns:a16="http://schemas.microsoft.com/office/drawing/2014/main" val="10002"/>
                  </a:ext>
                </a:extLst>
              </a:tr>
              <a:tr h="370840">
                <a:tc>
                  <a:txBody>
                    <a:bodyPr/>
                    <a:lstStyle/>
                    <a:p>
                      <a:r>
                        <a:rPr lang="en-US" dirty="0"/>
                        <a:t>1</a:t>
                      </a:r>
                      <a:endParaRPr lang="en-IN" dirty="0"/>
                    </a:p>
                  </a:txBody>
                  <a:tcPr/>
                </a:tc>
                <a:tc>
                  <a:txBody>
                    <a:bodyPr/>
                    <a:lstStyle/>
                    <a:p>
                      <a:r>
                        <a:rPr lang="en-US" dirty="0"/>
                        <a:t>Ajay</a:t>
                      </a:r>
                      <a:endParaRPr lang="en-IN" dirty="0"/>
                    </a:p>
                  </a:txBody>
                  <a:tcPr/>
                </a:tc>
                <a:tc>
                  <a:txBody>
                    <a:bodyPr/>
                    <a:lstStyle/>
                    <a:p>
                      <a:r>
                        <a:rPr lang="en-US" dirty="0"/>
                        <a:t>29</a:t>
                      </a:r>
                      <a:endParaRPr lang="en-IN" dirty="0"/>
                    </a:p>
                  </a:txBody>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3847CA04-EA22-377F-AF5D-A981658E4C1A}"/>
              </a:ext>
            </a:extLst>
          </p:cNvPr>
          <p:cNvSpPr txBox="1"/>
          <p:nvPr/>
        </p:nvSpPr>
        <p:spPr>
          <a:xfrm>
            <a:off x="240687" y="2181164"/>
            <a:ext cx="1303883" cy="369332"/>
          </a:xfrm>
          <a:prstGeom prst="rect">
            <a:avLst/>
          </a:prstGeom>
          <a:noFill/>
        </p:spPr>
        <p:txBody>
          <a:bodyPr wrap="none" rtlCol="0">
            <a:spAutoFit/>
          </a:bodyPr>
          <a:lstStyle/>
          <a:p>
            <a:r>
              <a:rPr lang="en-US" dirty="0"/>
              <a:t>Primary Key</a:t>
            </a:r>
          </a:p>
        </p:txBody>
      </p:sp>
      <p:graphicFrame>
        <p:nvGraphicFramePr>
          <p:cNvPr id="6" name="Table 5">
            <a:extLst>
              <a:ext uri="{FF2B5EF4-FFF2-40B4-BE49-F238E27FC236}">
                <a16:creationId xmlns:a16="http://schemas.microsoft.com/office/drawing/2014/main" id="{90DF096F-13B0-5C95-B1D3-9173BAB6642D}"/>
              </a:ext>
            </a:extLst>
          </p:cNvPr>
          <p:cNvGraphicFramePr>
            <a:graphicFrameLocks noGrp="1"/>
          </p:cNvGraphicFramePr>
          <p:nvPr>
            <p:extLst>
              <p:ext uri="{D42A27DB-BD31-4B8C-83A1-F6EECF244321}">
                <p14:modId xmlns:p14="http://schemas.microsoft.com/office/powerpoint/2010/main" val="1003612531"/>
              </p:ext>
            </p:extLst>
          </p:nvPr>
        </p:nvGraphicFramePr>
        <p:xfrm>
          <a:off x="3932170" y="2684585"/>
          <a:ext cx="8128001" cy="2494280"/>
        </p:xfrm>
        <a:graphic>
          <a:graphicData uri="http://schemas.openxmlformats.org/drawingml/2006/table">
            <a:tbl>
              <a:tblPr firstRow="1" bandRow="1">
                <a:tableStyleId>{5C22544A-7EE6-4342-B048-85BDC9FD1C3A}</a:tableStyleId>
              </a:tblPr>
              <a:tblGrid>
                <a:gridCol w="705145">
                  <a:extLst>
                    <a:ext uri="{9D8B030D-6E8A-4147-A177-3AD203B41FA5}">
                      <a16:colId xmlns:a16="http://schemas.microsoft.com/office/drawing/2014/main" val="1172510726"/>
                    </a:ext>
                  </a:extLst>
                </a:gridCol>
                <a:gridCol w="1023257">
                  <a:extLst>
                    <a:ext uri="{9D8B030D-6E8A-4147-A177-3AD203B41FA5}">
                      <a16:colId xmlns:a16="http://schemas.microsoft.com/office/drawing/2014/main" val="3578891641"/>
                    </a:ext>
                  </a:extLst>
                </a:gridCol>
                <a:gridCol w="892628">
                  <a:extLst>
                    <a:ext uri="{9D8B030D-6E8A-4147-A177-3AD203B41FA5}">
                      <a16:colId xmlns:a16="http://schemas.microsoft.com/office/drawing/2014/main" val="960412758"/>
                    </a:ext>
                  </a:extLst>
                </a:gridCol>
                <a:gridCol w="2023542">
                  <a:extLst>
                    <a:ext uri="{9D8B030D-6E8A-4147-A177-3AD203B41FA5}">
                      <a16:colId xmlns:a16="http://schemas.microsoft.com/office/drawing/2014/main" val="2586752935"/>
                    </a:ext>
                  </a:extLst>
                </a:gridCol>
                <a:gridCol w="1161143">
                  <a:extLst>
                    <a:ext uri="{9D8B030D-6E8A-4147-A177-3AD203B41FA5}">
                      <a16:colId xmlns:a16="http://schemas.microsoft.com/office/drawing/2014/main" val="3428237172"/>
                    </a:ext>
                  </a:extLst>
                </a:gridCol>
                <a:gridCol w="1161143">
                  <a:extLst>
                    <a:ext uri="{9D8B030D-6E8A-4147-A177-3AD203B41FA5}">
                      <a16:colId xmlns:a16="http://schemas.microsoft.com/office/drawing/2014/main" val="2425489052"/>
                    </a:ext>
                  </a:extLst>
                </a:gridCol>
                <a:gridCol w="1161143">
                  <a:extLst>
                    <a:ext uri="{9D8B030D-6E8A-4147-A177-3AD203B41FA5}">
                      <a16:colId xmlns:a16="http://schemas.microsoft.com/office/drawing/2014/main" val="3847835561"/>
                    </a:ext>
                  </a:extLst>
                </a:gridCol>
              </a:tblGrid>
              <a:tr h="370840">
                <a:tc>
                  <a:txBody>
                    <a:bodyPr/>
                    <a:lstStyle/>
                    <a:p>
                      <a:r>
                        <a:rPr lang="en-US" dirty="0"/>
                        <a:t>SID</a:t>
                      </a:r>
                      <a:endParaRPr lang="en-IN" dirty="0"/>
                    </a:p>
                  </a:txBody>
                  <a:tcPr/>
                </a:tc>
                <a:tc>
                  <a:txBody>
                    <a:bodyPr/>
                    <a:lstStyle/>
                    <a:p>
                      <a:r>
                        <a:rPr lang="en-US" dirty="0" err="1"/>
                        <a:t>Sname</a:t>
                      </a:r>
                      <a:endParaRPr lang="en-IN" dirty="0"/>
                    </a:p>
                  </a:txBody>
                  <a:tcPr/>
                </a:tc>
                <a:tc>
                  <a:txBody>
                    <a:bodyPr/>
                    <a:lstStyle/>
                    <a:p>
                      <a:r>
                        <a:rPr lang="en-US" dirty="0"/>
                        <a:t>CID</a:t>
                      </a:r>
                      <a:endParaRPr lang="en-IN" dirty="0"/>
                    </a:p>
                  </a:txBody>
                  <a:tcPr/>
                </a:tc>
                <a:tc>
                  <a:txBody>
                    <a:bodyPr/>
                    <a:lstStyle/>
                    <a:p>
                      <a:r>
                        <a:rPr lang="en-US" dirty="0"/>
                        <a:t>CNAME</a:t>
                      </a:r>
                      <a:endParaRPr lang="en-IN" dirty="0"/>
                    </a:p>
                  </a:txBody>
                  <a:tcPr/>
                </a:tc>
                <a:tc>
                  <a:txBody>
                    <a:bodyPr/>
                    <a:lstStyle/>
                    <a:p>
                      <a:r>
                        <a:rPr lang="en-US" dirty="0"/>
                        <a:t>FID</a:t>
                      </a:r>
                      <a:endParaRPr lang="en-IN" dirty="0"/>
                    </a:p>
                  </a:txBody>
                  <a:tcPr/>
                </a:tc>
                <a:tc>
                  <a:txBody>
                    <a:bodyPr/>
                    <a:lstStyle/>
                    <a:p>
                      <a:r>
                        <a:rPr lang="en-US" dirty="0"/>
                        <a:t>Faculty NAME</a:t>
                      </a:r>
                      <a:endParaRPr lang="en-IN" dirty="0"/>
                    </a:p>
                  </a:txBody>
                  <a:tcPr/>
                </a:tc>
                <a:tc>
                  <a:txBody>
                    <a:bodyPr/>
                    <a:lstStyle/>
                    <a:p>
                      <a:r>
                        <a:rPr lang="en-US" dirty="0"/>
                        <a:t>Salary</a:t>
                      </a:r>
                      <a:endParaRPr lang="en-IN" dirty="0"/>
                    </a:p>
                  </a:txBody>
                  <a:tcPr/>
                </a:tc>
                <a:extLst>
                  <a:ext uri="{0D108BD9-81ED-4DB2-BD59-A6C34878D82A}">
                    <a16:rowId xmlns:a16="http://schemas.microsoft.com/office/drawing/2014/main" val="1212352769"/>
                  </a:ext>
                </a:extLst>
              </a:tr>
              <a:tr h="370840">
                <a:tc>
                  <a:txBody>
                    <a:bodyPr/>
                    <a:lstStyle/>
                    <a:p>
                      <a:r>
                        <a:rPr lang="en-US" dirty="0"/>
                        <a:t>1</a:t>
                      </a:r>
                      <a:endParaRPr lang="en-IN" dirty="0"/>
                    </a:p>
                  </a:txBody>
                  <a:tcPr/>
                </a:tc>
                <a:tc>
                  <a:txBody>
                    <a:bodyPr/>
                    <a:lstStyle/>
                    <a:p>
                      <a:r>
                        <a:rPr lang="en-US" dirty="0"/>
                        <a:t>Ram</a:t>
                      </a:r>
                      <a:endParaRPr lang="en-IN" dirty="0"/>
                    </a:p>
                  </a:txBody>
                  <a:tcPr/>
                </a:tc>
                <a:tc>
                  <a:txBody>
                    <a:bodyPr/>
                    <a:lstStyle/>
                    <a:p>
                      <a:r>
                        <a:rPr lang="en-US" dirty="0"/>
                        <a:t>C1</a:t>
                      </a:r>
                      <a:endParaRPr lang="en-IN" dirty="0"/>
                    </a:p>
                  </a:txBody>
                  <a:tcPr/>
                </a:tc>
                <a:tc>
                  <a:txBody>
                    <a:bodyPr/>
                    <a:lstStyle/>
                    <a:p>
                      <a:r>
                        <a:rPr lang="en-US" dirty="0"/>
                        <a:t>DBMS</a:t>
                      </a:r>
                      <a:endParaRPr lang="en-IN" dirty="0"/>
                    </a:p>
                  </a:txBody>
                  <a:tcPr/>
                </a:tc>
                <a:tc>
                  <a:txBody>
                    <a:bodyPr/>
                    <a:lstStyle/>
                    <a:p>
                      <a:r>
                        <a:rPr lang="en-US" dirty="0"/>
                        <a:t>F1</a:t>
                      </a:r>
                      <a:endParaRPr lang="en-IN" dirty="0"/>
                    </a:p>
                  </a:txBody>
                  <a:tcPr/>
                </a:tc>
                <a:tc>
                  <a:txBody>
                    <a:bodyPr/>
                    <a:lstStyle/>
                    <a:p>
                      <a:r>
                        <a:rPr lang="en-US" dirty="0"/>
                        <a:t>Raj</a:t>
                      </a:r>
                      <a:endParaRPr lang="en-IN" dirty="0"/>
                    </a:p>
                  </a:txBody>
                  <a:tcPr/>
                </a:tc>
                <a:tc>
                  <a:txBody>
                    <a:bodyPr/>
                    <a:lstStyle/>
                    <a:p>
                      <a:r>
                        <a:rPr lang="en-US" dirty="0"/>
                        <a:t>90000</a:t>
                      </a:r>
                      <a:endParaRPr lang="en-IN" dirty="0"/>
                    </a:p>
                  </a:txBody>
                  <a:tcPr/>
                </a:tc>
                <a:extLst>
                  <a:ext uri="{0D108BD9-81ED-4DB2-BD59-A6C34878D82A}">
                    <a16:rowId xmlns:a16="http://schemas.microsoft.com/office/drawing/2014/main" val="3915011693"/>
                  </a:ext>
                </a:extLst>
              </a:tr>
              <a:tr h="370840">
                <a:tc>
                  <a:txBody>
                    <a:bodyPr/>
                    <a:lstStyle/>
                    <a:p>
                      <a:r>
                        <a:rPr lang="en-US" dirty="0"/>
                        <a:t>2</a:t>
                      </a:r>
                      <a:endParaRPr lang="en-IN" dirty="0"/>
                    </a:p>
                  </a:txBody>
                  <a:tcPr/>
                </a:tc>
                <a:tc>
                  <a:txBody>
                    <a:bodyPr/>
                    <a:lstStyle/>
                    <a:p>
                      <a:r>
                        <a:rPr lang="en-US" dirty="0"/>
                        <a:t>Ravi</a:t>
                      </a:r>
                      <a:endParaRPr lang="en-IN" dirty="0"/>
                    </a:p>
                  </a:txBody>
                  <a:tcPr/>
                </a:tc>
                <a:tc>
                  <a:txBody>
                    <a:bodyPr/>
                    <a:lstStyle/>
                    <a:p>
                      <a:r>
                        <a:rPr lang="en-US" dirty="0"/>
                        <a:t>C2</a:t>
                      </a:r>
                      <a:endParaRPr lang="en-IN" dirty="0"/>
                    </a:p>
                  </a:txBody>
                  <a:tcPr/>
                </a:tc>
                <a:tc>
                  <a:txBody>
                    <a:bodyPr/>
                    <a:lstStyle/>
                    <a:p>
                      <a:r>
                        <a:rPr lang="en-US" dirty="0"/>
                        <a:t>JAVA</a:t>
                      </a:r>
                      <a:endParaRPr lang="en-IN" dirty="0"/>
                    </a:p>
                  </a:txBody>
                  <a:tcPr/>
                </a:tc>
                <a:tc>
                  <a:txBody>
                    <a:bodyPr/>
                    <a:lstStyle/>
                    <a:p>
                      <a:r>
                        <a:rPr lang="en-US" dirty="0"/>
                        <a:t>F2</a:t>
                      </a:r>
                      <a:endParaRPr lang="en-IN" dirty="0"/>
                    </a:p>
                  </a:txBody>
                  <a:tcPr/>
                </a:tc>
                <a:tc>
                  <a:txBody>
                    <a:bodyPr/>
                    <a:lstStyle/>
                    <a:p>
                      <a:r>
                        <a:rPr lang="en-US" dirty="0"/>
                        <a:t>Abhi</a:t>
                      </a:r>
                      <a:endParaRPr lang="en-IN" dirty="0"/>
                    </a:p>
                  </a:txBody>
                  <a:tcPr/>
                </a:tc>
                <a:tc>
                  <a:txBody>
                    <a:bodyPr/>
                    <a:lstStyle/>
                    <a:p>
                      <a:r>
                        <a:rPr lang="en-US" dirty="0"/>
                        <a:t>80000</a:t>
                      </a:r>
                      <a:endParaRPr lang="en-IN" dirty="0"/>
                    </a:p>
                  </a:txBody>
                  <a:tcPr/>
                </a:tc>
                <a:extLst>
                  <a:ext uri="{0D108BD9-81ED-4DB2-BD59-A6C34878D82A}">
                    <a16:rowId xmlns:a16="http://schemas.microsoft.com/office/drawing/2014/main" val="4092561216"/>
                  </a:ext>
                </a:extLst>
              </a:tr>
              <a:tr h="370840">
                <a:tc>
                  <a:txBody>
                    <a:bodyPr/>
                    <a:lstStyle/>
                    <a:p>
                      <a:r>
                        <a:rPr lang="en-US" dirty="0"/>
                        <a:t>3</a:t>
                      </a:r>
                      <a:endParaRPr lang="en-IN" dirty="0"/>
                    </a:p>
                  </a:txBody>
                  <a:tcPr/>
                </a:tc>
                <a:tc>
                  <a:txBody>
                    <a:bodyPr/>
                    <a:lstStyle/>
                    <a:p>
                      <a:r>
                        <a:rPr lang="en-US" dirty="0"/>
                        <a:t>Nitin</a:t>
                      </a:r>
                      <a:endParaRPr lang="en-IN" dirty="0"/>
                    </a:p>
                  </a:txBody>
                  <a:tcPr/>
                </a:tc>
                <a:tc>
                  <a:txBody>
                    <a:bodyPr/>
                    <a:lstStyle/>
                    <a:p>
                      <a:r>
                        <a:rPr lang="en-US" dirty="0"/>
                        <a:t>C1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DBMS</a:t>
                      </a:r>
                      <a:endParaRPr lang="en-IN" dirty="0"/>
                    </a:p>
                  </a:txBody>
                  <a:tcPr/>
                </a:tc>
                <a:tc>
                  <a:txBody>
                    <a:bodyPr/>
                    <a:lstStyle/>
                    <a:p>
                      <a:r>
                        <a:rPr lang="en-US" dirty="0"/>
                        <a:t>F1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Raj</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90000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71434944"/>
                  </a:ext>
                </a:extLst>
              </a:tr>
              <a:tr h="370840">
                <a:tc>
                  <a:txBody>
                    <a:bodyPr/>
                    <a:lstStyle/>
                    <a:p>
                      <a:r>
                        <a:rPr lang="en-US" dirty="0"/>
                        <a:t>4</a:t>
                      </a:r>
                      <a:endParaRPr lang="en-IN" dirty="0"/>
                    </a:p>
                  </a:txBody>
                  <a:tcPr/>
                </a:tc>
                <a:tc>
                  <a:txBody>
                    <a:bodyPr/>
                    <a:lstStyle/>
                    <a:p>
                      <a:r>
                        <a:rPr lang="en-US" dirty="0"/>
                        <a:t>Ajay</a:t>
                      </a:r>
                      <a:endParaRPr lang="en-IN" dirty="0"/>
                    </a:p>
                  </a:txBody>
                  <a:tcPr/>
                </a:tc>
                <a:tc>
                  <a:txBody>
                    <a:bodyPr/>
                    <a:lstStyle/>
                    <a:p>
                      <a:r>
                        <a:rPr lang="en-US" dirty="0"/>
                        <a:t>C1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DBMS</a:t>
                      </a:r>
                      <a:endParaRPr lang="en-IN" dirty="0"/>
                    </a:p>
                  </a:txBody>
                  <a:tcPr/>
                </a:tc>
                <a:tc>
                  <a:txBody>
                    <a:bodyPr/>
                    <a:lstStyle/>
                    <a:p>
                      <a:r>
                        <a:rPr lang="en-US" dirty="0"/>
                        <a:t>F1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Raj</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90000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75489141"/>
                  </a:ext>
                </a:extLst>
              </a:tr>
              <a:tr h="370840">
                <a:tc>
                  <a:txBody>
                    <a:bodyPr/>
                    <a:lstStyle/>
                    <a:p>
                      <a:r>
                        <a:rPr lang="en-US" dirty="0"/>
                        <a:t>5</a:t>
                      </a:r>
                      <a:endParaRPr lang="en-IN" dirty="0"/>
                    </a:p>
                  </a:txBody>
                  <a:tcPr/>
                </a:tc>
                <a:tc>
                  <a:txBody>
                    <a:bodyPr/>
                    <a:lstStyle/>
                    <a:p>
                      <a:r>
                        <a:rPr lang="en-US" dirty="0"/>
                        <a:t>Vijay</a:t>
                      </a:r>
                      <a:endParaRPr lang="en-IN" dirty="0"/>
                    </a:p>
                  </a:txBody>
                  <a:tcPr/>
                </a:tc>
                <a:tc>
                  <a:txBody>
                    <a:bodyPr/>
                    <a:lstStyle/>
                    <a:p>
                      <a:r>
                        <a:rPr lang="en-US" dirty="0"/>
                        <a:t>C10</a:t>
                      </a:r>
                      <a:endParaRPr lang="en-IN" dirty="0"/>
                    </a:p>
                  </a:txBody>
                  <a:tcPr/>
                </a:tc>
                <a:tc>
                  <a:txBody>
                    <a:bodyPr/>
                    <a:lstStyle/>
                    <a:p>
                      <a:r>
                        <a:rPr lang="en-US" dirty="0"/>
                        <a:t>MBBS</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68873560"/>
                  </a:ext>
                </a:extLst>
              </a:tr>
            </a:tbl>
          </a:graphicData>
        </a:graphic>
      </p:graphicFrame>
      <p:sp>
        <p:nvSpPr>
          <p:cNvPr id="8" name="TextBox 7">
            <a:extLst>
              <a:ext uri="{FF2B5EF4-FFF2-40B4-BE49-F238E27FC236}">
                <a16:creationId xmlns:a16="http://schemas.microsoft.com/office/drawing/2014/main" id="{5178A2FC-1183-62DB-799F-4CCB9052758E}"/>
              </a:ext>
            </a:extLst>
          </p:cNvPr>
          <p:cNvSpPr txBox="1"/>
          <p:nvPr/>
        </p:nvSpPr>
        <p:spPr>
          <a:xfrm>
            <a:off x="3932170" y="5612666"/>
            <a:ext cx="6096000" cy="369332"/>
          </a:xfrm>
          <a:prstGeom prst="rect">
            <a:avLst/>
          </a:prstGeom>
          <a:noFill/>
        </p:spPr>
        <p:txBody>
          <a:bodyPr wrap="square">
            <a:spAutoFit/>
          </a:bodyPr>
          <a:lstStyle/>
          <a:p>
            <a:pPr algn="l">
              <a:buNone/>
            </a:pPr>
            <a:r>
              <a:rPr lang="en-IN" b="1" i="0" dirty="0">
                <a:solidFill>
                  <a:srgbClr val="0F0F0F"/>
                </a:solidFill>
                <a:effectLst/>
                <a:latin typeface="Roboto" panose="02000000000000000000" pitchFamily="2" charset="0"/>
              </a:rPr>
              <a:t> Insertion, Deletion &amp; </a:t>
            </a:r>
            <a:r>
              <a:rPr lang="en-IN" b="1" i="0" dirty="0" err="1">
                <a:solidFill>
                  <a:srgbClr val="0F0F0F"/>
                </a:solidFill>
                <a:effectLst/>
                <a:latin typeface="Roboto" panose="02000000000000000000" pitchFamily="2" charset="0"/>
              </a:rPr>
              <a:t>Updation</a:t>
            </a:r>
            <a:r>
              <a:rPr lang="en-IN" b="1" i="0" dirty="0">
                <a:solidFill>
                  <a:srgbClr val="0F0F0F"/>
                </a:solidFill>
                <a:effectLst/>
                <a:latin typeface="Roboto" panose="02000000000000000000" pitchFamily="2" charset="0"/>
              </a:rPr>
              <a:t> Anomaly</a:t>
            </a:r>
          </a:p>
        </p:txBody>
      </p:sp>
    </p:spTree>
    <p:extLst>
      <p:ext uri="{BB962C8B-B14F-4D97-AF65-F5344CB8AC3E}">
        <p14:creationId xmlns:p14="http://schemas.microsoft.com/office/powerpoint/2010/main" val="4156209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Normalization</a:t>
            </a:r>
          </a:p>
        </p:txBody>
      </p:sp>
      <p:sp>
        <p:nvSpPr>
          <p:cNvPr id="3" name="Content Placeholder 2"/>
          <p:cNvSpPr>
            <a:spLocks noGrp="1"/>
          </p:cNvSpPr>
          <p:nvPr>
            <p:ph idx="1"/>
          </p:nvPr>
        </p:nvSpPr>
        <p:spPr/>
        <p:txBody>
          <a:bodyPr/>
          <a:lstStyle/>
          <a:p>
            <a:r>
              <a:rPr lang="en-US" dirty="0"/>
              <a:t>Normalization is the method to breaking down large complex table into smaller , related table and define the relationship between them.</a:t>
            </a:r>
          </a:p>
          <a:p>
            <a:r>
              <a:rPr lang="en-US" dirty="0"/>
              <a:t>Normalization is the process of organizing data in a database. It includes creating tables and establishing relationships between those tables according to rules designed both to protect the data and to make the database more flexible by eliminating redundancy and inconsistent dependency.</a:t>
            </a:r>
          </a:p>
          <a:p>
            <a:r>
              <a:rPr lang="en-US" dirty="0"/>
              <a:t>It reduces the redundancy of data in a table also removes inconsistency problem and unwanted risk.</a:t>
            </a:r>
            <a:endParaRPr lang="en-IN" dirty="0"/>
          </a:p>
        </p:txBody>
      </p:sp>
    </p:spTree>
    <p:extLst>
      <p:ext uri="{BB962C8B-B14F-4D97-AF65-F5344CB8AC3E}">
        <p14:creationId xmlns:p14="http://schemas.microsoft.com/office/powerpoint/2010/main" val="1986212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a:t>
            </a:r>
            <a:endParaRPr lang="en-IN" dirty="0"/>
          </a:p>
        </p:txBody>
      </p:sp>
      <p:sp>
        <p:nvSpPr>
          <p:cNvPr id="3" name="Content Placeholder 2"/>
          <p:cNvSpPr>
            <a:spLocks noGrp="1"/>
          </p:cNvSpPr>
          <p:nvPr>
            <p:ph idx="1"/>
          </p:nvPr>
        </p:nvSpPr>
        <p:spPr/>
        <p:txBody>
          <a:bodyPr/>
          <a:lstStyle/>
          <a:p>
            <a:r>
              <a:rPr lang="en-US" dirty="0"/>
              <a:t>Maintain data integrity</a:t>
            </a:r>
          </a:p>
          <a:p>
            <a:r>
              <a:rPr lang="en-US" dirty="0"/>
              <a:t>Reduce the structure of table</a:t>
            </a:r>
          </a:p>
          <a:p>
            <a:r>
              <a:rPr lang="en-US" dirty="0"/>
              <a:t>Avoid the NULL Value</a:t>
            </a:r>
          </a:p>
          <a:p>
            <a:r>
              <a:rPr lang="en-US" dirty="0"/>
              <a:t>Structuring of data show that model is flexible and easy to use</a:t>
            </a:r>
          </a:p>
          <a:p>
            <a:endParaRPr lang="en-US" dirty="0"/>
          </a:p>
        </p:txBody>
      </p:sp>
    </p:spTree>
    <p:extLst>
      <p:ext uri="{BB962C8B-B14F-4D97-AF65-F5344CB8AC3E}">
        <p14:creationId xmlns:p14="http://schemas.microsoft.com/office/powerpoint/2010/main" val="3735398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3258-BE57-A0EF-8DD2-724A28D0DC73}"/>
              </a:ext>
            </a:extLst>
          </p:cNvPr>
          <p:cNvSpPr>
            <a:spLocks noGrp="1"/>
          </p:cNvSpPr>
          <p:nvPr>
            <p:ph type="title"/>
          </p:nvPr>
        </p:nvSpPr>
        <p:spPr>
          <a:xfrm>
            <a:off x="728744" y="-163121"/>
            <a:ext cx="10515600" cy="1325563"/>
          </a:xfrm>
        </p:spPr>
        <p:txBody>
          <a:bodyPr/>
          <a:lstStyle/>
          <a:p>
            <a:r>
              <a:rPr lang="en-US" dirty="0"/>
              <a:t>First Normal From (1NF)</a:t>
            </a:r>
            <a:endParaRPr lang="en-IN" dirty="0"/>
          </a:p>
        </p:txBody>
      </p:sp>
      <p:sp>
        <p:nvSpPr>
          <p:cNvPr id="3" name="Content Placeholder 2">
            <a:extLst>
              <a:ext uri="{FF2B5EF4-FFF2-40B4-BE49-F238E27FC236}">
                <a16:creationId xmlns:a16="http://schemas.microsoft.com/office/drawing/2014/main" id="{9E0B6AD6-92C2-4C7F-6DFF-F1777A389AFD}"/>
              </a:ext>
            </a:extLst>
          </p:cNvPr>
          <p:cNvSpPr>
            <a:spLocks noGrp="1"/>
          </p:cNvSpPr>
          <p:nvPr>
            <p:ph idx="1"/>
          </p:nvPr>
        </p:nvSpPr>
        <p:spPr>
          <a:xfrm>
            <a:off x="749913" y="852879"/>
            <a:ext cx="10515600" cy="4351338"/>
          </a:xfrm>
        </p:spPr>
        <p:txBody>
          <a:bodyPr/>
          <a:lstStyle/>
          <a:p>
            <a:r>
              <a:rPr lang="en-US" dirty="0"/>
              <a:t>Rule- Table should not contain any multi valued attribute</a:t>
            </a:r>
          </a:p>
          <a:p>
            <a:endParaRPr lang="en-IN" dirty="0"/>
          </a:p>
        </p:txBody>
      </p:sp>
      <p:graphicFrame>
        <p:nvGraphicFramePr>
          <p:cNvPr id="4" name="Table 3">
            <a:extLst>
              <a:ext uri="{FF2B5EF4-FFF2-40B4-BE49-F238E27FC236}">
                <a16:creationId xmlns:a16="http://schemas.microsoft.com/office/drawing/2014/main" id="{4F4BDBD5-5B46-B934-C1C9-9C02CE496619}"/>
              </a:ext>
            </a:extLst>
          </p:cNvPr>
          <p:cNvGraphicFramePr>
            <a:graphicFrameLocks noGrp="1"/>
          </p:cNvGraphicFramePr>
          <p:nvPr>
            <p:extLst>
              <p:ext uri="{D42A27DB-BD31-4B8C-83A1-F6EECF244321}">
                <p14:modId xmlns:p14="http://schemas.microsoft.com/office/powerpoint/2010/main" val="3003242503"/>
              </p:ext>
            </p:extLst>
          </p:nvPr>
        </p:nvGraphicFramePr>
        <p:xfrm>
          <a:off x="295115" y="1605311"/>
          <a:ext cx="3374571" cy="1518435"/>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gridCol w="1360714">
                  <a:extLst>
                    <a:ext uri="{9D8B030D-6E8A-4147-A177-3AD203B41FA5}">
                      <a16:colId xmlns:a16="http://schemas.microsoft.com/office/drawing/2014/main" val="20002"/>
                    </a:ext>
                  </a:extLst>
                </a:gridCol>
              </a:tblGrid>
              <a:tr h="120469">
                <a:tc>
                  <a:txBody>
                    <a:bodyPr/>
                    <a:lstStyle/>
                    <a:p>
                      <a:r>
                        <a:rPr lang="en-US" dirty="0"/>
                        <a:t>Roll</a:t>
                      </a:r>
                      <a:r>
                        <a:rPr lang="en-US" baseline="0" dirty="0"/>
                        <a:t> No.</a:t>
                      </a:r>
                      <a:endParaRPr lang="en-IN" dirty="0"/>
                    </a:p>
                  </a:txBody>
                  <a:tcPr/>
                </a:tc>
                <a:tc>
                  <a:txBody>
                    <a:bodyPr/>
                    <a:lstStyle/>
                    <a:p>
                      <a:r>
                        <a:rPr lang="en-US" dirty="0" err="1"/>
                        <a:t>Sname</a:t>
                      </a:r>
                      <a:endParaRPr lang="en-IN" dirty="0"/>
                    </a:p>
                  </a:txBody>
                  <a:tcPr/>
                </a:tc>
                <a:tc>
                  <a:txBody>
                    <a:bodyPr/>
                    <a:lstStyle/>
                    <a:p>
                      <a:r>
                        <a:rPr lang="en-US" dirty="0"/>
                        <a:t>Course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tc>
                  <a:txBody>
                    <a:bodyPr/>
                    <a:lstStyle/>
                    <a:p>
                      <a:r>
                        <a:rPr lang="en-US" dirty="0"/>
                        <a:t>C/C++</a:t>
                      </a:r>
                      <a:endParaRPr lang="en-IN" dirty="0"/>
                    </a:p>
                  </a:txBody>
                  <a:tcPr/>
                </a:tc>
                <a:extLst>
                  <a:ext uri="{0D108BD9-81ED-4DB2-BD59-A6C34878D82A}">
                    <a16:rowId xmlns:a16="http://schemas.microsoft.com/office/drawing/2014/main" val="10001"/>
                  </a:ext>
                </a:extLst>
              </a:tr>
              <a:tr h="410995">
                <a:tc>
                  <a:txBody>
                    <a:bodyPr/>
                    <a:lstStyle/>
                    <a:p>
                      <a:r>
                        <a:rPr lang="en-US" dirty="0"/>
                        <a:t>2</a:t>
                      </a:r>
                      <a:endParaRPr lang="en-IN" dirty="0"/>
                    </a:p>
                  </a:txBody>
                  <a:tcPr/>
                </a:tc>
                <a:tc>
                  <a:txBody>
                    <a:bodyPr/>
                    <a:lstStyle/>
                    <a:p>
                      <a:r>
                        <a:rPr lang="en-US" dirty="0"/>
                        <a:t>Raj</a:t>
                      </a:r>
                      <a:endParaRPr lang="en-IN" dirty="0"/>
                    </a:p>
                  </a:txBody>
                  <a:tcPr/>
                </a:tc>
                <a:tc>
                  <a:txBody>
                    <a:bodyPr/>
                    <a:lstStyle/>
                    <a:p>
                      <a:r>
                        <a:rPr lang="en-US" dirty="0"/>
                        <a:t>Java</a:t>
                      </a:r>
                      <a:endParaRPr lang="en-IN" dirty="0"/>
                    </a:p>
                  </a:txBody>
                  <a:tcPr/>
                </a:tc>
                <a:extLst>
                  <a:ext uri="{0D108BD9-81ED-4DB2-BD59-A6C34878D82A}">
                    <a16:rowId xmlns:a16="http://schemas.microsoft.com/office/drawing/2014/main" val="10002"/>
                  </a:ext>
                </a:extLst>
              </a:tr>
              <a:tr h="370840">
                <a:tc>
                  <a:txBody>
                    <a:bodyPr/>
                    <a:lstStyle/>
                    <a:p>
                      <a:r>
                        <a:rPr lang="en-US" dirty="0"/>
                        <a:t>3</a:t>
                      </a:r>
                      <a:endParaRPr lang="en-IN" dirty="0"/>
                    </a:p>
                  </a:txBody>
                  <a:tcPr/>
                </a:tc>
                <a:tc>
                  <a:txBody>
                    <a:bodyPr/>
                    <a:lstStyle/>
                    <a:p>
                      <a:r>
                        <a:rPr lang="en-US" dirty="0"/>
                        <a:t>Ravi</a:t>
                      </a:r>
                      <a:endParaRPr lang="en-IN" dirty="0"/>
                    </a:p>
                  </a:txBody>
                  <a:tcPr/>
                </a:tc>
                <a:tc>
                  <a:txBody>
                    <a:bodyPr/>
                    <a:lstStyle/>
                    <a:p>
                      <a:r>
                        <a:rPr lang="en-US" dirty="0"/>
                        <a:t>C/DBMS</a:t>
                      </a:r>
                      <a:endParaRPr lang="en-IN" dirty="0"/>
                    </a:p>
                  </a:txBody>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5E44246B-9FFB-9483-1400-F0BC844F4EE7}"/>
              </a:ext>
            </a:extLst>
          </p:cNvPr>
          <p:cNvSpPr txBox="1"/>
          <p:nvPr/>
        </p:nvSpPr>
        <p:spPr>
          <a:xfrm>
            <a:off x="990599" y="3518415"/>
            <a:ext cx="1228221" cy="923330"/>
          </a:xfrm>
          <a:prstGeom prst="rect">
            <a:avLst/>
          </a:prstGeom>
          <a:noFill/>
        </p:spPr>
        <p:txBody>
          <a:bodyPr wrap="none" rtlCol="0">
            <a:spAutoFit/>
          </a:bodyPr>
          <a:lstStyle/>
          <a:p>
            <a:r>
              <a:rPr lang="en-US" dirty="0"/>
              <a:t>Address</a:t>
            </a:r>
          </a:p>
          <a:p>
            <a:r>
              <a:rPr lang="en-US" dirty="0"/>
              <a:t>Phone</a:t>
            </a:r>
          </a:p>
          <a:p>
            <a:r>
              <a:rPr lang="en-US" dirty="0"/>
              <a:t>Mobile No.</a:t>
            </a:r>
            <a:endParaRPr lang="en-IN" dirty="0"/>
          </a:p>
        </p:txBody>
      </p:sp>
      <p:sp>
        <p:nvSpPr>
          <p:cNvPr id="6" name="TextBox 5">
            <a:extLst>
              <a:ext uri="{FF2B5EF4-FFF2-40B4-BE49-F238E27FC236}">
                <a16:creationId xmlns:a16="http://schemas.microsoft.com/office/drawing/2014/main" id="{33661994-B1A3-1777-64ED-03533206BC41}"/>
              </a:ext>
            </a:extLst>
          </p:cNvPr>
          <p:cNvSpPr txBox="1"/>
          <p:nvPr/>
        </p:nvSpPr>
        <p:spPr>
          <a:xfrm>
            <a:off x="1424321" y="1285708"/>
            <a:ext cx="2333652" cy="369332"/>
          </a:xfrm>
          <a:prstGeom prst="rect">
            <a:avLst/>
          </a:prstGeom>
          <a:noFill/>
        </p:spPr>
        <p:txBody>
          <a:bodyPr wrap="none" rtlCol="0">
            <a:spAutoFit/>
          </a:bodyPr>
          <a:lstStyle/>
          <a:p>
            <a:r>
              <a:rPr lang="en-US" dirty="0"/>
              <a:t>Not in 1</a:t>
            </a:r>
            <a:r>
              <a:rPr lang="en-US" baseline="30000" dirty="0"/>
              <a:t>st</a:t>
            </a:r>
            <a:r>
              <a:rPr lang="en-US" dirty="0"/>
              <a:t> Normal From</a:t>
            </a:r>
            <a:endParaRPr lang="en-IN" dirty="0"/>
          </a:p>
        </p:txBody>
      </p:sp>
      <p:graphicFrame>
        <p:nvGraphicFramePr>
          <p:cNvPr id="7" name="Table 6">
            <a:extLst>
              <a:ext uri="{FF2B5EF4-FFF2-40B4-BE49-F238E27FC236}">
                <a16:creationId xmlns:a16="http://schemas.microsoft.com/office/drawing/2014/main" id="{4DAE9671-2CAB-0980-0816-B6D6A9E43865}"/>
              </a:ext>
            </a:extLst>
          </p:cNvPr>
          <p:cNvGraphicFramePr>
            <a:graphicFrameLocks noGrp="1"/>
          </p:cNvGraphicFramePr>
          <p:nvPr>
            <p:extLst>
              <p:ext uri="{D42A27DB-BD31-4B8C-83A1-F6EECF244321}">
                <p14:modId xmlns:p14="http://schemas.microsoft.com/office/powerpoint/2010/main" val="185837862"/>
              </p:ext>
            </p:extLst>
          </p:nvPr>
        </p:nvGraphicFramePr>
        <p:xfrm>
          <a:off x="3863230" y="1605311"/>
          <a:ext cx="2983884" cy="2534435"/>
        </p:xfrm>
        <a:graphic>
          <a:graphicData uri="http://schemas.openxmlformats.org/drawingml/2006/table">
            <a:tbl>
              <a:tblPr firstRow="1" bandRow="1">
                <a:tableStyleId>{5C22544A-7EE6-4342-B048-85BDC9FD1C3A}</a:tableStyleId>
              </a:tblPr>
              <a:tblGrid>
                <a:gridCol w="898374">
                  <a:extLst>
                    <a:ext uri="{9D8B030D-6E8A-4147-A177-3AD203B41FA5}">
                      <a16:colId xmlns:a16="http://schemas.microsoft.com/office/drawing/2014/main" val="20000"/>
                    </a:ext>
                  </a:extLst>
                </a:gridCol>
                <a:gridCol w="882331">
                  <a:extLst>
                    <a:ext uri="{9D8B030D-6E8A-4147-A177-3AD203B41FA5}">
                      <a16:colId xmlns:a16="http://schemas.microsoft.com/office/drawing/2014/main" val="20001"/>
                    </a:ext>
                  </a:extLst>
                </a:gridCol>
                <a:gridCol w="1203179">
                  <a:extLst>
                    <a:ext uri="{9D8B030D-6E8A-4147-A177-3AD203B41FA5}">
                      <a16:colId xmlns:a16="http://schemas.microsoft.com/office/drawing/2014/main" val="20002"/>
                    </a:ext>
                  </a:extLst>
                </a:gridCol>
              </a:tblGrid>
              <a:tr h="120469">
                <a:tc>
                  <a:txBody>
                    <a:bodyPr/>
                    <a:lstStyle/>
                    <a:p>
                      <a:r>
                        <a:rPr lang="en-US" dirty="0"/>
                        <a:t>Roll</a:t>
                      </a:r>
                      <a:r>
                        <a:rPr lang="en-US" baseline="0" dirty="0"/>
                        <a:t> No.</a:t>
                      </a:r>
                      <a:endParaRPr lang="en-IN" dirty="0"/>
                    </a:p>
                  </a:txBody>
                  <a:tcPr/>
                </a:tc>
                <a:tc>
                  <a:txBody>
                    <a:bodyPr/>
                    <a:lstStyle/>
                    <a:p>
                      <a:r>
                        <a:rPr lang="en-US" dirty="0" err="1"/>
                        <a:t>Sname</a:t>
                      </a:r>
                      <a:endParaRPr lang="en-IN" dirty="0"/>
                    </a:p>
                  </a:txBody>
                  <a:tcPr/>
                </a:tc>
                <a:tc>
                  <a:txBody>
                    <a:bodyPr/>
                    <a:lstStyle/>
                    <a:p>
                      <a:r>
                        <a:rPr lang="en-US" dirty="0"/>
                        <a:t>Course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tc>
                  <a:txBody>
                    <a:bodyPr/>
                    <a:lstStyle/>
                    <a:p>
                      <a:r>
                        <a:rPr lang="en-US" dirty="0"/>
                        <a:t>C++</a:t>
                      </a:r>
                      <a:endParaRPr lang="en-IN" dirty="0"/>
                    </a:p>
                  </a:txBody>
                  <a:tcPr/>
                </a:tc>
                <a:extLst>
                  <a:ext uri="{0D108BD9-81ED-4DB2-BD59-A6C34878D82A}">
                    <a16:rowId xmlns:a16="http://schemas.microsoft.com/office/drawing/2014/main" val="10001"/>
                  </a:ext>
                </a:extLst>
              </a:tr>
              <a:tr h="410995">
                <a:tc>
                  <a:txBody>
                    <a:bodyPr/>
                    <a:lstStyle/>
                    <a:p>
                      <a:r>
                        <a:rPr lang="en-US" dirty="0"/>
                        <a:t>1</a:t>
                      </a:r>
                      <a:endParaRPr lang="en-IN" dirty="0"/>
                    </a:p>
                  </a:txBody>
                  <a:tcPr/>
                </a:tc>
                <a:tc>
                  <a:txBody>
                    <a:bodyPr/>
                    <a:lstStyle/>
                    <a:p>
                      <a:r>
                        <a:rPr lang="en-US" dirty="0"/>
                        <a:t>Ajay</a:t>
                      </a:r>
                      <a:endParaRPr lang="en-IN" dirty="0"/>
                    </a:p>
                  </a:txBody>
                  <a:tcPr/>
                </a:tc>
                <a:tc>
                  <a:txBody>
                    <a:bodyPr/>
                    <a:lstStyle/>
                    <a:p>
                      <a:r>
                        <a:rPr lang="en-US" dirty="0"/>
                        <a:t>C</a:t>
                      </a:r>
                      <a:endParaRPr lang="en-IN" dirty="0"/>
                    </a:p>
                  </a:txBody>
                  <a:tcPr/>
                </a:tc>
                <a:extLst>
                  <a:ext uri="{0D108BD9-81ED-4DB2-BD59-A6C34878D82A}">
                    <a16:rowId xmlns:a16="http://schemas.microsoft.com/office/drawing/2014/main" val="10002"/>
                  </a:ext>
                </a:extLst>
              </a:tr>
              <a:tr h="370840">
                <a:tc>
                  <a:txBody>
                    <a:bodyPr/>
                    <a:lstStyle/>
                    <a:p>
                      <a:r>
                        <a:rPr lang="en-US" dirty="0"/>
                        <a:t>2</a:t>
                      </a:r>
                      <a:endParaRPr lang="en-IN" dirty="0"/>
                    </a:p>
                  </a:txBody>
                  <a:tcPr/>
                </a:tc>
                <a:tc>
                  <a:txBody>
                    <a:bodyPr/>
                    <a:lstStyle/>
                    <a:p>
                      <a:r>
                        <a:rPr lang="en-US" dirty="0"/>
                        <a:t>Raj</a:t>
                      </a:r>
                      <a:endParaRPr lang="en-IN" dirty="0"/>
                    </a:p>
                  </a:txBody>
                  <a:tcPr/>
                </a:tc>
                <a:tc>
                  <a:txBody>
                    <a:bodyPr/>
                    <a:lstStyle/>
                    <a:p>
                      <a:r>
                        <a:rPr lang="en-US" dirty="0"/>
                        <a:t>Java</a:t>
                      </a:r>
                      <a:endParaRPr lang="en-IN" dirty="0"/>
                    </a:p>
                  </a:txBody>
                  <a:tcPr/>
                </a:tc>
                <a:extLst>
                  <a:ext uri="{0D108BD9-81ED-4DB2-BD59-A6C34878D82A}">
                    <a16:rowId xmlns:a16="http://schemas.microsoft.com/office/drawing/2014/main" val="10003"/>
                  </a:ext>
                </a:extLst>
              </a:tr>
              <a:tr h="370840">
                <a:tc>
                  <a:txBody>
                    <a:bodyPr/>
                    <a:lstStyle/>
                    <a:p>
                      <a:r>
                        <a:rPr lang="en-US" dirty="0"/>
                        <a:t>3</a:t>
                      </a:r>
                      <a:endParaRPr lang="en-IN" dirty="0"/>
                    </a:p>
                  </a:txBody>
                  <a:tcPr/>
                </a:tc>
                <a:tc>
                  <a:txBody>
                    <a:bodyPr/>
                    <a:lstStyle/>
                    <a:p>
                      <a:r>
                        <a:rPr lang="en-US" dirty="0"/>
                        <a:t>Ravi</a:t>
                      </a:r>
                      <a:endParaRPr lang="en-IN" dirty="0"/>
                    </a:p>
                  </a:txBody>
                  <a:tcPr/>
                </a:tc>
                <a:tc>
                  <a:txBody>
                    <a:bodyPr/>
                    <a:lstStyle/>
                    <a:p>
                      <a:r>
                        <a:rPr lang="en-US" dirty="0"/>
                        <a:t>C</a:t>
                      </a:r>
                      <a:endParaRPr lang="en-IN" dirty="0"/>
                    </a:p>
                  </a:txBody>
                  <a:tcPr/>
                </a:tc>
                <a:extLst>
                  <a:ext uri="{0D108BD9-81ED-4DB2-BD59-A6C34878D82A}">
                    <a16:rowId xmlns:a16="http://schemas.microsoft.com/office/drawing/2014/main" val="186239784"/>
                  </a:ext>
                </a:extLst>
              </a:tr>
              <a:tr h="370840">
                <a:tc>
                  <a:txBody>
                    <a:bodyPr/>
                    <a:lstStyle/>
                    <a:p>
                      <a:r>
                        <a:rPr lang="en-US" dirty="0"/>
                        <a:t>3</a:t>
                      </a:r>
                      <a:endParaRPr lang="en-IN" dirty="0"/>
                    </a:p>
                  </a:txBody>
                  <a:tcPr/>
                </a:tc>
                <a:tc>
                  <a:txBody>
                    <a:bodyPr/>
                    <a:lstStyle/>
                    <a:p>
                      <a:r>
                        <a:rPr lang="en-US" dirty="0"/>
                        <a:t>Ravi</a:t>
                      </a:r>
                      <a:endParaRPr lang="en-IN" dirty="0"/>
                    </a:p>
                  </a:txBody>
                  <a:tcPr/>
                </a:tc>
                <a:tc>
                  <a:txBody>
                    <a:bodyPr/>
                    <a:lstStyle/>
                    <a:p>
                      <a:r>
                        <a:rPr lang="en-US" dirty="0"/>
                        <a:t>DBMS</a:t>
                      </a:r>
                      <a:endParaRPr lang="en-IN" dirty="0"/>
                    </a:p>
                  </a:txBody>
                  <a:tcPr/>
                </a:tc>
                <a:extLst>
                  <a:ext uri="{0D108BD9-81ED-4DB2-BD59-A6C34878D82A}">
                    <a16:rowId xmlns:a16="http://schemas.microsoft.com/office/drawing/2014/main" val="3200753470"/>
                  </a:ext>
                </a:extLst>
              </a:tr>
            </a:tbl>
          </a:graphicData>
        </a:graphic>
      </p:graphicFrame>
      <p:graphicFrame>
        <p:nvGraphicFramePr>
          <p:cNvPr id="8" name="Table 7">
            <a:extLst>
              <a:ext uri="{FF2B5EF4-FFF2-40B4-BE49-F238E27FC236}">
                <a16:creationId xmlns:a16="http://schemas.microsoft.com/office/drawing/2014/main" id="{01771C3C-5293-7C42-84C4-E122AA687AC0}"/>
              </a:ext>
            </a:extLst>
          </p:cNvPr>
          <p:cNvGraphicFramePr>
            <a:graphicFrameLocks noGrp="1"/>
          </p:cNvGraphicFramePr>
          <p:nvPr>
            <p:extLst>
              <p:ext uri="{D42A27DB-BD31-4B8C-83A1-F6EECF244321}">
                <p14:modId xmlns:p14="http://schemas.microsoft.com/office/powerpoint/2010/main" val="4197079939"/>
              </p:ext>
            </p:extLst>
          </p:nvPr>
        </p:nvGraphicFramePr>
        <p:xfrm>
          <a:off x="7171285" y="1669605"/>
          <a:ext cx="3943030" cy="2291080"/>
        </p:xfrm>
        <a:graphic>
          <a:graphicData uri="http://schemas.openxmlformats.org/drawingml/2006/table">
            <a:tbl>
              <a:tblPr firstRow="1" bandRow="1">
                <a:tableStyleId>{5C22544A-7EE6-4342-B048-85BDC9FD1C3A}</a:tableStyleId>
              </a:tblPr>
              <a:tblGrid>
                <a:gridCol w="699086">
                  <a:extLst>
                    <a:ext uri="{9D8B030D-6E8A-4147-A177-3AD203B41FA5}">
                      <a16:colId xmlns:a16="http://schemas.microsoft.com/office/drawing/2014/main" val="20000"/>
                    </a:ext>
                  </a:extLst>
                </a:gridCol>
                <a:gridCol w="957943">
                  <a:extLst>
                    <a:ext uri="{9D8B030D-6E8A-4147-A177-3AD203B41FA5}">
                      <a16:colId xmlns:a16="http://schemas.microsoft.com/office/drawing/2014/main" val="20001"/>
                    </a:ext>
                  </a:extLst>
                </a:gridCol>
                <a:gridCol w="1023257">
                  <a:extLst>
                    <a:ext uri="{9D8B030D-6E8A-4147-A177-3AD203B41FA5}">
                      <a16:colId xmlns:a16="http://schemas.microsoft.com/office/drawing/2014/main" val="20002"/>
                    </a:ext>
                  </a:extLst>
                </a:gridCol>
                <a:gridCol w="1262744">
                  <a:extLst>
                    <a:ext uri="{9D8B030D-6E8A-4147-A177-3AD203B41FA5}">
                      <a16:colId xmlns:a16="http://schemas.microsoft.com/office/drawing/2014/main" val="910889813"/>
                    </a:ext>
                  </a:extLst>
                </a:gridCol>
              </a:tblGrid>
              <a:tr h="120469">
                <a:tc>
                  <a:txBody>
                    <a:bodyPr/>
                    <a:lstStyle/>
                    <a:p>
                      <a:r>
                        <a:rPr lang="en-US" dirty="0"/>
                        <a:t>Roll</a:t>
                      </a:r>
                      <a:r>
                        <a:rPr lang="en-US" baseline="0" dirty="0"/>
                        <a:t> No.</a:t>
                      </a:r>
                      <a:endParaRPr lang="en-IN" dirty="0"/>
                    </a:p>
                  </a:txBody>
                  <a:tcPr/>
                </a:tc>
                <a:tc>
                  <a:txBody>
                    <a:bodyPr/>
                    <a:lstStyle/>
                    <a:p>
                      <a:r>
                        <a:rPr lang="en-US" dirty="0" err="1"/>
                        <a:t>Sname</a:t>
                      </a:r>
                      <a:endParaRPr lang="en-IN" dirty="0"/>
                    </a:p>
                  </a:txBody>
                  <a:tcPr/>
                </a:tc>
                <a:tc>
                  <a:txBody>
                    <a:bodyPr/>
                    <a:lstStyle/>
                    <a:p>
                      <a:r>
                        <a:rPr lang="en-US" dirty="0"/>
                        <a:t>Course1</a:t>
                      </a:r>
                      <a:endParaRPr lang="en-IN" dirty="0"/>
                    </a:p>
                  </a:txBody>
                  <a:tcPr/>
                </a:tc>
                <a:tc>
                  <a:txBody>
                    <a:bodyPr/>
                    <a:lstStyle/>
                    <a:p>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tc>
                  <a:txBody>
                    <a:bodyPr/>
                    <a:lstStyle/>
                    <a:p>
                      <a:r>
                        <a:rPr lang="en-US" dirty="0"/>
                        <a:t>C++</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t>
                      </a:r>
                      <a:endParaRPr lang="en-IN" dirty="0"/>
                    </a:p>
                    <a:p>
                      <a:endParaRPr lang="en-IN" dirty="0"/>
                    </a:p>
                  </a:txBody>
                  <a:tcPr/>
                </a:tc>
                <a:extLst>
                  <a:ext uri="{0D108BD9-81ED-4DB2-BD59-A6C34878D82A}">
                    <a16:rowId xmlns:a16="http://schemas.microsoft.com/office/drawing/2014/main" val="10001"/>
                  </a:ext>
                </a:extLst>
              </a:tr>
              <a:tr h="370840">
                <a:tc>
                  <a:txBody>
                    <a:bodyPr/>
                    <a:lstStyle/>
                    <a:p>
                      <a:r>
                        <a:rPr lang="en-US" dirty="0"/>
                        <a:t>2</a:t>
                      </a:r>
                      <a:endParaRPr lang="en-IN" dirty="0"/>
                    </a:p>
                  </a:txBody>
                  <a:tcPr/>
                </a:tc>
                <a:tc>
                  <a:txBody>
                    <a:bodyPr/>
                    <a:lstStyle/>
                    <a:p>
                      <a:r>
                        <a:rPr lang="en-US" dirty="0"/>
                        <a:t>Raj</a:t>
                      </a:r>
                      <a:endParaRPr lang="en-IN" dirty="0"/>
                    </a:p>
                  </a:txBody>
                  <a:tcPr/>
                </a:tc>
                <a:tc>
                  <a:txBody>
                    <a:bodyPr/>
                    <a:lstStyle/>
                    <a:p>
                      <a:r>
                        <a:rPr lang="en-US" dirty="0"/>
                        <a:t>Java</a:t>
                      </a:r>
                      <a:endParaRPr lang="en-IN" dirty="0"/>
                    </a:p>
                  </a:txBody>
                  <a:tcPr/>
                </a:tc>
                <a:tc>
                  <a:txBody>
                    <a:bodyPr/>
                    <a:lstStyle/>
                    <a:p>
                      <a:r>
                        <a:rPr lang="en-US" dirty="0"/>
                        <a:t>Null</a:t>
                      </a:r>
                      <a:endParaRPr lang="en-IN" dirty="0"/>
                    </a:p>
                  </a:txBody>
                  <a:tcPr/>
                </a:tc>
                <a:extLst>
                  <a:ext uri="{0D108BD9-81ED-4DB2-BD59-A6C34878D82A}">
                    <a16:rowId xmlns:a16="http://schemas.microsoft.com/office/drawing/2014/main" val="10003"/>
                  </a:ext>
                </a:extLst>
              </a:tr>
              <a:tr h="370840">
                <a:tc>
                  <a:txBody>
                    <a:bodyPr/>
                    <a:lstStyle/>
                    <a:p>
                      <a:r>
                        <a:rPr lang="en-US" dirty="0"/>
                        <a:t>3</a:t>
                      </a:r>
                      <a:endParaRPr lang="en-IN" dirty="0"/>
                    </a:p>
                  </a:txBody>
                  <a:tcPr/>
                </a:tc>
                <a:tc>
                  <a:txBody>
                    <a:bodyPr/>
                    <a:lstStyle/>
                    <a:p>
                      <a:r>
                        <a:rPr lang="en-US" dirty="0"/>
                        <a:t>Ravi</a:t>
                      </a:r>
                      <a:endParaRPr lang="en-IN" dirty="0"/>
                    </a:p>
                  </a:txBody>
                  <a:tcPr/>
                </a:tc>
                <a:tc>
                  <a:txBody>
                    <a:bodyPr/>
                    <a:lstStyle/>
                    <a:p>
                      <a:r>
                        <a:rPr lang="en-US" dirty="0"/>
                        <a:t>C</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DBMS</a:t>
                      </a:r>
                      <a:endParaRPr lang="en-IN" dirty="0"/>
                    </a:p>
                    <a:p>
                      <a:endParaRPr lang="en-IN" dirty="0"/>
                    </a:p>
                  </a:txBody>
                  <a:tcPr/>
                </a:tc>
                <a:extLst>
                  <a:ext uri="{0D108BD9-81ED-4DB2-BD59-A6C34878D82A}">
                    <a16:rowId xmlns:a16="http://schemas.microsoft.com/office/drawing/2014/main" val="186239784"/>
                  </a:ext>
                </a:extLst>
              </a:tr>
            </a:tbl>
          </a:graphicData>
        </a:graphic>
      </p:graphicFrame>
      <p:graphicFrame>
        <p:nvGraphicFramePr>
          <p:cNvPr id="9" name="Table 8">
            <a:extLst>
              <a:ext uri="{FF2B5EF4-FFF2-40B4-BE49-F238E27FC236}">
                <a16:creationId xmlns:a16="http://schemas.microsoft.com/office/drawing/2014/main" id="{3E61A3AD-F415-D344-804B-E1D999526435}"/>
              </a:ext>
            </a:extLst>
          </p:cNvPr>
          <p:cNvGraphicFramePr>
            <a:graphicFrameLocks noGrp="1"/>
          </p:cNvGraphicFramePr>
          <p:nvPr>
            <p:extLst>
              <p:ext uri="{D42A27DB-BD31-4B8C-83A1-F6EECF244321}">
                <p14:modId xmlns:p14="http://schemas.microsoft.com/office/powerpoint/2010/main" val="2022925984"/>
              </p:ext>
            </p:extLst>
          </p:nvPr>
        </p:nvGraphicFramePr>
        <p:xfrm>
          <a:off x="2864143" y="4582615"/>
          <a:ext cx="2013857" cy="1518435"/>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tblGrid>
              <a:tr h="120469">
                <a:tc>
                  <a:txBody>
                    <a:bodyPr/>
                    <a:lstStyle/>
                    <a:p>
                      <a:r>
                        <a:rPr lang="en-US" dirty="0"/>
                        <a:t>Roll</a:t>
                      </a:r>
                      <a:r>
                        <a:rPr lang="en-US" baseline="0" dirty="0"/>
                        <a:t> No.</a:t>
                      </a:r>
                      <a:endParaRPr lang="en-IN" dirty="0"/>
                    </a:p>
                  </a:txBody>
                  <a:tcPr/>
                </a:tc>
                <a:tc>
                  <a:txBody>
                    <a:bodyPr/>
                    <a:lstStyle/>
                    <a:p>
                      <a:r>
                        <a:rPr lang="en-US" dirty="0" err="1"/>
                        <a:t>Sname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1"/>
                  </a:ext>
                </a:extLst>
              </a:tr>
              <a:tr h="410995">
                <a:tc>
                  <a:txBody>
                    <a:bodyPr/>
                    <a:lstStyle/>
                    <a:p>
                      <a:r>
                        <a:rPr lang="en-US" dirty="0"/>
                        <a:t>2</a:t>
                      </a:r>
                      <a:endParaRPr lang="en-IN" dirty="0"/>
                    </a:p>
                  </a:txBody>
                  <a:tcPr/>
                </a:tc>
                <a:tc>
                  <a:txBody>
                    <a:bodyPr/>
                    <a:lstStyle/>
                    <a:p>
                      <a:r>
                        <a:rPr lang="en-US" dirty="0"/>
                        <a:t>Raj</a:t>
                      </a:r>
                      <a:endParaRPr lang="en-IN" dirty="0"/>
                    </a:p>
                  </a:txBody>
                  <a:tcPr/>
                </a:tc>
                <a:extLst>
                  <a:ext uri="{0D108BD9-81ED-4DB2-BD59-A6C34878D82A}">
                    <a16:rowId xmlns:a16="http://schemas.microsoft.com/office/drawing/2014/main" val="10002"/>
                  </a:ext>
                </a:extLst>
              </a:tr>
              <a:tr h="370840">
                <a:tc>
                  <a:txBody>
                    <a:bodyPr/>
                    <a:lstStyle/>
                    <a:p>
                      <a:r>
                        <a:rPr lang="en-US" dirty="0"/>
                        <a:t>3</a:t>
                      </a:r>
                      <a:endParaRPr lang="en-IN" dirty="0"/>
                    </a:p>
                  </a:txBody>
                  <a:tcPr/>
                </a:tc>
                <a:tc>
                  <a:txBody>
                    <a:bodyPr/>
                    <a:lstStyle/>
                    <a:p>
                      <a:r>
                        <a:rPr lang="en-US" dirty="0"/>
                        <a:t>Ravi</a:t>
                      </a:r>
                      <a:endParaRPr lang="en-IN" dirty="0"/>
                    </a:p>
                  </a:txBody>
                  <a:tcPr/>
                </a:tc>
                <a:extLst>
                  <a:ext uri="{0D108BD9-81ED-4DB2-BD59-A6C34878D82A}">
                    <a16:rowId xmlns:a16="http://schemas.microsoft.com/office/drawing/2014/main" val="10003"/>
                  </a:ext>
                </a:extLst>
              </a:tr>
            </a:tbl>
          </a:graphicData>
        </a:graphic>
      </p:graphicFrame>
      <p:graphicFrame>
        <p:nvGraphicFramePr>
          <p:cNvPr id="10" name="Table 9">
            <a:extLst>
              <a:ext uri="{FF2B5EF4-FFF2-40B4-BE49-F238E27FC236}">
                <a16:creationId xmlns:a16="http://schemas.microsoft.com/office/drawing/2014/main" id="{F26CBA87-7575-763B-FE63-E6724F83CA53}"/>
              </a:ext>
            </a:extLst>
          </p:cNvPr>
          <p:cNvGraphicFramePr>
            <a:graphicFrameLocks noGrp="1"/>
          </p:cNvGraphicFramePr>
          <p:nvPr>
            <p:extLst>
              <p:ext uri="{D42A27DB-BD31-4B8C-83A1-F6EECF244321}">
                <p14:modId xmlns:p14="http://schemas.microsoft.com/office/powerpoint/2010/main" val="2787148786"/>
              </p:ext>
            </p:extLst>
          </p:nvPr>
        </p:nvGraphicFramePr>
        <p:xfrm>
          <a:off x="5505771" y="4507094"/>
          <a:ext cx="2286001" cy="2219960"/>
        </p:xfrm>
        <a:graphic>
          <a:graphicData uri="http://schemas.openxmlformats.org/drawingml/2006/table">
            <a:tbl>
              <a:tblPr firstRow="1" bandRow="1">
                <a:tableStyleId>{5C22544A-7EE6-4342-B048-85BDC9FD1C3A}</a:tableStyleId>
              </a:tblPr>
              <a:tblGrid>
                <a:gridCol w="1023257">
                  <a:extLst>
                    <a:ext uri="{9D8B030D-6E8A-4147-A177-3AD203B41FA5}">
                      <a16:colId xmlns:a16="http://schemas.microsoft.com/office/drawing/2014/main" val="20002"/>
                    </a:ext>
                  </a:extLst>
                </a:gridCol>
                <a:gridCol w="1262744">
                  <a:extLst>
                    <a:ext uri="{9D8B030D-6E8A-4147-A177-3AD203B41FA5}">
                      <a16:colId xmlns:a16="http://schemas.microsoft.com/office/drawing/2014/main" val="910889813"/>
                    </a:ext>
                  </a:extLst>
                </a:gridCol>
              </a:tblGrid>
              <a:tr h="120469">
                <a:tc>
                  <a:txBody>
                    <a:bodyPr/>
                    <a:lstStyle/>
                    <a:p>
                      <a:r>
                        <a:rPr lang="en-US" dirty="0"/>
                        <a:t>Course1</a:t>
                      </a:r>
                      <a:endParaRPr lang="en-IN" dirty="0"/>
                    </a:p>
                  </a:txBody>
                  <a:tcPr/>
                </a:tc>
                <a:tc>
                  <a:txBody>
                    <a:bodyPr/>
                    <a:lstStyle/>
                    <a:p>
                      <a:r>
                        <a:rPr lang="en-US" dirty="0"/>
                        <a:t>Roll No.</a:t>
                      </a:r>
                      <a:endParaRPr lang="en-IN" dirty="0"/>
                    </a:p>
                  </a:txBody>
                  <a:tcPr/>
                </a:tc>
                <a:extLst>
                  <a:ext uri="{0D108BD9-81ED-4DB2-BD59-A6C34878D82A}">
                    <a16:rowId xmlns:a16="http://schemas.microsoft.com/office/drawing/2014/main" val="10000"/>
                  </a:ext>
                </a:extLst>
              </a:tr>
              <a:tr h="370840">
                <a:tc>
                  <a:txBody>
                    <a:bodyPr/>
                    <a:lstStyle/>
                    <a:p>
                      <a:r>
                        <a:rPr lang="en-US" dirty="0"/>
                        <a:t>C++</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t>
                      </a:r>
                      <a:endParaRPr lang="en-IN" dirty="0"/>
                    </a:p>
                  </a:txBody>
                  <a:tcPr/>
                </a:tc>
                <a:extLst>
                  <a:ext uri="{0D108BD9-81ED-4DB2-BD59-A6C34878D82A}">
                    <a16:rowId xmlns:a16="http://schemas.microsoft.com/office/drawing/2014/main" val="10001"/>
                  </a:ext>
                </a:extLst>
              </a:tr>
              <a:tr h="370840">
                <a:tc>
                  <a:txBody>
                    <a:bodyPr/>
                    <a:lstStyle/>
                    <a:p>
                      <a:r>
                        <a:rPr lang="en-US" dirty="0"/>
                        <a:t>Java</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10003"/>
                  </a:ext>
                </a:extLst>
              </a:tr>
              <a:tr h="370840">
                <a:tc>
                  <a:txBody>
                    <a:bodyPr/>
                    <a:lstStyle/>
                    <a:p>
                      <a:r>
                        <a:rPr lang="en-US" dirty="0"/>
                        <a:t>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86239784"/>
                  </a:ext>
                </a:extLst>
              </a:tr>
              <a:tr h="370840">
                <a:tc>
                  <a:txBody>
                    <a:bodyPr/>
                    <a:lstStyle/>
                    <a:p>
                      <a:r>
                        <a:rPr lang="en-US" dirty="0"/>
                        <a:t>DBMS</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4008433351"/>
                  </a:ext>
                </a:extLst>
              </a:tr>
              <a:tr h="370840">
                <a:tc>
                  <a:txBody>
                    <a:bodyPr/>
                    <a:lstStyle/>
                    <a:p>
                      <a:r>
                        <a:rPr lang="en-US" dirty="0"/>
                        <a:t>C</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2504503650"/>
                  </a:ext>
                </a:extLst>
              </a:tr>
            </a:tbl>
          </a:graphicData>
        </a:graphic>
      </p:graphicFrame>
    </p:spTree>
    <p:extLst>
      <p:ext uri="{BB962C8B-B14F-4D97-AF65-F5344CB8AC3E}">
        <p14:creationId xmlns:p14="http://schemas.microsoft.com/office/powerpoint/2010/main" val="2476730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7FBA4-8146-EFFE-FCB4-D748B3511EC6}"/>
              </a:ext>
            </a:extLst>
          </p:cNvPr>
          <p:cNvSpPr>
            <a:spLocks noGrp="1"/>
          </p:cNvSpPr>
          <p:nvPr>
            <p:ph type="title"/>
          </p:nvPr>
        </p:nvSpPr>
        <p:spPr/>
        <p:txBody>
          <a:bodyPr/>
          <a:lstStyle/>
          <a:p>
            <a:r>
              <a:rPr lang="en-US" dirty="0"/>
              <a:t>Closer Method</a:t>
            </a:r>
            <a:endParaRPr lang="en-IN" dirty="0"/>
          </a:p>
        </p:txBody>
      </p:sp>
      <p:sp>
        <p:nvSpPr>
          <p:cNvPr id="4" name="TextBox 3">
            <a:extLst>
              <a:ext uri="{FF2B5EF4-FFF2-40B4-BE49-F238E27FC236}">
                <a16:creationId xmlns:a16="http://schemas.microsoft.com/office/drawing/2014/main" id="{111840F7-3B31-81BD-D443-CABF280EAB82}"/>
              </a:ext>
            </a:extLst>
          </p:cNvPr>
          <p:cNvSpPr txBox="1"/>
          <p:nvPr/>
        </p:nvSpPr>
        <p:spPr>
          <a:xfrm>
            <a:off x="326572" y="1452161"/>
            <a:ext cx="3265714" cy="800219"/>
          </a:xfrm>
          <a:prstGeom prst="rect">
            <a:avLst/>
          </a:prstGeom>
          <a:noFill/>
        </p:spPr>
        <p:txBody>
          <a:bodyPr wrap="square" rtlCol="0">
            <a:spAutoFit/>
          </a:bodyPr>
          <a:lstStyle/>
          <a:p>
            <a:r>
              <a:rPr lang="en-US" sz="2800" b="1" dirty="0"/>
              <a:t>Candidate Key</a:t>
            </a:r>
          </a:p>
          <a:p>
            <a:endParaRPr lang="en-IN" dirty="0"/>
          </a:p>
        </p:txBody>
      </p:sp>
      <p:sp>
        <p:nvSpPr>
          <p:cNvPr id="5" name="TextBox 4">
            <a:extLst>
              <a:ext uri="{FF2B5EF4-FFF2-40B4-BE49-F238E27FC236}">
                <a16:creationId xmlns:a16="http://schemas.microsoft.com/office/drawing/2014/main" id="{FDE1033E-C070-F2B4-2DEC-4EE939580226}"/>
              </a:ext>
            </a:extLst>
          </p:cNvPr>
          <p:cNvSpPr txBox="1"/>
          <p:nvPr/>
        </p:nvSpPr>
        <p:spPr>
          <a:xfrm>
            <a:off x="1306287" y="2013853"/>
            <a:ext cx="3548743" cy="4031873"/>
          </a:xfrm>
          <a:prstGeom prst="rect">
            <a:avLst/>
          </a:prstGeom>
          <a:noFill/>
        </p:spPr>
        <p:txBody>
          <a:bodyPr wrap="square" rtlCol="0">
            <a:spAutoFit/>
          </a:bodyPr>
          <a:lstStyle/>
          <a:p>
            <a:r>
              <a:rPr lang="en-US" sz="2800" dirty="0"/>
              <a:t>R(ABCD)</a:t>
            </a:r>
          </a:p>
          <a:p>
            <a:endParaRPr lang="en-US" sz="2800" dirty="0"/>
          </a:p>
          <a:p>
            <a:r>
              <a:rPr lang="en-US" sz="2800" dirty="0"/>
              <a:t>FD{A -&gt;B , B</a:t>
            </a:r>
            <a:r>
              <a:rPr lang="en-US" sz="2800" dirty="0">
                <a:sym typeface="Wingdings" panose="05000000000000000000" pitchFamily="2" charset="2"/>
              </a:rPr>
              <a:t>C, CD</a:t>
            </a:r>
            <a:r>
              <a:rPr lang="en-US" sz="2800" dirty="0"/>
              <a:t>}</a:t>
            </a:r>
          </a:p>
          <a:p>
            <a:r>
              <a:rPr lang="en-US" sz="3200" dirty="0"/>
              <a:t>A</a:t>
            </a:r>
            <a:r>
              <a:rPr lang="en-US" sz="2800" dirty="0"/>
              <a:t>+ = BCDA</a:t>
            </a:r>
          </a:p>
          <a:p>
            <a:r>
              <a:rPr lang="en-US" sz="2800" dirty="0"/>
              <a:t>B+=BCD</a:t>
            </a:r>
          </a:p>
          <a:p>
            <a:r>
              <a:rPr lang="en-US" sz="2800" dirty="0"/>
              <a:t>C+=CD</a:t>
            </a:r>
          </a:p>
          <a:p>
            <a:r>
              <a:rPr lang="en-US" sz="2800" dirty="0"/>
              <a:t>D+=D</a:t>
            </a:r>
          </a:p>
          <a:p>
            <a:endParaRPr lang="en-US" sz="2800" dirty="0"/>
          </a:p>
          <a:p>
            <a:r>
              <a:rPr lang="en-US" sz="2800" dirty="0"/>
              <a:t>CK={A}</a:t>
            </a:r>
            <a:endParaRPr lang="en-IN" sz="2800" dirty="0"/>
          </a:p>
        </p:txBody>
      </p:sp>
      <p:sp>
        <p:nvSpPr>
          <p:cNvPr id="8" name="TextBox 7">
            <a:extLst>
              <a:ext uri="{FF2B5EF4-FFF2-40B4-BE49-F238E27FC236}">
                <a16:creationId xmlns:a16="http://schemas.microsoft.com/office/drawing/2014/main" id="{94941B91-350F-FF5C-7090-95A39D655245}"/>
              </a:ext>
            </a:extLst>
          </p:cNvPr>
          <p:cNvSpPr txBox="1"/>
          <p:nvPr/>
        </p:nvSpPr>
        <p:spPr>
          <a:xfrm>
            <a:off x="1458686" y="2646919"/>
            <a:ext cx="1529073" cy="369332"/>
          </a:xfrm>
          <a:prstGeom prst="rect">
            <a:avLst/>
          </a:prstGeom>
          <a:noFill/>
        </p:spPr>
        <p:txBody>
          <a:bodyPr wrap="none" rtlCol="0">
            <a:spAutoFit/>
          </a:bodyPr>
          <a:lstStyle/>
          <a:p>
            <a:r>
              <a:rPr lang="en-US" dirty="0"/>
              <a:t>A determine B</a:t>
            </a:r>
            <a:endParaRPr lang="en-IN" dirty="0"/>
          </a:p>
        </p:txBody>
      </p:sp>
      <p:cxnSp>
        <p:nvCxnSpPr>
          <p:cNvPr id="10" name="Straight Connector 9">
            <a:extLst>
              <a:ext uri="{FF2B5EF4-FFF2-40B4-BE49-F238E27FC236}">
                <a16:creationId xmlns:a16="http://schemas.microsoft.com/office/drawing/2014/main" id="{6E1D5F5F-DC45-4DD6-C50E-0C798803CA23}"/>
              </a:ext>
            </a:extLst>
          </p:cNvPr>
          <p:cNvCxnSpPr/>
          <p:nvPr/>
        </p:nvCxnSpPr>
        <p:spPr>
          <a:xfrm>
            <a:off x="5366657" y="1545771"/>
            <a:ext cx="0" cy="4876800"/>
          </a:xfrm>
          <a:prstGeom prst="line">
            <a:avLst/>
          </a:prstGeom>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C97827F2-643A-09A5-42B5-BB7ACCF106B4}"/>
              </a:ext>
            </a:extLst>
          </p:cNvPr>
          <p:cNvSpPr txBox="1"/>
          <p:nvPr/>
        </p:nvSpPr>
        <p:spPr>
          <a:xfrm>
            <a:off x="5442856" y="2044095"/>
            <a:ext cx="4561109" cy="4031873"/>
          </a:xfrm>
          <a:prstGeom prst="rect">
            <a:avLst/>
          </a:prstGeom>
          <a:noFill/>
        </p:spPr>
        <p:txBody>
          <a:bodyPr wrap="square" rtlCol="0">
            <a:spAutoFit/>
          </a:bodyPr>
          <a:lstStyle/>
          <a:p>
            <a:r>
              <a:rPr lang="en-US" sz="2800" dirty="0"/>
              <a:t>R(ABCD)</a:t>
            </a:r>
          </a:p>
          <a:p>
            <a:endParaRPr lang="en-US" sz="2800" dirty="0"/>
          </a:p>
          <a:p>
            <a:r>
              <a:rPr lang="en-US" sz="2800" dirty="0"/>
              <a:t>FD{A -&gt;B , B</a:t>
            </a:r>
            <a:r>
              <a:rPr lang="en-US" sz="2800" dirty="0">
                <a:sym typeface="Wingdings" panose="05000000000000000000" pitchFamily="2" charset="2"/>
              </a:rPr>
              <a:t>C, CD, DA</a:t>
            </a:r>
            <a:r>
              <a:rPr lang="en-US" sz="2800" dirty="0"/>
              <a:t>}</a:t>
            </a:r>
          </a:p>
          <a:p>
            <a:r>
              <a:rPr lang="en-US" sz="3200" dirty="0"/>
              <a:t>A</a:t>
            </a:r>
            <a:r>
              <a:rPr lang="en-US" sz="2800" dirty="0"/>
              <a:t>+ = BCDA</a:t>
            </a:r>
          </a:p>
          <a:p>
            <a:r>
              <a:rPr lang="en-US" sz="2800" dirty="0"/>
              <a:t>B+=BCDA</a:t>
            </a:r>
          </a:p>
          <a:p>
            <a:r>
              <a:rPr lang="en-US" sz="2800" dirty="0"/>
              <a:t>C+=CDBA</a:t>
            </a:r>
          </a:p>
          <a:p>
            <a:r>
              <a:rPr lang="en-US" sz="2800" dirty="0"/>
              <a:t>D+=DABC</a:t>
            </a:r>
          </a:p>
          <a:p>
            <a:endParaRPr lang="en-US" sz="2800" dirty="0"/>
          </a:p>
          <a:p>
            <a:r>
              <a:rPr lang="en-US" sz="2800" dirty="0"/>
              <a:t>CK={A,B,C,D}</a:t>
            </a:r>
            <a:endParaRPr lang="en-IN" sz="2800" dirty="0"/>
          </a:p>
        </p:txBody>
      </p:sp>
      <p:sp>
        <p:nvSpPr>
          <p:cNvPr id="12" name="TextBox 11">
            <a:extLst>
              <a:ext uri="{FF2B5EF4-FFF2-40B4-BE49-F238E27FC236}">
                <a16:creationId xmlns:a16="http://schemas.microsoft.com/office/drawing/2014/main" id="{2E3E8958-B3BD-D354-E4EB-07ED80718E3D}"/>
              </a:ext>
            </a:extLst>
          </p:cNvPr>
          <p:cNvSpPr txBox="1"/>
          <p:nvPr/>
        </p:nvSpPr>
        <p:spPr>
          <a:xfrm>
            <a:off x="7723410" y="4495800"/>
            <a:ext cx="4098430" cy="923330"/>
          </a:xfrm>
          <a:prstGeom prst="rect">
            <a:avLst/>
          </a:prstGeom>
          <a:noFill/>
        </p:spPr>
        <p:txBody>
          <a:bodyPr wrap="none" rtlCol="0">
            <a:spAutoFit/>
          </a:bodyPr>
          <a:lstStyle/>
          <a:p>
            <a:r>
              <a:rPr lang="en-US" dirty="0"/>
              <a:t>Prime Attribute -  The Attribute which will</a:t>
            </a:r>
          </a:p>
          <a:p>
            <a:r>
              <a:rPr lang="en-US" dirty="0"/>
              <a:t>Used in creating candidate key</a:t>
            </a:r>
          </a:p>
          <a:p>
            <a:r>
              <a:rPr lang="en-US" dirty="0"/>
              <a:t>Prime Attribute = A,B,C,D</a:t>
            </a:r>
            <a:endParaRPr lang="en-IN" dirty="0"/>
          </a:p>
        </p:txBody>
      </p:sp>
    </p:spTree>
    <p:extLst>
      <p:ext uri="{BB962C8B-B14F-4D97-AF65-F5344CB8AC3E}">
        <p14:creationId xmlns:p14="http://schemas.microsoft.com/office/powerpoint/2010/main" val="22880110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53D1-82CE-F4D8-E38D-97860AA52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98CFE-B83D-5FE6-BF43-73578468C82F}"/>
              </a:ext>
            </a:extLst>
          </p:cNvPr>
          <p:cNvSpPr>
            <a:spLocks noGrp="1"/>
          </p:cNvSpPr>
          <p:nvPr>
            <p:ph type="title"/>
          </p:nvPr>
        </p:nvSpPr>
        <p:spPr/>
        <p:txBody>
          <a:bodyPr/>
          <a:lstStyle/>
          <a:p>
            <a:r>
              <a:rPr lang="en-US" dirty="0"/>
              <a:t>Closer Method</a:t>
            </a:r>
            <a:endParaRPr lang="en-IN" dirty="0"/>
          </a:p>
        </p:txBody>
      </p:sp>
      <p:sp>
        <p:nvSpPr>
          <p:cNvPr id="4" name="TextBox 3">
            <a:extLst>
              <a:ext uri="{FF2B5EF4-FFF2-40B4-BE49-F238E27FC236}">
                <a16:creationId xmlns:a16="http://schemas.microsoft.com/office/drawing/2014/main" id="{B27B909E-E1D7-F898-135F-879B52806078}"/>
              </a:ext>
            </a:extLst>
          </p:cNvPr>
          <p:cNvSpPr txBox="1"/>
          <p:nvPr/>
        </p:nvSpPr>
        <p:spPr>
          <a:xfrm>
            <a:off x="326572" y="1452161"/>
            <a:ext cx="3265714" cy="800219"/>
          </a:xfrm>
          <a:prstGeom prst="rect">
            <a:avLst/>
          </a:prstGeom>
          <a:noFill/>
        </p:spPr>
        <p:txBody>
          <a:bodyPr wrap="square" rtlCol="0">
            <a:spAutoFit/>
          </a:bodyPr>
          <a:lstStyle/>
          <a:p>
            <a:r>
              <a:rPr lang="en-US" sz="2800" b="1" dirty="0"/>
              <a:t>Candidate Key</a:t>
            </a:r>
          </a:p>
          <a:p>
            <a:endParaRPr lang="en-IN" dirty="0"/>
          </a:p>
        </p:txBody>
      </p:sp>
      <p:sp>
        <p:nvSpPr>
          <p:cNvPr id="11" name="TextBox 10">
            <a:extLst>
              <a:ext uri="{FF2B5EF4-FFF2-40B4-BE49-F238E27FC236}">
                <a16:creationId xmlns:a16="http://schemas.microsoft.com/office/drawing/2014/main" id="{5C7D9F9A-BF71-0F4B-1F5D-BD360E3FDAF7}"/>
              </a:ext>
            </a:extLst>
          </p:cNvPr>
          <p:cNvSpPr txBox="1"/>
          <p:nvPr/>
        </p:nvSpPr>
        <p:spPr>
          <a:xfrm>
            <a:off x="1311731" y="2252380"/>
            <a:ext cx="6411679" cy="3108543"/>
          </a:xfrm>
          <a:prstGeom prst="rect">
            <a:avLst/>
          </a:prstGeom>
          <a:noFill/>
        </p:spPr>
        <p:txBody>
          <a:bodyPr wrap="square" rtlCol="0">
            <a:spAutoFit/>
          </a:bodyPr>
          <a:lstStyle/>
          <a:p>
            <a:r>
              <a:rPr lang="en-US" sz="2800" dirty="0"/>
              <a:t>R(ABCDE)</a:t>
            </a:r>
          </a:p>
          <a:p>
            <a:endParaRPr lang="en-US" sz="2800" dirty="0"/>
          </a:p>
          <a:p>
            <a:r>
              <a:rPr lang="en-US" sz="2800" dirty="0"/>
              <a:t>FD{A -&gt;B , BC</a:t>
            </a:r>
            <a:r>
              <a:rPr lang="en-US" sz="2800" dirty="0">
                <a:sym typeface="Wingdings" panose="05000000000000000000" pitchFamily="2" charset="2"/>
              </a:rPr>
              <a:t>D, EC, DA</a:t>
            </a:r>
            <a:r>
              <a:rPr lang="en-US" sz="2800" dirty="0"/>
              <a:t>}</a:t>
            </a:r>
          </a:p>
          <a:p>
            <a:r>
              <a:rPr lang="en-US" sz="2800" dirty="0"/>
              <a:t>          =BDCA</a:t>
            </a:r>
          </a:p>
          <a:p>
            <a:r>
              <a:rPr lang="en-US" sz="2800" dirty="0"/>
              <a:t>       E+=EC</a:t>
            </a:r>
          </a:p>
          <a:p>
            <a:r>
              <a:rPr lang="en-US" sz="2800" dirty="0"/>
              <a:t>   AE+=ABCDE	</a:t>
            </a:r>
          </a:p>
          <a:p>
            <a:r>
              <a:rPr lang="en-US" sz="2800" dirty="0"/>
              <a:t>   CK={AE} </a:t>
            </a:r>
          </a:p>
        </p:txBody>
      </p:sp>
    </p:spTree>
    <p:extLst>
      <p:ext uri="{BB962C8B-B14F-4D97-AF65-F5344CB8AC3E}">
        <p14:creationId xmlns:p14="http://schemas.microsoft.com/office/powerpoint/2010/main" val="6824490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692C0-EE75-9C3F-002D-EF14C52007AF}"/>
              </a:ext>
            </a:extLst>
          </p:cNvPr>
          <p:cNvSpPr>
            <a:spLocks noGrp="1"/>
          </p:cNvSpPr>
          <p:nvPr>
            <p:ph type="title"/>
          </p:nvPr>
        </p:nvSpPr>
        <p:spPr/>
        <p:txBody>
          <a:bodyPr/>
          <a:lstStyle/>
          <a:p>
            <a:r>
              <a:rPr lang="en-US" dirty="0"/>
              <a:t>Functional </a:t>
            </a:r>
            <a:r>
              <a:rPr lang="en-US" dirty="0" err="1"/>
              <a:t>Dependancy</a:t>
            </a:r>
            <a:endParaRPr lang="en-IN" dirty="0"/>
          </a:p>
        </p:txBody>
      </p:sp>
      <p:sp>
        <p:nvSpPr>
          <p:cNvPr id="4" name="TextBox 3">
            <a:extLst>
              <a:ext uri="{FF2B5EF4-FFF2-40B4-BE49-F238E27FC236}">
                <a16:creationId xmlns:a16="http://schemas.microsoft.com/office/drawing/2014/main" id="{1EF7C62C-A198-56C0-74B7-E449E16811A7}"/>
              </a:ext>
            </a:extLst>
          </p:cNvPr>
          <p:cNvSpPr txBox="1"/>
          <p:nvPr/>
        </p:nvSpPr>
        <p:spPr>
          <a:xfrm>
            <a:off x="664028" y="1690688"/>
            <a:ext cx="4441371" cy="2954655"/>
          </a:xfrm>
          <a:prstGeom prst="rect">
            <a:avLst/>
          </a:prstGeom>
          <a:noFill/>
        </p:spPr>
        <p:txBody>
          <a:bodyPr wrap="square" rtlCol="0">
            <a:spAutoFit/>
          </a:bodyPr>
          <a:lstStyle/>
          <a:p>
            <a:r>
              <a:rPr lang="en-US" sz="2400" dirty="0"/>
              <a:t>Determinant    X</a:t>
            </a:r>
            <a:r>
              <a:rPr lang="en-US" sz="2400" dirty="0">
                <a:sym typeface="Wingdings" panose="05000000000000000000" pitchFamily="2" charset="2"/>
              </a:rPr>
              <a:t>Y   </a:t>
            </a:r>
            <a:r>
              <a:rPr lang="en-US" sz="2400" dirty="0" err="1">
                <a:sym typeface="Wingdings" panose="05000000000000000000" pitchFamily="2" charset="2"/>
              </a:rPr>
              <a:t>Dependant</a:t>
            </a:r>
            <a:endParaRPr lang="en-US" sz="2400" dirty="0">
              <a:sym typeface="Wingdings" panose="05000000000000000000" pitchFamily="2" charset="2"/>
            </a:endParaRPr>
          </a:p>
          <a:p>
            <a:r>
              <a:rPr lang="en-US" sz="2400" dirty="0">
                <a:sym typeface="Wingdings" panose="05000000000000000000" pitchFamily="2" charset="2"/>
              </a:rPr>
              <a:t>X Determines Y</a:t>
            </a:r>
          </a:p>
          <a:p>
            <a:r>
              <a:rPr lang="en-US" sz="2400" dirty="0">
                <a:sym typeface="Wingdings" panose="05000000000000000000" pitchFamily="2" charset="2"/>
              </a:rPr>
              <a:t>Y is Determine by X</a:t>
            </a:r>
          </a:p>
          <a:p>
            <a:r>
              <a:rPr lang="en-US" sz="2400" dirty="0" err="1">
                <a:sym typeface="Wingdings" panose="05000000000000000000" pitchFamily="2" charset="2"/>
              </a:rPr>
              <a:t>SidSname</a:t>
            </a:r>
            <a:endParaRPr lang="en-US" sz="2400" dirty="0">
              <a:sym typeface="Wingdings" panose="05000000000000000000" pitchFamily="2" charset="2"/>
            </a:endParaRPr>
          </a:p>
          <a:p>
            <a:endParaRPr lang="en-US" sz="2400" dirty="0">
              <a:sym typeface="Wingdings" panose="05000000000000000000" pitchFamily="2" charset="2"/>
            </a:endParaRPr>
          </a:p>
          <a:p>
            <a:endParaRPr lang="en-US" sz="2400" dirty="0">
              <a:sym typeface="Wingdings" panose="05000000000000000000" pitchFamily="2" charset="2"/>
            </a:endParaRPr>
          </a:p>
          <a:p>
            <a:endParaRPr lang="en-US" sz="2400" dirty="0">
              <a:sym typeface="Wingdings" panose="05000000000000000000" pitchFamily="2" charset="2"/>
            </a:endParaRPr>
          </a:p>
          <a:p>
            <a:endParaRPr lang="en-IN" dirty="0"/>
          </a:p>
        </p:txBody>
      </p:sp>
      <p:graphicFrame>
        <p:nvGraphicFramePr>
          <p:cNvPr id="5" name="Table 4">
            <a:extLst>
              <a:ext uri="{FF2B5EF4-FFF2-40B4-BE49-F238E27FC236}">
                <a16:creationId xmlns:a16="http://schemas.microsoft.com/office/drawing/2014/main" id="{1684968A-580A-33D1-D59C-5B85798307D6}"/>
              </a:ext>
            </a:extLst>
          </p:cNvPr>
          <p:cNvGraphicFramePr>
            <a:graphicFrameLocks noGrp="1"/>
          </p:cNvGraphicFramePr>
          <p:nvPr>
            <p:extLst>
              <p:ext uri="{D42A27DB-BD31-4B8C-83A1-F6EECF244321}">
                <p14:modId xmlns:p14="http://schemas.microsoft.com/office/powerpoint/2010/main" val="3510140885"/>
              </p:ext>
            </p:extLst>
          </p:nvPr>
        </p:nvGraphicFramePr>
        <p:xfrm>
          <a:off x="870856" y="3429000"/>
          <a:ext cx="2013857"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tblGrid>
              <a:tr h="370840">
                <a:tc>
                  <a:txBody>
                    <a:bodyPr/>
                    <a:lstStyle/>
                    <a:p>
                      <a:r>
                        <a:rPr lang="en-US" dirty="0"/>
                        <a:t>Sid</a:t>
                      </a:r>
                      <a:endParaRPr lang="en-IN" dirty="0"/>
                    </a:p>
                  </a:txBody>
                  <a:tcPr/>
                </a:tc>
                <a:tc>
                  <a:txBody>
                    <a:bodyPr/>
                    <a:lstStyle/>
                    <a:p>
                      <a:r>
                        <a:rPr lang="en-US" dirty="0" err="1"/>
                        <a:t>Sname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1"/>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3"/>
                  </a:ext>
                </a:extLst>
              </a:tr>
            </a:tbl>
          </a:graphicData>
        </a:graphic>
      </p:graphicFrame>
      <p:graphicFrame>
        <p:nvGraphicFramePr>
          <p:cNvPr id="6" name="Table 5">
            <a:extLst>
              <a:ext uri="{FF2B5EF4-FFF2-40B4-BE49-F238E27FC236}">
                <a16:creationId xmlns:a16="http://schemas.microsoft.com/office/drawing/2014/main" id="{358EB49A-BCB5-9CDD-F5A6-44D492E73645}"/>
              </a:ext>
            </a:extLst>
          </p:cNvPr>
          <p:cNvGraphicFramePr>
            <a:graphicFrameLocks noGrp="1"/>
          </p:cNvGraphicFramePr>
          <p:nvPr>
            <p:extLst>
              <p:ext uri="{D42A27DB-BD31-4B8C-83A1-F6EECF244321}">
                <p14:modId xmlns:p14="http://schemas.microsoft.com/office/powerpoint/2010/main" val="2297827635"/>
              </p:ext>
            </p:extLst>
          </p:nvPr>
        </p:nvGraphicFramePr>
        <p:xfrm>
          <a:off x="947056" y="4996542"/>
          <a:ext cx="2013857"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tblGrid>
              <a:tr h="370840">
                <a:tc>
                  <a:txBody>
                    <a:bodyPr/>
                    <a:lstStyle/>
                    <a:p>
                      <a:r>
                        <a:rPr lang="en-US" dirty="0"/>
                        <a:t>Sid</a:t>
                      </a:r>
                      <a:endParaRPr lang="en-IN" dirty="0"/>
                    </a:p>
                  </a:txBody>
                  <a:tcPr/>
                </a:tc>
                <a:tc>
                  <a:txBody>
                    <a:bodyPr/>
                    <a:lstStyle/>
                    <a:p>
                      <a:r>
                        <a:rPr lang="en-US" dirty="0" err="1"/>
                        <a:t>Sname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1"/>
                  </a:ext>
                </a:extLst>
              </a:tr>
              <a:tr h="370840">
                <a:tc>
                  <a:txBody>
                    <a:bodyPr/>
                    <a:lstStyle/>
                    <a:p>
                      <a:r>
                        <a:rPr lang="en-US" dirty="0"/>
                        <a:t>2</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20265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067CC-7A10-863A-8723-4CFDB8910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959C9-7F7C-DB98-2045-78A5B814E9BE}"/>
              </a:ext>
            </a:extLst>
          </p:cNvPr>
          <p:cNvSpPr>
            <a:spLocks noGrp="1"/>
          </p:cNvSpPr>
          <p:nvPr>
            <p:ph type="title"/>
          </p:nvPr>
        </p:nvSpPr>
        <p:spPr/>
        <p:txBody>
          <a:bodyPr/>
          <a:lstStyle/>
          <a:p>
            <a:r>
              <a:rPr lang="en-US" dirty="0"/>
              <a:t>Functional Dependency</a:t>
            </a:r>
            <a:endParaRPr lang="en-IN" dirty="0"/>
          </a:p>
        </p:txBody>
      </p:sp>
      <p:sp>
        <p:nvSpPr>
          <p:cNvPr id="4" name="TextBox 3">
            <a:extLst>
              <a:ext uri="{FF2B5EF4-FFF2-40B4-BE49-F238E27FC236}">
                <a16:creationId xmlns:a16="http://schemas.microsoft.com/office/drawing/2014/main" id="{42674FD9-887D-63DC-12DF-72A36AF51A5D}"/>
              </a:ext>
            </a:extLst>
          </p:cNvPr>
          <p:cNvSpPr txBox="1"/>
          <p:nvPr/>
        </p:nvSpPr>
        <p:spPr>
          <a:xfrm>
            <a:off x="664028" y="1690688"/>
            <a:ext cx="4441371" cy="2954655"/>
          </a:xfrm>
          <a:prstGeom prst="rect">
            <a:avLst/>
          </a:prstGeom>
          <a:noFill/>
        </p:spPr>
        <p:txBody>
          <a:bodyPr wrap="square" rtlCol="0">
            <a:spAutoFit/>
          </a:bodyPr>
          <a:lstStyle/>
          <a:p>
            <a:r>
              <a:rPr lang="en-US" sz="2400" dirty="0"/>
              <a:t>Determinant    X</a:t>
            </a:r>
            <a:r>
              <a:rPr lang="en-US" sz="2400" dirty="0">
                <a:sym typeface="Wingdings" panose="05000000000000000000" pitchFamily="2" charset="2"/>
              </a:rPr>
              <a:t>Y   Dependent</a:t>
            </a:r>
          </a:p>
          <a:p>
            <a:r>
              <a:rPr lang="en-US" sz="2400" dirty="0">
                <a:sym typeface="Wingdings" panose="05000000000000000000" pitchFamily="2" charset="2"/>
              </a:rPr>
              <a:t>X Determines Y</a:t>
            </a:r>
          </a:p>
          <a:p>
            <a:r>
              <a:rPr lang="en-US" sz="2400" dirty="0">
                <a:sym typeface="Wingdings" panose="05000000000000000000" pitchFamily="2" charset="2"/>
              </a:rPr>
              <a:t>Y is Determine by X</a:t>
            </a:r>
          </a:p>
          <a:p>
            <a:r>
              <a:rPr lang="en-US" sz="2400" dirty="0" err="1">
                <a:sym typeface="Wingdings" panose="05000000000000000000" pitchFamily="2" charset="2"/>
              </a:rPr>
              <a:t>SidSname</a:t>
            </a:r>
            <a:endParaRPr lang="en-US" sz="2400" dirty="0">
              <a:sym typeface="Wingdings" panose="05000000000000000000" pitchFamily="2" charset="2"/>
            </a:endParaRPr>
          </a:p>
          <a:p>
            <a:endParaRPr lang="en-US" sz="2400" dirty="0">
              <a:sym typeface="Wingdings" panose="05000000000000000000" pitchFamily="2" charset="2"/>
            </a:endParaRPr>
          </a:p>
          <a:p>
            <a:endParaRPr lang="en-US" sz="2400" dirty="0">
              <a:sym typeface="Wingdings" panose="05000000000000000000" pitchFamily="2" charset="2"/>
            </a:endParaRPr>
          </a:p>
          <a:p>
            <a:endParaRPr lang="en-US" sz="2400" dirty="0">
              <a:sym typeface="Wingdings" panose="05000000000000000000" pitchFamily="2" charset="2"/>
            </a:endParaRPr>
          </a:p>
          <a:p>
            <a:endParaRPr lang="en-IN" dirty="0"/>
          </a:p>
        </p:txBody>
      </p:sp>
      <p:graphicFrame>
        <p:nvGraphicFramePr>
          <p:cNvPr id="5" name="Table 4">
            <a:extLst>
              <a:ext uri="{FF2B5EF4-FFF2-40B4-BE49-F238E27FC236}">
                <a16:creationId xmlns:a16="http://schemas.microsoft.com/office/drawing/2014/main" id="{40A8CB7A-434D-C834-DD0E-5A86384D5CDC}"/>
              </a:ext>
            </a:extLst>
          </p:cNvPr>
          <p:cNvGraphicFramePr>
            <a:graphicFrameLocks noGrp="1"/>
          </p:cNvGraphicFramePr>
          <p:nvPr>
            <p:extLst>
              <p:ext uri="{D42A27DB-BD31-4B8C-83A1-F6EECF244321}">
                <p14:modId xmlns:p14="http://schemas.microsoft.com/office/powerpoint/2010/main" val="2951411187"/>
              </p:ext>
            </p:extLst>
          </p:nvPr>
        </p:nvGraphicFramePr>
        <p:xfrm>
          <a:off x="4005941" y="2872740"/>
          <a:ext cx="2013857"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tblGrid>
              <a:tr h="370840">
                <a:tc>
                  <a:txBody>
                    <a:bodyPr/>
                    <a:lstStyle/>
                    <a:p>
                      <a:r>
                        <a:rPr lang="en-US" dirty="0"/>
                        <a:t>Sid</a:t>
                      </a:r>
                      <a:endParaRPr lang="en-IN" dirty="0"/>
                    </a:p>
                  </a:txBody>
                  <a:tcPr/>
                </a:tc>
                <a:tc>
                  <a:txBody>
                    <a:bodyPr/>
                    <a:lstStyle/>
                    <a:p>
                      <a:r>
                        <a:rPr lang="en-US" dirty="0" err="1"/>
                        <a:t>Sname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1"/>
                  </a:ext>
                </a:extLst>
              </a:tr>
              <a:tr h="370840">
                <a:tc>
                  <a:txBody>
                    <a:bodyPr/>
                    <a:lstStyle/>
                    <a:p>
                      <a:r>
                        <a:rPr lang="en-US" dirty="0"/>
                        <a:t>2</a:t>
                      </a:r>
                      <a:endParaRPr lang="en-IN" dirty="0"/>
                    </a:p>
                  </a:txBody>
                  <a:tcPr/>
                </a:tc>
                <a:tc>
                  <a:txBody>
                    <a:bodyPr/>
                    <a:lstStyle/>
                    <a:p>
                      <a:r>
                        <a:rPr lang="en-US" dirty="0"/>
                        <a:t>Vijay</a:t>
                      </a:r>
                      <a:endParaRPr lang="en-IN" dirty="0"/>
                    </a:p>
                  </a:txBody>
                  <a:tcPr/>
                </a:tc>
                <a:extLst>
                  <a:ext uri="{0D108BD9-81ED-4DB2-BD59-A6C34878D82A}">
                    <a16:rowId xmlns:a16="http://schemas.microsoft.com/office/drawing/2014/main" val="10003"/>
                  </a:ext>
                </a:extLst>
              </a:tr>
            </a:tbl>
          </a:graphicData>
        </a:graphic>
      </p:graphicFrame>
      <p:graphicFrame>
        <p:nvGraphicFramePr>
          <p:cNvPr id="6" name="Table 5">
            <a:extLst>
              <a:ext uri="{FF2B5EF4-FFF2-40B4-BE49-F238E27FC236}">
                <a16:creationId xmlns:a16="http://schemas.microsoft.com/office/drawing/2014/main" id="{A4BD8A8D-93DC-47C6-5923-B5D44CD60FEA}"/>
              </a:ext>
            </a:extLst>
          </p:cNvPr>
          <p:cNvGraphicFramePr>
            <a:graphicFrameLocks noGrp="1"/>
          </p:cNvGraphicFramePr>
          <p:nvPr>
            <p:extLst>
              <p:ext uri="{D42A27DB-BD31-4B8C-83A1-F6EECF244321}">
                <p14:modId xmlns:p14="http://schemas.microsoft.com/office/powerpoint/2010/main" val="3268194808"/>
              </p:ext>
            </p:extLst>
          </p:nvPr>
        </p:nvGraphicFramePr>
        <p:xfrm>
          <a:off x="3973285" y="4698183"/>
          <a:ext cx="2013857" cy="11074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tblGrid>
              <a:tr h="370840">
                <a:tc>
                  <a:txBody>
                    <a:bodyPr/>
                    <a:lstStyle/>
                    <a:p>
                      <a:r>
                        <a:rPr lang="en-US" dirty="0"/>
                        <a:t>Sid</a:t>
                      </a:r>
                      <a:endParaRPr lang="en-IN" dirty="0"/>
                    </a:p>
                  </a:txBody>
                  <a:tcPr/>
                </a:tc>
                <a:tc>
                  <a:txBody>
                    <a:bodyPr/>
                    <a:lstStyle/>
                    <a:p>
                      <a:r>
                        <a:rPr lang="en-US" dirty="0" err="1"/>
                        <a:t>Sname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1"/>
                  </a:ext>
                </a:extLst>
              </a:tr>
              <a:tr h="259807">
                <a:tc>
                  <a:txBody>
                    <a:bodyPr/>
                    <a:lstStyle/>
                    <a:p>
                      <a:r>
                        <a:rPr lang="en-US" dirty="0"/>
                        <a:t>1</a:t>
                      </a:r>
                      <a:endParaRPr lang="en-IN" dirty="0"/>
                    </a:p>
                  </a:txBody>
                  <a:tcPr/>
                </a:tc>
                <a:tc>
                  <a:txBody>
                    <a:bodyPr/>
                    <a:lstStyle/>
                    <a:p>
                      <a:r>
                        <a:rPr lang="en-US" dirty="0" err="1"/>
                        <a:t>Viajy</a:t>
                      </a:r>
                      <a:endParaRPr lang="en-IN" dirty="0"/>
                    </a:p>
                  </a:txBody>
                  <a:tcPr/>
                </a:tc>
                <a:extLst>
                  <a:ext uri="{0D108BD9-81ED-4DB2-BD59-A6C34878D82A}">
                    <a16:rowId xmlns:a16="http://schemas.microsoft.com/office/drawing/2014/main" val="10003"/>
                  </a:ext>
                </a:extLst>
              </a:tr>
            </a:tbl>
          </a:graphicData>
        </a:graphic>
      </p:graphicFrame>
      <p:graphicFrame>
        <p:nvGraphicFramePr>
          <p:cNvPr id="3" name="Table 2">
            <a:extLst>
              <a:ext uri="{FF2B5EF4-FFF2-40B4-BE49-F238E27FC236}">
                <a16:creationId xmlns:a16="http://schemas.microsoft.com/office/drawing/2014/main" id="{26E91725-6817-DFF1-24DB-7EEAEFCA3794}"/>
              </a:ext>
            </a:extLst>
          </p:cNvPr>
          <p:cNvGraphicFramePr>
            <a:graphicFrameLocks noGrp="1"/>
          </p:cNvGraphicFramePr>
          <p:nvPr>
            <p:extLst>
              <p:ext uri="{D42A27DB-BD31-4B8C-83A1-F6EECF244321}">
                <p14:modId xmlns:p14="http://schemas.microsoft.com/office/powerpoint/2010/main" val="1242390460"/>
              </p:ext>
            </p:extLst>
          </p:nvPr>
        </p:nvGraphicFramePr>
        <p:xfrm>
          <a:off x="6574970" y="2872740"/>
          <a:ext cx="2013857"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tblGrid>
              <a:tr h="370840">
                <a:tc>
                  <a:txBody>
                    <a:bodyPr/>
                    <a:lstStyle/>
                    <a:p>
                      <a:r>
                        <a:rPr lang="en-US" dirty="0"/>
                        <a:t>Sid</a:t>
                      </a:r>
                      <a:endParaRPr lang="en-IN" dirty="0"/>
                    </a:p>
                  </a:txBody>
                  <a:tcPr/>
                </a:tc>
                <a:tc>
                  <a:txBody>
                    <a:bodyPr/>
                    <a:lstStyle/>
                    <a:p>
                      <a:r>
                        <a:rPr lang="en-US" dirty="0" err="1"/>
                        <a:t>Sname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1"/>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3"/>
                  </a:ext>
                </a:extLst>
              </a:tr>
            </a:tbl>
          </a:graphicData>
        </a:graphic>
      </p:graphicFrame>
      <p:graphicFrame>
        <p:nvGraphicFramePr>
          <p:cNvPr id="7" name="Table 6">
            <a:extLst>
              <a:ext uri="{FF2B5EF4-FFF2-40B4-BE49-F238E27FC236}">
                <a16:creationId xmlns:a16="http://schemas.microsoft.com/office/drawing/2014/main" id="{FBCE2439-AD51-F3F0-9E65-99E0439F2995}"/>
              </a:ext>
            </a:extLst>
          </p:cNvPr>
          <p:cNvGraphicFramePr>
            <a:graphicFrameLocks noGrp="1"/>
          </p:cNvGraphicFramePr>
          <p:nvPr>
            <p:extLst>
              <p:ext uri="{D42A27DB-BD31-4B8C-83A1-F6EECF244321}">
                <p14:modId xmlns:p14="http://schemas.microsoft.com/office/powerpoint/2010/main" val="458612036"/>
              </p:ext>
            </p:extLst>
          </p:nvPr>
        </p:nvGraphicFramePr>
        <p:xfrm>
          <a:off x="6574969" y="4714875"/>
          <a:ext cx="2013857"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997857">
                  <a:extLst>
                    <a:ext uri="{9D8B030D-6E8A-4147-A177-3AD203B41FA5}">
                      <a16:colId xmlns:a16="http://schemas.microsoft.com/office/drawing/2014/main" val="20001"/>
                    </a:ext>
                  </a:extLst>
                </a:gridCol>
              </a:tblGrid>
              <a:tr h="370840">
                <a:tc>
                  <a:txBody>
                    <a:bodyPr/>
                    <a:lstStyle/>
                    <a:p>
                      <a:r>
                        <a:rPr lang="en-US" dirty="0"/>
                        <a:t>Sid</a:t>
                      </a:r>
                      <a:endParaRPr lang="en-IN" dirty="0"/>
                    </a:p>
                  </a:txBody>
                  <a:tcPr/>
                </a:tc>
                <a:tc>
                  <a:txBody>
                    <a:bodyPr/>
                    <a:lstStyle/>
                    <a:p>
                      <a:r>
                        <a:rPr lang="en-US" dirty="0" err="1"/>
                        <a:t>Sname</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1"/>
                  </a:ext>
                </a:extLst>
              </a:tr>
              <a:tr h="370840">
                <a:tc>
                  <a:txBody>
                    <a:bodyPr/>
                    <a:lstStyle/>
                    <a:p>
                      <a:r>
                        <a:rPr lang="en-US" dirty="0"/>
                        <a:t>2</a:t>
                      </a:r>
                      <a:endParaRPr lang="en-IN" dirty="0"/>
                    </a:p>
                  </a:txBody>
                  <a:tcPr/>
                </a:tc>
                <a:tc>
                  <a:txBody>
                    <a:bodyPr/>
                    <a:lstStyle/>
                    <a:p>
                      <a:r>
                        <a:rPr lang="en-US" dirty="0"/>
                        <a:t>Ajay</a:t>
                      </a:r>
                      <a:endParaRPr lang="en-IN"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542466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08F3-9442-1F92-1F44-046C2BB31F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9794B-D8BB-1691-5990-193F02C5F17E}"/>
              </a:ext>
            </a:extLst>
          </p:cNvPr>
          <p:cNvSpPr>
            <a:spLocks noGrp="1"/>
          </p:cNvSpPr>
          <p:nvPr>
            <p:ph type="title"/>
          </p:nvPr>
        </p:nvSpPr>
        <p:spPr/>
        <p:txBody>
          <a:bodyPr/>
          <a:lstStyle/>
          <a:p>
            <a:r>
              <a:rPr lang="en-US" dirty="0"/>
              <a:t>Functional Dependency</a:t>
            </a:r>
            <a:endParaRPr lang="en-IN" dirty="0"/>
          </a:p>
        </p:txBody>
      </p:sp>
      <p:sp>
        <p:nvSpPr>
          <p:cNvPr id="10" name="TextBox 9">
            <a:extLst>
              <a:ext uri="{FF2B5EF4-FFF2-40B4-BE49-F238E27FC236}">
                <a16:creationId xmlns:a16="http://schemas.microsoft.com/office/drawing/2014/main" id="{A0EDBA48-1601-27BB-3EFE-378E7FB5271C}"/>
              </a:ext>
            </a:extLst>
          </p:cNvPr>
          <p:cNvSpPr txBox="1"/>
          <p:nvPr/>
        </p:nvSpPr>
        <p:spPr>
          <a:xfrm>
            <a:off x="1219199" y="1534886"/>
            <a:ext cx="5061858" cy="3046988"/>
          </a:xfrm>
          <a:prstGeom prst="rect">
            <a:avLst/>
          </a:prstGeom>
          <a:noFill/>
        </p:spPr>
        <p:txBody>
          <a:bodyPr wrap="square" rtlCol="0">
            <a:spAutoFit/>
          </a:bodyPr>
          <a:lstStyle/>
          <a:p>
            <a:r>
              <a:rPr lang="en-US" sz="2400" dirty="0"/>
              <a:t>Types -  1. Trivial</a:t>
            </a:r>
          </a:p>
          <a:p>
            <a:r>
              <a:rPr lang="en-US" sz="2400" dirty="0"/>
              <a:t>               2.  Non Trivial</a:t>
            </a:r>
          </a:p>
          <a:p>
            <a:endParaRPr lang="en-US" sz="2400" dirty="0"/>
          </a:p>
          <a:p>
            <a:endParaRPr lang="en-US" sz="2400" dirty="0"/>
          </a:p>
          <a:p>
            <a:pPr marL="342900" indent="-342900">
              <a:buAutoNum type="arabicPeriod"/>
            </a:pPr>
            <a:r>
              <a:rPr lang="en-US" sz="2400" dirty="0"/>
              <a:t>Trivial- </a:t>
            </a:r>
          </a:p>
          <a:p>
            <a:r>
              <a:rPr lang="en-US" sz="2400" dirty="0"/>
              <a:t>	X</a:t>
            </a:r>
            <a:r>
              <a:rPr lang="en-US" sz="2400" dirty="0">
                <a:sym typeface="Wingdings" panose="05000000000000000000" pitchFamily="2" charset="2"/>
              </a:rPr>
              <a:t>Y</a:t>
            </a:r>
          </a:p>
          <a:p>
            <a:r>
              <a:rPr lang="en-US" sz="2400" dirty="0">
                <a:sym typeface="Wingdings" panose="05000000000000000000" pitchFamily="2" charset="2"/>
              </a:rPr>
              <a:t>	Y is subset of X</a:t>
            </a:r>
          </a:p>
          <a:p>
            <a:r>
              <a:rPr lang="en-US" sz="2400" dirty="0">
                <a:sym typeface="Wingdings" panose="05000000000000000000" pitchFamily="2" charset="2"/>
              </a:rPr>
              <a:t>	Sname,</a:t>
            </a:r>
            <a:r>
              <a:rPr lang="en-US" sz="2400" dirty="0" err="1">
                <a:sym typeface="Wingdings" panose="05000000000000000000" pitchFamily="2" charset="2"/>
              </a:rPr>
              <a:t>PhoneNo</a:t>
            </a:r>
            <a:r>
              <a:rPr lang="en-US" sz="2400" dirty="0">
                <a:sym typeface="Wingdings" panose="05000000000000000000" pitchFamily="2" charset="2"/>
              </a:rPr>
              <a:t>.</a:t>
            </a:r>
            <a:r>
              <a:rPr lang="en-US" sz="2400" dirty="0" err="1">
                <a:sym typeface="Wingdings" panose="05000000000000000000" pitchFamily="2" charset="2"/>
              </a:rPr>
              <a:t>Phoneno</a:t>
            </a:r>
            <a:endParaRPr lang="en-IN" sz="2400" dirty="0"/>
          </a:p>
        </p:txBody>
      </p:sp>
      <p:sp>
        <p:nvSpPr>
          <p:cNvPr id="11" name="Explosion: 8 Points 10">
            <a:extLst>
              <a:ext uri="{FF2B5EF4-FFF2-40B4-BE49-F238E27FC236}">
                <a16:creationId xmlns:a16="http://schemas.microsoft.com/office/drawing/2014/main" id="{24BCC997-3AF9-0065-3915-2DDB70CBAB3A}"/>
              </a:ext>
            </a:extLst>
          </p:cNvPr>
          <p:cNvSpPr/>
          <p:nvPr/>
        </p:nvSpPr>
        <p:spPr>
          <a:xfrm>
            <a:off x="315685" y="4452309"/>
            <a:ext cx="3287485" cy="2040566"/>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Always Valid</a:t>
            </a:r>
            <a:endParaRPr lang="en-IN" sz="2400" b="1" dirty="0"/>
          </a:p>
        </p:txBody>
      </p:sp>
      <p:cxnSp>
        <p:nvCxnSpPr>
          <p:cNvPr id="13" name="Straight Connector 12">
            <a:extLst>
              <a:ext uri="{FF2B5EF4-FFF2-40B4-BE49-F238E27FC236}">
                <a16:creationId xmlns:a16="http://schemas.microsoft.com/office/drawing/2014/main" id="{617898EB-3FA5-3904-3B47-851184DB960E}"/>
              </a:ext>
            </a:extLst>
          </p:cNvPr>
          <p:cNvCxnSpPr/>
          <p:nvPr/>
        </p:nvCxnSpPr>
        <p:spPr>
          <a:xfrm>
            <a:off x="5954486" y="1458686"/>
            <a:ext cx="0" cy="5279571"/>
          </a:xfrm>
          <a:prstGeom prst="line">
            <a:avLst/>
          </a:prstGeom>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59DEC6DE-0822-90AE-A672-1E6FEB31CB45}"/>
              </a:ext>
            </a:extLst>
          </p:cNvPr>
          <p:cNvSpPr txBox="1"/>
          <p:nvPr/>
        </p:nvSpPr>
        <p:spPr>
          <a:xfrm>
            <a:off x="6460669" y="1524001"/>
            <a:ext cx="5061858" cy="4524315"/>
          </a:xfrm>
          <a:prstGeom prst="rect">
            <a:avLst/>
          </a:prstGeom>
          <a:noFill/>
        </p:spPr>
        <p:txBody>
          <a:bodyPr wrap="square" rtlCol="0">
            <a:spAutoFit/>
          </a:bodyPr>
          <a:lstStyle/>
          <a:p>
            <a:r>
              <a:rPr lang="en-US" sz="2400" dirty="0"/>
              <a:t>Types -  1. Trivial</a:t>
            </a:r>
          </a:p>
          <a:p>
            <a:r>
              <a:rPr lang="en-US" sz="2400" dirty="0"/>
              <a:t>               2.  Non Trivial</a:t>
            </a:r>
          </a:p>
          <a:p>
            <a:endParaRPr lang="en-US" sz="2400" dirty="0"/>
          </a:p>
          <a:p>
            <a:endParaRPr lang="en-US" sz="2400" dirty="0"/>
          </a:p>
          <a:p>
            <a:pPr marL="457200" indent="-457200">
              <a:buAutoNum type="arabicPeriod" startAt="2"/>
            </a:pPr>
            <a:r>
              <a:rPr lang="en-US" sz="2400" dirty="0"/>
              <a:t>Non-Trivial-</a:t>
            </a:r>
          </a:p>
          <a:p>
            <a:r>
              <a:rPr lang="en-US" sz="2400" dirty="0"/>
              <a:t>	X</a:t>
            </a:r>
            <a:r>
              <a:rPr lang="en-US" sz="2400" dirty="0">
                <a:sym typeface="Wingdings" panose="05000000000000000000" pitchFamily="2" charset="2"/>
              </a:rPr>
              <a:t>Y</a:t>
            </a:r>
          </a:p>
          <a:p>
            <a:r>
              <a:rPr lang="en-US" sz="2400" dirty="0">
                <a:sym typeface="Wingdings" panose="05000000000000000000" pitchFamily="2" charset="2"/>
              </a:rPr>
              <a:t>	Y is not subset of X</a:t>
            </a:r>
          </a:p>
          <a:p>
            <a:r>
              <a:rPr lang="en-US" sz="2400" dirty="0">
                <a:sym typeface="Wingdings" panose="05000000000000000000" pitchFamily="2" charset="2"/>
              </a:rPr>
              <a:t>	</a:t>
            </a:r>
            <a:r>
              <a:rPr lang="en-US" sz="2400" dirty="0" err="1">
                <a:sym typeface="Wingdings" panose="05000000000000000000" pitchFamily="2" charset="2"/>
              </a:rPr>
              <a:t>Sidsname</a:t>
            </a:r>
            <a:endParaRPr lang="en-US" sz="2400" dirty="0">
              <a:sym typeface="Wingdings" panose="05000000000000000000" pitchFamily="2" charset="2"/>
            </a:endParaRPr>
          </a:p>
          <a:p>
            <a:r>
              <a:rPr lang="en-US" sz="2400" dirty="0">
                <a:sym typeface="Wingdings" panose="05000000000000000000" pitchFamily="2" charset="2"/>
              </a:rPr>
              <a:t>	</a:t>
            </a:r>
            <a:r>
              <a:rPr lang="en-US" sz="2400" dirty="0" err="1">
                <a:sym typeface="Wingdings" panose="05000000000000000000" pitchFamily="2" charset="2"/>
              </a:rPr>
              <a:t>Siddeptname</a:t>
            </a:r>
            <a:endParaRPr lang="en-US" sz="2400" dirty="0">
              <a:sym typeface="Wingdings" panose="05000000000000000000" pitchFamily="2" charset="2"/>
            </a:endParaRPr>
          </a:p>
          <a:p>
            <a:r>
              <a:rPr lang="en-US" sz="2400" dirty="0">
                <a:sym typeface="Wingdings" panose="05000000000000000000" pitchFamily="2" charset="2"/>
              </a:rPr>
              <a:t>	</a:t>
            </a:r>
            <a:r>
              <a:rPr lang="en-US" sz="2400" dirty="0" err="1">
                <a:sym typeface="Wingdings" panose="05000000000000000000" pitchFamily="2" charset="2"/>
              </a:rPr>
              <a:t>SidPhone_no</a:t>
            </a:r>
            <a:endParaRPr lang="en-IN" sz="2400" dirty="0"/>
          </a:p>
          <a:p>
            <a:r>
              <a:rPr lang="en-US" sz="2400" dirty="0"/>
              <a:t> </a:t>
            </a:r>
          </a:p>
          <a:p>
            <a:r>
              <a:rPr lang="en-US" sz="2400" dirty="0"/>
              <a:t>	</a:t>
            </a:r>
            <a:endParaRPr lang="en-IN" sz="2400" dirty="0"/>
          </a:p>
        </p:txBody>
      </p:sp>
    </p:spTree>
    <p:extLst>
      <p:ext uri="{BB962C8B-B14F-4D97-AF65-F5344CB8AC3E}">
        <p14:creationId xmlns:p14="http://schemas.microsoft.com/office/powerpoint/2010/main" val="23303196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553EF-47DD-A6F3-8F37-7DF1483DDEFD}"/>
              </a:ext>
            </a:extLst>
          </p:cNvPr>
          <p:cNvSpPr>
            <a:spLocks noGrp="1"/>
          </p:cNvSpPr>
          <p:nvPr>
            <p:ph type="title"/>
          </p:nvPr>
        </p:nvSpPr>
        <p:spPr/>
        <p:txBody>
          <a:bodyPr/>
          <a:lstStyle/>
          <a:p>
            <a:r>
              <a:rPr lang="en-US" dirty="0"/>
              <a:t>Properties of Functional Dependency</a:t>
            </a:r>
            <a:endParaRPr lang="en-IN" dirty="0"/>
          </a:p>
        </p:txBody>
      </p:sp>
      <p:sp>
        <p:nvSpPr>
          <p:cNvPr id="3" name="Content Placeholder 2">
            <a:extLst>
              <a:ext uri="{FF2B5EF4-FFF2-40B4-BE49-F238E27FC236}">
                <a16:creationId xmlns:a16="http://schemas.microsoft.com/office/drawing/2014/main" id="{DFB90757-BA72-8AC7-3F39-E56FBE8472D0}"/>
              </a:ext>
            </a:extLst>
          </p:cNvPr>
          <p:cNvSpPr>
            <a:spLocks noGrp="1"/>
          </p:cNvSpPr>
          <p:nvPr>
            <p:ph idx="1"/>
          </p:nvPr>
        </p:nvSpPr>
        <p:spPr/>
        <p:txBody>
          <a:bodyPr>
            <a:normAutofit lnSpcReduction="10000"/>
          </a:bodyPr>
          <a:lstStyle/>
          <a:p>
            <a:pPr>
              <a:lnSpc>
                <a:spcPct val="150000"/>
              </a:lnSpc>
            </a:pPr>
            <a:r>
              <a:rPr lang="en-US" dirty="0"/>
              <a:t>Reflexivity: if Y is subset of X then X</a:t>
            </a:r>
            <a:r>
              <a:rPr lang="en-US" dirty="0">
                <a:sym typeface="Wingdings" panose="05000000000000000000" pitchFamily="2" charset="2"/>
              </a:rPr>
              <a:t>Y</a:t>
            </a:r>
          </a:p>
          <a:p>
            <a:pPr>
              <a:lnSpc>
                <a:spcPct val="150000"/>
              </a:lnSpc>
            </a:pPr>
            <a:r>
              <a:rPr lang="en-US" dirty="0">
                <a:sym typeface="Wingdings" panose="05000000000000000000" pitchFamily="2" charset="2"/>
              </a:rPr>
              <a:t>Augmentation :  if XY then XZYZ</a:t>
            </a:r>
          </a:p>
          <a:p>
            <a:pPr>
              <a:lnSpc>
                <a:spcPct val="150000"/>
              </a:lnSpc>
            </a:pPr>
            <a:r>
              <a:rPr lang="en-US" dirty="0">
                <a:sym typeface="Wingdings" panose="05000000000000000000" pitchFamily="2" charset="2"/>
              </a:rPr>
              <a:t>Transitive : if XY and YZ then XZ</a:t>
            </a:r>
          </a:p>
          <a:p>
            <a:pPr>
              <a:lnSpc>
                <a:spcPct val="150000"/>
              </a:lnSpc>
            </a:pPr>
            <a:r>
              <a:rPr lang="en-US" dirty="0">
                <a:sym typeface="Wingdings" panose="05000000000000000000" pitchFamily="2" charset="2"/>
              </a:rPr>
              <a:t>Union :  if XY and XZ then XYZ</a:t>
            </a:r>
          </a:p>
          <a:p>
            <a:pPr>
              <a:lnSpc>
                <a:spcPct val="150000"/>
              </a:lnSpc>
            </a:pPr>
            <a:r>
              <a:rPr lang="en-US" dirty="0">
                <a:sym typeface="Wingdings" panose="05000000000000000000" pitchFamily="2" charset="2"/>
              </a:rPr>
              <a:t>Decomposition : if XYZ then XY and XZ</a:t>
            </a:r>
          </a:p>
          <a:p>
            <a:pPr>
              <a:lnSpc>
                <a:spcPct val="150000"/>
              </a:lnSpc>
            </a:pPr>
            <a:r>
              <a:rPr lang="en-US" dirty="0" err="1">
                <a:sym typeface="Wingdings" panose="05000000000000000000" pitchFamily="2" charset="2"/>
              </a:rPr>
              <a:t>Psedutransitivity</a:t>
            </a:r>
            <a:r>
              <a:rPr lang="en-US" dirty="0">
                <a:sym typeface="Wingdings" panose="05000000000000000000" pitchFamily="2" charset="2"/>
              </a:rPr>
              <a:t> : if XY and WYZ then WXZ </a:t>
            </a:r>
            <a:r>
              <a:rPr lang="en-US" dirty="0"/>
              <a:t> </a:t>
            </a:r>
            <a:endParaRPr lang="en-IN" dirty="0"/>
          </a:p>
        </p:txBody>
      </p:sp>
    </p:spTree>
    <p:extLst>
      <p:ext uri="{BB962C8B-B14F-4D97-AF65-F5344CB8AC3E}">
        <p14:creationId xmlns:p14="http://schemas.microsoft.com/office/powerpoint/2010/main" val="886117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DB1F-9FFB-A7A3-6474-E76A157847C5}"/>
              </a:ext>
            </a:extLst>
          </p:cNvPr>
          <p:cNvSpPr>
            <a:spLocks noGrp="1"/>
          </p:cNvSpPr>
          <p:nvPr>
            <p:ph type="title"/>
          </p:nvPr>
        </p:nvSpPr>
        <p:spPr/>
        <p:txBody>
          <a:bodyPr/>
          <a:lstStyle/>
          <a:p>
            <a:r>
              <a:rPr lang="en-US" dirty="0"/>
              <a:t>Second NORMAL FORM(2NF)</a:t>
            </a:r>
            <a:endParaRPr lang="en-IN" dirty="0"/>
          </a:p>
        </p:txBody>
      </p:sp>
      <p:sp>
        <p:nvSpPr>
          <p:cNvPr id="3" name="Content Placeholder 2">
            <a:extLst>
              <a:ext uri="{FF2B5EF4-FFF2-40B4-BE49-F238E27FC236}">
                <a16:creationId xmlns:a16="http://schemas.microsoft.com/office/drawing/2014/main" id="{C5EC3E16-E6BD-FF6B-7997-2E0E7DC78CDA}"/>
              </a:ext>
            </a:extLst>
          </p:cNvPr>
          <p:cNvSpPr>
            <a:spLocks noGrp="1"/>
          </p:cNvSpPr>
          <p:nvPr>
            <p:ph idx="1"/>
          </p:nvPr>
        </p:nvSpPr>
        <p:spPr/>
        <p:txBody>
          <a:bodyPr/>
          <a:lstStyle/>
          <a:p>
            <a:r>
              <a:rPr lang="en-US" dirty="0"/>
              <a:t>RULE- </a:t>
            </a:r>
          </a:p>
          <a:p>
            <a:pPr marL="514350" indent="-514350">
              <a:buAutoNum type="arabicPeriod"/>
            </a:pPr>
            <a:r>
              <a:rPr lang="en-US" dirty="0"/>
              <a:t>Table must be in 1NF</a:t>
            </a:r>
          </a:p>
          <a:p>
            <a:pPr marL="514350" indent="-514350">
              <a:buAutoNum type="arabicPeriod"/>
            </a:pPr>
            <a:r>
              <a:rPr lang="en-US" dirty="0"/>
              <a:t>All the Non-Prime attribute should be fully functional dependent of Candidate key </a:t>
            </a:r>
            <a:endParaRPr lang="en-IN" dirty="0"/>
          </a:p>
        </p:txBody>
      </p:sp>
    </p:spTree>
    <p:extLst>
      <p:ext uri="{BB962C8B-B14F-4D97-AF65-F5344CB8AC3E}">
        <p14:creationId xmlns:p14="http://schemas.microsoft.com/office/powerpoint/2010/main" val="4256679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7820BE9-2119-3432-0563-AA342D6D1510}"/>
              </a:ext>
            </a:extLst>
          </p:cNvPr>
          <p:cNvGraphicFramePr>
            <a:graphicFrameLocks noGrp="1"/>
          </p:cNvGraphicFramePr>
          <p:nvPr>
            <p:extLst>
              <p:ext uri="{D42A27DB-BD31-4B8C-83A1-F6EECF244321}">
                <p14:modId xmlns:p14="http://schemas.microsoft.com/office/powerpoint/2010/main" val="405792581"/>
              </p:ext>
            </p:extLst>
          </p:nvPr>
        </p:nvGraphicFramePr>
        <p:xfrm>
          <a:off x="739628" y="283029"/>
          <a:ext cx="3832372" cy="2534435"/>
        </p:xfrm>
        <a:graphic>
          <a:graphicData uri="http://schemas.openxmlformats.org/drawingml/2006/table">
            <a:tbl>
              <a:tblPr firstRow="1" bandRow="1">
                <a:tableStyleId>{5C22544A-7EE6-4342-B048-85BDC9FD1C3A}</a:tableStyleId>
              </a:tblPr>
              <a:tblGrid>
                <a:gridCol w="1153833">
                  <a:extLst>
                    <a:ext uri="{9D8B030D-6E8A-4147-A177-3AD203B41FA5}">
                      <a16:colId xmlns:a16="http://schemas.microsoft.com/office/drawing/2014/main" val="20000"/>
                    </a:ext>
                  </a:extLst>
                </a:gridCol>
                <a:gridCol w="1133228">
                  <a:extLst>
                    <a:ext uri="{9D8B030D-6E8A-4147-A177-3AD203B41FA5}">
                      <a16:colId xmlns:a16="http://schemas.microsoft.com/office/drawing/2014/main" val="20001"/>
                    </a:ext>
                  </a:extLst>
                </a:gridCol>
                <a:gridCol w="1545311">
                  <a:extLst>
                    <a:ext uri="{9D8B030D-6E8A-4147-A177-3AD203B41FA5}">
                      <a16:colId xmlns:a16="http://schemas.microsoft.com/office/drawing/2014/main" val="20002"/>
                    </a:ext>
                  </a:extLst>
                </a:gridCol>
              </a:tblGrid>
              <a:tr h="120469">
                <a:tc>
                  <a:txBody>
                    <a:bodyPr/>
                    <a:lstStyle/>
                    <a:p>
                      <a:r>
                        <a:rPr lang="en-US" dirty="0" err="1"/>
                        <a:t>Custome</a:t>
                      </a:r>
                      <a:r>
                        <a:rPr lang="en-US" dirty="0"/>
                        <a:t> ID </a:t>
                      </a:r>
                      <a:endParaRPr lang="en-IN" dirty="0"/>
                    </a:p>
                  </a:txBody>
                  <a:tcPr/>
                </a:tc>
                <a:tc>
                  <a:txBody>
                    <a:bodyPr/>
                    <a:lstStyle/>
                    <a:p>
                      <a:r>
                        <a:rPr lang="en-US" dirty="0"/>
                        <a:t>Store ID </a:t>
                      </a:r>
                      <a:endParaRPr lang="en-IN" dirty="0"/>
                    </a:p>
                  </a:txBody>
                  <a:tcPr/>
                </a:tc>
                <a:tc>
                  <a:txBody>
                    <a:bodyPr/>
                    <a:lstStyle/>
                    <a:p>
                      <a:r>
                        <a:rPr lang="en-US" dirty="0"/>
                        <a:t>Location</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Delhi</a:t>
                      </a:r>
                      <a:endParaRPr lang="en-IN" dirty="0"/>
                    </a:p>
                  </a:txBody>
                  <a:tcPr/>
                </a:tc>
                <a:extLst>
                  <a:ext uri="{0D108BD9-81ED-4DB2-BD59-A6C34878D82A}">
                    <a16:rowId xmlns:a16="http://schemas.microsoft.com/office/drawing/2014/main" val="10001"/>
                  </a:ext>
                </a:extLst>
              </a:tr>
              <a:tr h="410995">
                <a:tc>
                  <a:txBody>
                    <a:bodyPr/>
                    <a:lstStyle/>
                    <a:p>
                      <a:r>
                        <a:rPr lang="en-US" dirty="0"/>
                        <a:t>1</a:t>
                      </a:r>
                      <a:endParaRPr lang="en-IN" dirty="0"/>
                    </a:p>
                  </a:txBody>
                  <a:tcPr/>
                </a:tc>
                <a:tc>
                  <a:txBody>
                    <a:bodyPr/>
                    <a:lstStyle/>
                    <a:p>
                      <a:r>
                        <a:rPr lang="en-US" dirty="0"/>
                        <a:t>3</a:t>
                      </a:r>
                      <a:endParaRPr lang="en-IN" dirty="0"/>
                    </a:p>
                  </a:txBody>
                  <a:tcPr/>
                </a:tc>
                <a:tc>
                  <a:txBody>
                    <a:bodyPr/>
                    <a:lstStyle/>
                    <a:p>
                      <a:r>
                        <a:rPr lang="en-US" dirty="0"/>
                        <a:t>Mumbai</a:t>
                      </a:r>
                      <a:endParaRPr lang="en-IN" dirty="0"/>
                    </a:p>
                  </a:txBody>
                  <a:tcPr/>
                </a:tc>
                <a:extLst>
                  <a:ext uri="{0D108BD9-81ED-4DB2-BD59-A6C34878D82A}">
                    <a16:rowId xmlns:a16="http://schemas.microsoft.com/office/drawing/2014/main" val="10002"/>
                  </a:ext>
                </a:extLst>
              </a:tr>
              <a:tr h="370840">
                <a:tc>
                  <a:txBody>
                    <a:bodyPr/>
                    <a:lstStyle/>
                    <a:p>
                      <a:r>
                        <a:rPr lang="en-US" dirty="0"/>
                        <a:t>2</a:t>
                      </a:r>
                      <a:endParaRPr lang="en-IN" dirty="0"/>
                    </a:p>
                  </a:txBody>
                  <a:tcPr/>
                </a:tc>
                <a:tc>
                  <a:txBody>
                    <a:bodyPr/>
                    <a:lstStyle/>
                    <a:p>
                      <a:r>
                        <a:rPr lang="en-US" dirty="0"/>
                        <a:t>1</a:t>
                      </a:r>
                      <a:endParaRPr lang="en-IN" dirty="0"/>
                    </a:p>
                  </a:txBody>
                  <a:tcPr/>
                </a:tc>
                <a:tc>
                  <a:txBody>
                    <a:bodyPr/>
                    <a:lstStyle/>
                    <a:p>
                      <a:r>
                        <a:rPr lang="en-US" dirty="0"/>
                        <a:t>Delhi</a:t>
                      </a:r>
                      <a:endParaRPr lang="en-IN" dirty="0"/>
                    </a:p>
                  </a:txBody>
                  <a:tcPr/>
                </a:tc>
                <a:extLst>
                  <a:ext uri="{0D108BD9-81ED-4DB2-BD59-A6C34878D82A}">
                    <a16:rowId xmlns:a16="http://schemas.microsoft.com/office/drawing/2014/main" val="10003"/>
                  </a:ext>
                </a:extLst>
              </a:tr>
              <a:tr h="370840">
                <a:tc>
                  <a:txBody>
                    <a:bodyPr/>
                    <a:lstStyle/>
                    <a:p>
                      <a:r>
                        <a:rPr lang="en-US" dirty="0"/>
                        <a:t>3</a:t>
                      </a:r>
                      <a:endParaRPr lang="en-IN" dirty="0"/>
                    </a:p>
                  </a:txBody>
                  <a:tcPr/>
                </a:tc>
                <a:tc>
                  <a:txBody>
                    <a:bodyPr/>
                    <a:lstStyle/>
                    <a:p>
                      <a:r>
                        <a:rPr lang="en-US" dirty="0"/>
                        <a:t>2</a:t>
                      </a:r>
                      <a:endParaRPr lang="en-IN" dirty="0"/>
                    </a:p>
                  </a:txBody>
                  <a:tcPr/>
                </a:tc>
                <a:tc>
                  <a:txBody>
                    <a:bodyPr/>
                    <a:lstStyle/>
                    <a:p>
                      <a:r>
                        <a:rPr lang="en-US" dirty="0" err="1"/>
                        <a:t>Banglore</a:t>
                      </a:r>
                      <a:endParaRPr lang="en-IN" dirty="0"/>
                    </a:p>
                  </a:txBody>
                  <a:tcPr/>
                </a:tc>
                <a:extLst>
                  <a:ext uri="{0D108BD9-81ED-4DB2-BD59-A6C34878D82A}">
                    <a16:rowId xmlns:a16="http://schemas.microsoft.com/office/drawing/2014/main" val="186239784"/>
                  </a:ext>
                </a:extLst>
              </a:tr>
              <a:tr h="370840">
                <a:tc>
                  <a:txBody>
                    <a:bodyPr/>
                    <a:lstStyle/>
                    <a:p>
                      <a:r>
                        <a:rPr lang="en-US" dirty="0"/>
                        <a:t>4</a:t>
                      </a:r>
                      <a:endParaRPr lang="en-IN" dirty="0"/>
                    </a:p>
                  </a:txBody>
                  <a:tcPr/>
                </a:tc>
                <a:tc>
                  <a:txBody>
                    <a:bodyPr/>
                    <a:lstStyle/>
                    <a:p>
                      <a:r>
                        <a:rPr lang="en-US" dirty="0"/>
                        <a:t>3</a:t>
                      </a:r>
                      <a:endParaRPr lang="en-IN" dirty="0"/>
                    </a:p>
                  </a:txBody>
                  <a:tcPr/>
                </a:tc>
                <a:tc>
                  <a:txBody>
                    <a:bodyPr/>
                    <a:lstStyle/>
                    <a:p>
                      <a:r>
                        <a:rPr lang="en-US" dirty="0"/>
                        <a:t>Mumbai</a:t>
                      </a:r>
                      <a:endParaRPr lang="en-IN" dirty="0"/>
                    </a:p>
                  </a:txBody>
                  <a:tcPr/>
                </a:tc>
                <a:extLst>
                  <a:ext uri="{0D108BD9-81ED-4DB2-BD59-A6C34878D82A}">
                    <a16:rowId xmlns:a16="http://schemas.microsoft.com/office/drawing/2014/main" val="3200753470"/>
                  </a:ext>
                </a:extLst>
              </a:tr>
            </a:tbl>
          </a:graphicData>
        </a:graphic>
      </p:graphicFrame>
      <p:sp>
        <p:nvSpPr>
          <p:cNvPr id="5" name="TextBox 4">
            <a:extLst>
              <a:ext uri="{FF2B5EF4-FFF2-40B4-BE49-F238E27FC236}">
                <a16:creationId xmlns:a16="http://schemas.microsoft.com/office/drawing/2014/main" id="{579EE80C-1B7A-48D5-A143-F57A4F4514A8}"/>
              </a:ext>
            </a:extLst>
          </p:cNvPr>
          <p:cNvSpPr txBox="1"/>
          <p:nvPr/>
        </p:nvSpPr>
        <p:spPr>
          <a:xfrm>
            <a:off x="4709459" y="283029"/>
            <a:ext cx="3889719" cy="369332"/>
          </a:xfrm>
          <a:prstGeom prst="rect">
            <a:avLst/>
          </a:prstGeom>
          <a:noFill/>
        </p:spPr>
        <p:txBody>
          <a:bodyPr wrap="none" rtlCol="0">
            <a:spAutoFit/>
          </a:bodyPr>
          <a:lstStyle/>
          <a:p>
            <a:r>
              <a:rPr lang="en-US" dirty="0"/>
              <a:t>Candidate Key: </a:t>
            </a:r>
            <a:r>
              <a:rPr lang="en-US" dirty="0" err="1"/>
              <a:t>Customer_ID</a:t>
            </a:r>
            <a:r>
              <a:rPr lang="en-US" dirty="0"/>
              <a:t> ,  </a:t>
            </a:r>
            <a:r>
              <a:rPr lang="en-US" dirty="0" err="1"/>
              <a:t>Store_ID</a:t>
            </a:r>
            <a:endParaRPr lang="en-IN" dirty="0"/>
          </a:p>
        </p:txBody>
      </p:sp>
      <p:sp>
        <p:nvSpPr>
          <p:cNvPr id="6" name="TextBox 5">
            <a:extLst>
              <a:ext uri="{FF2B5EF4-FFF2-40B4-BE49-F238E27FC236}">
                <a16:creationId xmlns:a16="http://schemas.microsoft.com/office/drawing/2014/main" id="{7F66521F-BD3D-6DE0-3859-A320A9764597}"/>
              </a:ext>
            </a:extLst>
          </p:cNvPr>
          <p:cNvSpPr txBox="1"/>
          <p:nvPr/>
        </p:nvSpPr>
        <p:spPr>
          <a:xfrm>
            <a:off x="4762341" y="728753"/>
            <a:ext cx="3970511" cy="369332"/>
          </a:xfrm>
          <a:prstGeom prst="rect">
            <a:avLst/>
          </a:prstGeom>
          <a:noFill/>
        </p:spPr>
        <p:txBody>
          <a:bodyPr wrap="none" rtlCol="0">
            <a:spAutoFit/>
          </a:bodyPr>
          <a:lstStyle/>
          <a:p>
            <a:r>
              <a:rPr lang="en-US" dirty="0"/>
              <a:t>Prime Member: </a:t>
            </a:r>
            <a:r>
              <a:rPr lang="en-US" dirty="0" err="1"/>
              <a:t>Customer_ID</a:t>
            </a:r>
            <a:r>
              <a:rPr lang="en-US" dirty="0"/>
              <a:t> ,  </a:t>
            </a:r>
            <a:r>
              <a:rPr lang="en-US" dirty="0" err="1"/>
              <a:t>Store_ID</a:t>
            </a:r>
            <a:endParaRPr lang="en-IN" dirty="0"/>
          </a:p>
        </p:txBody>
      </p:sp>
      <p:sp>
        <p:nvSpPr>
          <p:cNvPr id="8" name="TextBox 7">
            <a:extLst>
              <a:ext uri="{FF2B5EF4-FFF2-40B4-BE49-F238E27FC236}">
                <a16:creationId xmlns:a16="http://schemas.microsoft.com/office/drawing/2014/main" id="{245BADBA-3995-4294-47EA-E78C70C75403}"/>
              </a:ext>
            </a:extLst>
          </p:cNvPr>
          <p:cNvSpPr txBox="1"/>
          <p:nvPr/>
        </p:nvSpPr>
        <p:spPr>
          <a:xfrm>
            <a:off x="4762341" y="1098085"/>
            <a:ext cx="2425344" cy="369332"/>
          </a:xfrm>
          <a:prstGeom prst="rect">
            <a:avLst/>
          </a:prstGeom>
          <a:noFill/>
        </p:spPr>
        <p:txBody>
          <a:bodyPr wrap="none" rtlCol="0">
            <a:spAutoFit/>
          </a:bodyPr>
          <a:lstStyle/>
          <a:p>
            <a:r>
              <a:rPr lang="en-US" dirty="0"/>
              <a:t>Non Prime </a:t>
            </a:r>
            <a:r>
              <a:rPr lang="en-US" dirty="0" err="1"/>
              <a:t>Att</a:t>
            </a:r>
            <a:r>
              <a:rPr lang="en-US" dirty="0"/>
              <a:t>: Location</a:t>
            </a:r>
            <a:endParaRPr lang="en-IN" dirty="0"/>
          </a:p>
        </p:txBody>
      </p:sp>
      <p:graphicFrame>
        <p:nvGraphicFramePr>
          <p:cNvPr id="7" name="Table 6">
            <a:extLst>
              <a:ext uri="{FF2B5EF4-FFF2-40B4-BE49-F238E27FC236}">
                <a16:creationId xmlns:a16="http://schemas.microsoft.com/office/drawing/2014/main" id="{68647109-99DF-43C3-B041-1807B1B7E16E}"/>
              </a:ext>
            </a:extLst>
          </p:cNvPr>
          <p:cNvGraphicFramePr>
            <a:graphicFrameLocks noGrp="1"/>
          </p:cNvGraphicFramePr>
          <p:nvPr>
            <p:extLst>
              <p:ext uri="{D42A27DB-BD31-4B8C-83A1-F6EECF244321}">
                <p14:modId xmlns:p14="http://schemas.microsoft.com/office/powerpoint/2010/main" val="2611704121"/>
              </p:ext>
            </p:extLst>
          </p:nvPr>
        </p:nvGraphicFramePr>
        <p:xfrm>
          <a:off x="877087" y="3429000"/>
          <a:ext cx="2287061" cy="2534435"/>
        </p:xfrm>
        <a:graphic>
          <a:graphicData uri="http://schemas.openxmlformats.org/drawingml/2006/table">
            <a:tbl>
              <a:tblPr firstRow="1" bandRow="1">
                <a:tableStyleId>{5C22544A-7EE6-4342-B048-85BDC9FD1C3A}</a:tableStyleId>
              </a:tblPr>
              <a:tblGrid>
                <a:gridCol w="1153833">
                  <a:extLst>
                    <a:ext uri="{9D8B030D-6E8A-4147-A177-3AD203B41FA5}">
                      <a16:colId xmlns:a16="http://schemas.microsoft.com/office/drawing/2014/main" val="20000"/>
                    </a:ext>
                  </a:extLst>
                </a:gridCol>
                <a:gridCol w="1133228">
                  <a:extLst>
                    <a:ext uri="{9D8B030D-6E8A-4147-A177-3AD203B41FA5}">
                      <a16:colId xmlns:a16="http://schemas.microsoft.com/office/drawing/2014/main" val="20001"/>
                    </a:ext>
                  </a:extLst>
                </a:gridCol>
              </a:tblGrid>
              <a:tr h="120469">
                <a:tc>
                  <a:txBody>
                    <a:bodyPr/>
                    <a:lstStyle/>
                    <a:p>
                      <a:r>
                        <a:rPr lang="en-US" dirty="0" err="1"/>
                        <a:t>Custome</a:t>
                      </a:r>
                      <a:r>
                        <a:rPr lang="en-US" dirty="0"/>
                        <a:t> ID </a:t>
                      </a:r>
                      <a:endParaRPr lang="en-IN" dirty="0"/>
                    </a:p>
                  </a:txBody>
                  <a:tcPr/>
                </a:tc>
                <a:tc>
                  <a:txBody>
                    <a:bodyPr/>
                    <a:lstStyle/>
                    <a:p>
                      <a:r>
                        <a:rPr lang="en-US" dirty="0"/>
                        <a:t>Store ID </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001"/>
                  </a:ext>
                </a:extLst>
              </a:tr>
              <a:tr h="410995">
                <a:tc>
                  <a:txBody>
                    <a:bodyPr/>
                    <a:lstStyle/>
                    <a:p>
                      <a:r>
                        <a:rPr lang="en-US" dirty="0"/>
                        <a:t>1</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10002"/>
                  </a:ext>
                </a:extLst>
              </a:tr>
              <a:tr h="370840">
                <a:tc>
                  <a:txBody>
                    <a:bodyPr/>
                    <a:lstStyle/>
                    <a:p>
                      <a:r>
                        <a:rPr lang="en-US" dirty="0"/>
                        <a:t>2</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003"/>
                  </a:ext>
                </a:extLst>
              </a:tr>
              <a:tr h="370840">
                <a:tc>
                  <a:txBody>
                    <a:bodyPr/>
                    <a:lstStyle/>
                    <a:p>
                      <a:r>
                        <a:rPr lang="en-US" dirty="0"/>
                        <a:t>3</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186239784"/>
                  </a:ext>
                </a:extLst>
              </a:tr>
              <a:tr h="370840">
                <a:tc>
                  <a:txBody>
                    <a:bodyPr/>
                    <a:lstStyle/>
                    <a:p>
                      <a:r>
                        <a:rPr lang="en-US" dirty="0"/>
                        <a:t>4</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3200753470"/>
                  </a:ext>
                </a:extLst>
              </a:tr>
            </a:tbl>
          </a:graphicData>
        </a:graphic>
      </p:graphicFrame>
      <p:graphicFrame>
        <p:nvGraphicFramePr>
          <p:cNvPr id="9" name="Table 8">
            <a:extLst>
              <a:ext uri="{FF2B5EF4-FFF2-40B4-BE49-F238E27FC236}">
                <a16:creationId xmlns:a16="http://schemas.microsoft.com/office/drawing/2014/main" id="{60E85759-0247-41A5-4ED6-7E7F0F67AD30}"/>
              </a:ext>
            </a:extLst>
          </p:cNvPr>
          <p:cNvGraphicFramePr>
            <a:graphicFrameLocks noGrp="1"/>
          </p:cNvGraphicFramePr>
          <p:nvPr>
            <p:extLst>
              <p:ext uri="{D42A27DB-BD31-4B8C-83A1-F6EECF244321}">
                <p14:modId xmlns:p14="http://schemas.microsoft.com/office/powerpoint/2010/main" val="2285001820"/>
              </p:ext>
            </p:extLst>
          </p:nvPr>
        </p:nvGraphicFramePr>
        <p:xfrm>
          <a:off x="3754971" y="3439886"/>
          <a:ext cx="2678539" cy="1518435"/>
        </p:xfrm>
        <a:graphic>
          <a:graphicData uri="http://schemas.openxmlformats.org/drawingml/2006/table">
            <a:tbl>
              <a:tblPr firstRow="1" bandRow="1">
                <a:tableStyleId>{5C22544A-7EE6-4342-B048-85BDC9FD1C3A}</a:tableStyleId>
              </a:tblPr>
              <a:tblGrid>
                <a:gridCol w="1133228">
                  <a:extLst>
                    <a:ext uri="{9D8B030D-6E8A-4147-A177-3AD203B41FA5}">
                      <a16:colId xmlns:a16="http://schemas.microsoft.com/office/drawing/2014/main" val="20001"/>
                    </a:ext>
                  </a:extLst>
                </a:gridCol>
                <a:gridCol w="1545311">
                  <a:extLst>
                    <a:ext uri="{9D8B030D-6E8A-4147-A177-3AD203B41FA5}">
                      <a16:colId xmlns:a16="http://schemas.microsoft.com/office/drawing/2014/main" val="20002"/>
                    </a:ext>
                  </a:extLst>
                </a:gridCol>
              </a:tblGrid>
              <a:tr h="120469">
                <a:tc>
                  <a:txBody>
                    <a:bodyPr/>
                    <a:lstStyle/>
                    <a:p>
                      <a:r>
                        <a:rPr lang="en-US" dirty="0"/>
                        <a:t>Store ID </a:t>
                      </a:r>
                      <a:endParaRPr lang="en-IN" dirty="0"/>
                    </a:p>
                  </a:txBody>
                  <a:tcPr/>
                </a:tc>
                <a:tc>
                  <a:txBody>
                    <a:bodyPr/>
                    <a:lstStyle/>
                    <a:p>
                      <a:r>
                        <a:rPr lang="en-US" dirty="0"/>
                        <a:t>Location</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Delhi</a:t>
                      </a:r>
                      <a:endParaRPr lang="en-IN" dirty="0"/>
                    </a:p>
                  </a:txBody>
                  <a:tcPr/>
                </a:tc>
                <a:extLst>
                  <a:ext uri="{0D108BD9-81ED-4DB2-BD59-A6C34878D82A}">
                    <a16:rowId xmlns:a16="http://schemas.microsoft.com/office/drawing/2014/main" val="10001"/>
                  </a:ext>
                </a:extLst>
              </a:tr>
              <a:tr h="410995">
                <a:tc>
                  <a:txBody>
                    <a:bodyPr/>
                    <a:lstStyle/>
                    <a:p>
                      <a:r>
                        <a:rPr lang="en-US" dirty="0"/>
                        <a:t>3</a:t>
                      </a:r>
                      <a:endParaRPr lang="en-IN" dirty="0"/>
                    </a:p>
                  </a:txBody>
                  <a:tcPr/>
                </a:tc>
                <a:tc>
                  <a:txBody>
                    <a:bodyPr/>
                    <a:lstStyle/>
                    <a:p>
                      <a:r>
                        <a:rPr lang="en-US" dirty="0"/>
                        <a:t>Mumbai</a:t>
                      </a:r>
                      <a:endParaRPr lang="en-IN" dirty="0"/>
                    </a:p>
                  </a:txBody>
                  <a:tcPr/>
                </a:tc>
                <a:extLst>
                  <a:ext uri="{0D108BD9-81ED-4DB2-BD59-A6C34878D82A}">
                    <a16:rowId xmlns:a16="http://schemas.microsoft.com/office/drawing/2014/main" val="10002"/>
                  </a:ext>
                </a:extLst>
              </a:tr>
              <a:tr h="370840">
                <a:tc>
                  <a:txBody>
                    <a:bodyPr/>
                    <a:lstStyle/>
                    <a:p>
                      <a:r>
                        <a:rPr lang="en-US" dirty="0"/>
                        <a:t>2</a:t>
                      </a:r>
                      <a:endParaRPr lang="en-IN" dirty="0"/>
                    </a:p>
                  </a:txBody>
                  <a:tcPr/>
                </a:tc>
                <a:tc>
                  <a:txBody>
                    <a:bodyPr/>
                    <a:lstStyle/>
                    <a:p>
                      <a:r>
                        <a:rPr lang="en-US" dirty="0" err="1"/>
                        <a:t>Banglore</a:t>
                      </a:r>
                      <a:endParaRPr lang="en-IN" dirty="0"/>
                    </a:p>
                  </a:txBody>
                  <a:tcPr/>
                </a:tc>
                <a:extLst>
                  <a:ext uri="{0D108BD9-81ED-4DB2-BD59-A6C34878D82A}">
                    <a16:rowId xmlns:a16="http://schemas.microsoft.com/office/drawing/2014/main" val="186239784"/>
                  </a:ext>
                </a:extLst>
              </a:tr>
            </a:tbl>
          </a:graphicData>
        </a:graphic>
      </p:graphicFrame>
    </p:spTree>
    <p:extLst>
      <p:ext uri="{BB962C8B-B14F-4D97-AF65-F5344CB8AC3E}">
        <p14:creationId xmlns:p14="http://schemas.microsoft.com/office/powerpoint/2010/main" val="748970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9DB81-F2B9-1C60-BBFA-8CD757FDB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8960C-318B-1B0B-E9FC-04A7DB630B45}"/>
              </a:ext>
            </a:extLst>
          </p:cNvPr>
          <p:cNvSpPr>
            <a:spLocks noGrp="1"/>
          </p:cNvSpPr>
          <p:nvPr>
            <p:ph type="title"/>
          </p:nvPr>
        </p:nvSpPr>
        <p:spPr/>
        <p:txBody>
          <a:bodyPr/>
          <a:lstStyle/>
          <a:p>
            <a:r>
              <a:rPr lang="en-US" dirty="0"/>
              <a:t>Second NORMAL FORM(2NF)</a:t>
            </a:r>
            <a:endParaRPr lang="en-IN" dirty="0"/>
          </a:p>
        </p:txBody>
      </p:sp>
      <p:sp>
        <p:nvSpPr>
          <p:cNvPr id="3" name="Content Placeholder 2">
            <a:extLst>
              <a:ext uri="{FF2B5EF4-FFF2-40B4-BE49-F238E27FC236}">
                <a16:creationId xmlns:a16="http://schemas.microsoft.com/office/drawing/2014/main" id="{D462835C-57DF-2AB5-81EA-C76FC96A709A}"/>
              </a:ext>
            </a:extLst>
          </p:cNvPr>
          <p:cNvSpPr>
            <a:spLocks noGrp="1"/>
          </p:cNvSpPr>
          <p:nvPr>
            <p:ph idx="1"/>
          </p:nvPr>
        </p:nvSpPr>
        <p:spPr/>
        <p:txBody>
          <a:bodyPr/>
          <a:lstStyle/>
          <a:p>
            <a:r>
              <a:rPr lang="en-US" dirty="0"/>
              <a:t>RULE- </a:t>
            </a:r>
          </a:p>
          <a:p>
            <a:pPr marL="514350" indent="-514350">
              <a:buAutoNum type="arabicPeriod"/>
            </a:pPr>
            <a:r>
              <a:rPr lang="en-US" dirty="0"/>
              <a:t>Table must be in 1NF</a:t>
            </a:r>
          </a:p>
          <a:p>
            <a:pPr marL="514350" indent="-514350">
              <a:buAutoNum type="arabicPeriod"/>
            </a:pPr>
            <a:r>
              <a:rPr lang="en-US" dirty="0"/>
              <a:t>All the Non-Prime attribute should be fully functional dependent of Candidate key </a:t>
            </a:r>
          </a:p>
          <a:p>
            <a:pPr marL="971550" lvl="1" indent="-514350">
              <a:buAutoNum type="arabicPeriod"/>
            </a:pPr>
            <a:r>
              <a:rPr lang="en-US" dirty="0"/>
              <a:t>There should be no partial dependency</a:t>
            </a:r>
          </a:p>
          <a:p>
            <a:pPr marL="971550" lvl="1" indent="-514350">
              <a:buAutoNum type="arabicPeriod"/>
            </a:pPr>
            <a:endParaRPr lang="en-US" dirty="0"/>
          </a:p>
          <a:p>
            <a:pPr marL="457200" lvl="1" indent="0">
              <a:buNone/>
            </a:pPr>
            <a:r>
              <a:rPr lang="en-US" dirty="0"/>
              <a:t>		</a:t>
            </a:r>
            <a:r>
              <a:rPr lang="en-US" dirty="0" err="1"/>
              <a:t>Candidadate</a:t>
            </a:r>
            <a:r>
              <a:rPr lang="en-US" dirty="0"/>
              <a:t> key = AB</a:t>
            </a:r>
          </a:p>
          <a:p>
            <a:pPr marL="457200" lvl="1" indent="0">
              <a:buNone/>
            </a:pPr>
            <a:endParaRPr lang="en-US" dirty="0"/>
          </a:p>
          <a:p>
            <a:pPr marL="457200" lvl="1" indent="0">
              <a:buNone/>
            </a:pPr>
            <a:r>
              <a:rPr lang="en-US" dirty="0"/>
              <a:t>				                    A</a:t>
            </a:r>
            <a:r>
              <a:rPr lang="en-US" dirty="0">
                <a:sym typeface="Wingdings" panose="05000000000000000000" pitchFamily="2" charset="2"/>
              </a:rPr>
              <a:t>C</a:t>
            </a:r>
          </a:p>
          <a:p>
            <a:pPr marL="457200" lvl="1" indent="0">
              <a:buNone/>
            </a:pPr>
            <a:r>
              <a:rPr lang="en-US" dirty="0">
                <a:sym typeface="Wingdings" panose="05000000000000000000" pitchFamily="2" charset="2"/>
              </a:rPr>
              <a:t>					      C is Non Prime Attribute</a:t>
            </a:r>
            <a:endParaRPr lang="en-IN" dirty="0"/>
          </a:p>
        </p:txBody>
      </p:sp>
    </p:spTree>
    <p:extLst>
      <p:ext uri="{BB962C8B-B14F-4D97-AF65-F5344CB8AC3E}">
        <p14:creationId xmlns:p14="http://schemas.microsoft.com/office/powerpoint/2010/main" val="30478620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113BB-341E-4750-6D34-4D4EA6964607}"/>
              </a:ext>
            </a:extLst>
          </p:cNvPr>
          <p:cNvSpPr>
            <a:spLocks noGrp="1"/>
          </p:cNvSpPr>
          <p:nvPr>
            <p:ph type="title"/>
          </p:nvPr>
        </p:nvSpPr>
        <p:spPr/>
        <p:txBody>
          <a:bodyPr/>
          <a:lstStyle/>
          <a:p>
            <a:r>
              <a:rPr lang="en-US" dirty="0"/>
              <a:t>Third Normal From (3NF)	</a:t>
            </a:r>
            <a:endParaRPr lang="en-IN" dirty="0"/>
          </a:p>
        </p:txBody>
      </p:sp>
      <p:sp>
        <p:nvSpPr>
          <p:cNvPr id="3" name="Content Placeholder 2">
            <a:extLst>
              <a:ext uri="{FF2B5EF4-FFF2-40B4-BE49-F238E27FC236}">
                <a16:creationId xmlns:a16="http://schemas.microsoft.com/office/drawing/2014/main" id="{F55B5CA9-A1E5-83A6-F3A6-6DCC961B0788}"/>
              </a:ext>
            </a:extLst>
          </p:cNvPr>
          <p:cNvSpPr>
            <a:spLocks noGrp="1"/>
          </p:cNvSpPr>
          <p:nvPr>
            <p:ph idx="1"/>
          </p:nvPr>
        </p:nvSpPr>
        <p:spPr/>
        <p:txBody>
          <a:bodyPr/>
          <a:lstStyle/>
          <a:p>
            <a:r>
              <a:rPr lang="en-US" dirty="0"/>
              <a:t>Table or Relation must in 2NF</a:t>
            </a:r>
          </a:p>
          <a:p>
            <a:r>
              <a:rPr lang="en-US" dirty="0"/>
              <a:t>There should be </a:t>
            </a:r>
            <a:r>
              <a:rPr lang="en-US" dirty="0">
                <a:solidFill>
                  <a:srgbClr val="FF0000"/>
                </a:solidFill>
              </a:rPr>
              <a:t>no Transitive Dependency </a:t>
            </a:r>
            <a:endParaRPr lang="en-IN" dirty="0">
              <a:solidFill>
                <a:srgbClr val="FF0000"/>
              </a:solidFill>
            </a:endParaRPr>
          </a:p>
        </p:txBody>
      </p:sp>
      <p:graphicFrame>
        <p:nvGraphicFramePr>
          <p:cNvPr id="4" name="Table 3">
            <a:extLst>
              <a:ext uri="{FF2B5EF4-FFF2-40B4-BE49-F238E27FC236}">
                <a16:creationId xmlns:a16="http://schemas.microsoft.com/office/drawing/2014/main" id="{91E191D0-190F-316F-817F-AD3F7F036324}"/>
              </a:ext>
            </a:extLst>
          </p:cNvPr>
          <p:cNvGraphicFramePr>
            <a:graphicFrameLocks noGrp="1"/>
          </p:cNvGraphicFramePr>
          <p:nvPr>
            <p:extLst>
              <p:ext uri="{D42A27DB-BD31-4B8C-83A1-F6EECF244321}">
                <p14:modId xmlns:p14="http://schemas.microsoft.com/office/powerpoint/2010/main" val="1016490152"/>
              </p:ext>
            </p:extLst>
          </p:nvPr>
        </p:nvGraphicFramePr>
        <p:xfrm>
          <a:off x="838200" y="3145972"/>
          <a:ext cx="4887686" cy="1889275"/>
        </p:xfrm>
        <a:graphic>
          <a:graphicData uri="http://schemas.openxmlformats.org/drawingml/2006/table">
            <a:tbl>
              <a:tblPr firstRow="1" bandRow="1">
                <a:tableStyleId>{5C22544A-7EE6-4342-B048-85BDC9FD1C3A}</a:tableStyleId>
              </a:tblPr>
              <a:tblGrid>
                <a:gridCol w="1471562">
                  <a:extLst>
                    <a:ext uri="{9D8B030D-6E8A-4147-A177-3AD203B41FA5}">
                      <a16:colId xmlns:a16="http://schemas.microsoft.com/office/drawing/2014/main" val="20000"/>
                    </a:ext>
                  </a:extLst>
                </a:gridCol>
                <a:gridCol w="1445283">
                  <a:extLst>
                    <a:ext uri="{9D8B030D-6E8A-4147-A177-3AD203B41FA5}">
                      <a16:colId xmlns:a16="http://schemas.microsoft.com/office/drawing/2014/main" val="20001"/>
                    </a:ext>
                  </a:extLst>
                </a:gridCol>
                <a:gridCol w="1970841">
                  <a:extLst>
                    <a:ext uri="{9D8B030D-6E8A-4147-A177-3AD203B41FA5}">
                      <a16:colId xmlns:a16="http://schemas.microsoft.com/office/drawing/2014/main" val="20002"/>
                    </a:ext>
                  </a:extLst>
                </a:gridCol>
              </a:tblGrid>
              <a:tr h="120469">
                <a:tc>
                  <a:txBody>
                    <a:bodyPr/>
                    <a:lstStyle/>
                    <a:p>
                      <a:r>
                        <a:rPr lang="en-US" dirty="0"/>
                        <a:t>Roll_No</a:t>
                      </a:r>
                      <a:endParaRPr lang="en-IN" dirty="0"/>
                    </a:p>
                  </a:txBody>
                  <a:tcPr/>
                </a:tc>
                <a:tc>
                  <a:txBody>
                    <a:bodyPr/>
                    <a:lstStyle/>
                    <a:p>
                      <a:r>
                        <a:rPr lang="en-US" dirty="0"/>
                        <a:t>State</a:t>
                      </a:r>
                      <a:endParaRPr lang="en-IN" dirty="0"/>
                    </a:p>
                  </a:txBody>
                  <a:tcPr/>
                </a:tc>
                <a:tc>
                  <a:txBody>
                    <a:bodyPr/>
                    <a:lstStyle/>
                    <a:p>
                      <a:r>
                        <a:rPr lang="en-US" dirty="0"/>
                        <a:t>City</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IN" dirty="0"/>
                        <a:t>Maharashtra</a:t>
                      </a:r>
                    </a:p>
                  </a:txBody>
                  <a:tcPr/>
                </a:tc>
                <a:tc>
                  <a:txBody>
                    <a:bodyPr/>
                    <a:lstStyle/>
                    <a:p>
                      <a:r>
                        <a:rPr lang="en-IN" dirty="0"/>
                        <a:t>Pune</a:t>
                      </a:r>
                    </a:p>
                  </a:txBody>
                  <a:tcPr/>
                </a:tc>
                <a:extLst>
                  <a:ext uri="{0D108BD9-81ED-4DB2-BD59-A6C34878D82A}">
                    <a16:rowId xmlns:a16="http://schemas.microsoft.com/office/drawing/2014/main" val="10001"/>
                  </a:ext>
                </a:extLst>
              </a:tr>
              <a:tr h="410995">
                <a:tc>
                  <a:txBody>
                    <a:bodyPr/>
                    <a:lstStyle/>
                    <a:p>
                      <a:r>
                        <a:rPr lang="en-US" dirty="0"/>
                        <a:t>2</a:t>
                      </a:r>
                      <a:endParaRPr lang="en-IN" dirty="0"/>
                    </a:p>
                  </a:txBody>
                  <a:tcPr/>
                </a:tc>
                <a:tc>
                  <a:txBody>
                    <a:bodyPr/>
                    <a:lstStyle/>
                    <a:p>
                      <a:r>
                        <a:rPr lang="en-IN" dirty="0"/>
                        <a:t>Panjab</a:t>
                      </a:r>
                    </a:p>
                  </a:txBody>
                  <a:tcPr/>
                </a:tc>
                <a:tc>
                  <a:txBody>
                    <a:bodyPr/>
                    <a:lstStyle/>
                    <a:p>
                      <a:r>
                        <a:rPr lang="en-IN" dirty="0"/>
                        <a:t>Mohali</a:t>
                      </a:r>
                    </a:p>
                  </a:txBody>
                  <a:tcPr/>
                </a:tc>
                <a:extLst>
                  <a:ext uri="{0D108BD9-81ED-4DB2-BD59-A6C34878D82A}">
                    <a16:rowId xmlns:a16="http://schemas.microsoft.com/office/drawing/2014/main" val="10002"/>
                  </a:ext>
                </a:extLst>
              </a:tr>
              <a:tr h="370840">
                <a:tc>
                  <a:txBody>
                    <a:bodyPr/>
                    <a:lstStyle/>
                    <a:p>
                      <a:r>
                        <a:rPr lang="en-US" dirty="0"/>
                        <a:t>3</a:t>
                      </a:r>
                      <a:endParaRPr lang="en-IN" dirty="0"/>
                    </a:p>
                  </a:txBody>
                  <a:tcPr/>
                </a:tc>
                <a:tc>
                  <a:txBody>
                    <a:bodyPr/>
                    <a:lstStyle/>
                    <a:p>
                      <a:r>
                        <a:rPr lang="en-IN" dirty="0"/>
                        <a:t>Maharashtra</a:t>
                      </a:r>
                    </a:p>
                  </a:txBody>
                  <a:tcPr/>
                </a:tc>
                <a:tc>
                  <a:txBody>
                    <a:bodyPr/>
                    <a:lstStyle/>
                    <a:p>
                      <a:r>
                        <a:rPr lang="en-IN" dirty="0" err="1"/>
                        <a:t>Kolhapue</a:t>
                      </a:r>
                      <a:endParaRPr lang="en-IN" dirty="0"/>
                    </a:p>
                  </a:txBody>
                  <a:tcPr/>
                </a:tc>
                <a:extLst>
                  <a:ext uri="{0D108BD9-81ED-4DB2-BD59-A6C34878D82A}">
                    <a16:rowId xmlns:a16="http://schemas.microsoft.com/office/drawing/2014/main" val="10003"/>
                  </a:ext>
                </a:extLst>
              </a:tr>
              <a:tr h="370840">
                <a:tc>
                  <a:txBody>
                    <a:bodyPr/>
                    <a:lstStyle/>
                    <a:p>
                      <a:r>
                        <a:rPr lang="en-US" dirty="0"/>
                        <a:t>4</a:t>
                      </a:r>
                      <a:endParaRPr lang="en-IN" dirty="0"/>
                    </a:p>
                  </a:txBody>
                  <a:tcPr/>
                </a:tc>
                <a:tc>
                  <a:txBody>
                    <a:bodyPr/>
                    <a:lstStyle/>
                    <a:p>
                      <a:r>
                        <a:rPr lang="en-IN" dirty="0"/>
                        <a:t>Haryana</a:t>
                      </a:r>
                    </a:p>
                  </a:txBody>
                  <a:tcPr/>
                </a:tc>
                <a:tc>
                  <a:txBody>
                    <a:bodyPr/>
                    <a:lstStyle/>
                    <a:p>
                      <a:r>
                        <a:rPr lang="en-IN" dirty="0"/>
                        <a:t>Ambala</a:t>
                      </a:r>
                    </a:p>
                  </a:txBody>
                  <a:tcPr/>
                </a:tc>
                <a:extLst>
                  <a:ext uri="{0D108BD9-81ED-4DB2-BD59-A6C34878D82A}">
                    <a16:rowId xmlns:a16="http://schemas.microsoft.com/office/drawing/2014/main" val="186239784"/>
                  </a:ext>
                </a:extLst>
              </a:tr>
            </a:tbl>
          </a:graphicData>
        </a:graphic>
      </p:graphicFrame>
      <p:sp>
        <p:nvSpPr>
          <p:cNvPr id="5" name="TextBox 4">
            <a:extLst>
              <a:ext uri="{FF2B5EF4-FFF2-40B4-BE49-F238E27FC236}">
                <a16:creationId xmlns:a16="http://schemas.microsoft.com/office/drawing/2014/main" id="{1B095DBE-084A-CC1E-3A4A-D7A44E155990}"/>
              </a:ext>
            </a:extLst>
          </p:cNvPr>
          <p:cNvSpPr txBox="1"/>
          <p:nvPr/>
        </p:nvSpPr>
        <p:spPr>
          <a:xfrm>
            <a:off x="6466116" y="4001294"/>
            <a:ext cx="3877215" cy="369332"/>
          </a:xfrm>
          <a:prstGeom prst="rect">
            <a:avLst/>
          </a:prstGeom>
          <a:noFill/>
        </p:spPr>
        <p:txBody>
          <a:bodyPr wrap="none" rtlCol="0">
            <a:spAutoFit/>
          </a:bodyPr>
          <a:lstStyle/>
          <a:p>
            <a:r>
              <a:rPr lang="en-IN" dirty="0">
                <a:solidFill>
                  <a:srgbClr val="FF0000"/>
                </a:solidFill>
              </a:rPr>
              <a:t>Prime Attribute </a:t>
            </a:r>
            <a:r>
              <a:rPr lang="en-IN" dirty="0">
                <a:solidFill>
                  <a:srgbClr val="FF0000"/>
                </a:solidFill>
                <a:sym typeface="Wingdings" panose="05000000000000000000" pitchFamily="2" charset="2"/>
              </a:rPr>
              <a:t> </a:t>
            </a:r>
            <a:r>
              <a:rPr lang="en-IN" dirty="0">
                <a:solidFill>
                  <a:srgbClr val="FF0000"/>
                </a:solidFill>
              </a:rPr>
              <a:t>Non-Prime Attribute</a:t>
            </a:r>
          </a:p>
        </p:txBody>
      </p:sp>
      <p:sp>
        <p:nvSpPr>
          <p:cNvPr id="6" name="TextBox 5">
            <a:extLst>
              <a:ext uri="{FF2B5EF4-FFF2-40B4-BE49-F238E27FC236}">
                <a16:creationId xmlns:a16="http://schemas.microsoft.com/office/drawing/2014/main" id="{99352FEF-C5C1-8BA5-9ADE-F62493F332EF}"/>
              </a:ext>
            </a:extLst>
          </p:cNvPr>
          <p:cNvSpPr txBox="1"/>
          <p:nvPr/>
        </p:nvSpPr>
        <p:spPr>
          <a:xfrm>
            <a:off x="6466116" y="4573588"/>
            <a:ext cx="4322850" cy="369332"/>
          </a:xfrm>
          <a:prstGeom prst="rect">
            <a:avLst/>
          </a:prstGeom>
          <a:noFill/>
        </p:spPr>
        <p:txBody>
          <a:bodyPr wrap="none" rtlCol="0">
            <a:spAutoFit/>
          </a:bodyPr>
          <a:lstStyle/>
          <a:p>
            <a:r>
              <a:rPr lang="en-IN" dirty="0"/>
              <a:t>Non Prime Attribute </a:t>
            </a:r>
            <a:r>
              <a:rPr lang="en-IN" dirty="0">
                <a:sym typeface="Wingdings" panose="05000000000000000000" pitchFamily="2" charset="2"/>
              </a:rPr>
              <a:t> </a:t>
            </a:r>
            <a:r>
              <a:rPr lang="en-IN" dirty="0"/>
              <a:t>Non-Prime Attribute</a:t>
            </a:r>
          </a:p>
        </p:txBody>
      </p:sp>
      <p:sp>
        <p:nvSpPr>
          <p:cNvPr id="8" name="TextBox 7">
            <a:extLst>
              <a:ext uri="{FF2B5EF4-FFF2-40B4-BE49-F238E27FC236}">
                <a16:creationId xmlns:a16="http://schemas.microsoft.com/office/drawing/2014/main" id="{95C8500D-782F-80A0-C6BE-36A87DDDA21E}"/>
              </a:ext>
            </a:extLst>
          </p:cNvPr>
          <p:cNvSpPr txBox="1"/>
          <p:nvPr/>
        </p:nvSpPr>
        <p:spPr>
          <a:xfrm>
            <a:off x="6466116" y="3205201"/>
            <a:ext cx="6096000" cy="463075"/>
          </a:xfrm>
          <a:prstGeom prst="rect">
            <a:avLst/>
          </a:prstGeom>
          <a:noFill/>
        </p:spPr>
        <p:txBody>
          <a:bodyPr wrap="square">
            <a:spAutoFit/>
          </a:bodyPr>
          <a:lstStyle/>
          <a:p>
            <a:pPr>
              <a:lnSpc>
                <a:spcPct val="150000"/>
              </a:lnSpc>
            </a:pPr>
            <a:r>
              <a:rPr lang="en-US" dirty="0">
                <a:sym typeface="Wingdings" panose="05000000000000000000" pitchFamily="2" charset="2"/>
              </a:rPr>
              <a:t>Transitive : if XY and YZ then XZ</a:t>
            </a:r>
          </a:p>
        </p:txBody>
      </p:sp>
      <p:sp>
        <p:nvSpPr>
          <p:cNvPr id="9" name="TextBox 8">
            <a:extLst>
              <a:ext uri="{FF2B5EF4-FFF2-40B4-BE49-F238E27FC236}">
                <a16:creationId xmlns:a16="http://schemas.microsoft.com/office/drawing/2014/main" id="{8098A87D-7A4C-4D95-9F3A-A26A326FF461}"/>
              </a:ext>
            </a:extLst>
          </p:cNvPr>
          <p:cNvSpPr txBox="1"/>
          <p:nvPr/>
        </p:nvSpPr>
        <p:spPr>
          <a:xfrm>
            <a:off x="1022657" y="5170184"/>
            <a:ext cx="1332481" cy="369332"/>
          </a:xfrm>
          <a:prstGeom prst="rect">
            <a:avLst/>
          </a:prstGeom>
          <a:noFill/>
        </p:spPr>
        <p:txBody>
          <a:bodyPr wrap="none" rtlCol="0">
            <a:spAutoFit/>
          </a:bodyPr>
          <a:lstStyle/>
          <a:p>
            <a:r>
              <a:rPr lang="en-IN" dirty="0"/>
              <a:t>CK{Roll_no} </a:t>
            </a:r>
          </a:p>
        </p:txBody>
      </p:sp>
      <p:sp>
        <p:nvSpPr>
          <p:cNvPr id="10" name="TextBox 9">
            <a:extLst>
              <a:ext uri="{FF2B5EF4-FFF2-40B4-BE49-F238E27FC236}">
                <a16:creationId xmlns:a16="http://schemas.microsoft.com/office/drawing/2014/main" id="{1DA7AC93-9990-B387-012E-7C387F87195C}"/>
              </a:ext>
            </a:extLst>
          </p:cNvPr>
          <p:cNvSpPr txBox="1"/>
          <p:nvPr/>
        </p:nvSpPr>
        <p:spPr>
          <a:xfrm>
            <a:off x="3026229" y="5170184"/>
            <a:ext cx="2145780" cy="646331"/>
          </a:xfrm>
          <a:prstGeom prst="rect">
            <a:avLst/>
          </a:prstGeom>
          <a:noFill/>
        </p:spPr>
        <p:txBody>
          <a:bodyPr wrap="none" rtlCol="0">
            <a:spAutoFit/>
          </a:bodyPr>
          <a:lstStyle/>
          <a:p>
            <a:r>
              <a:rPr lang="en-IN" dirty="0"/>
              <a:t>FD : Roll_No </a:t>
            </a:r>
            <a:r>
              <a:rPr lang="en-IN" dirty="0">
                <a:sym typeface="Wingdings" panose="05000000000000000000" pitchFamily="2" charset="2"/>
              </a:rPr>
              <a:t> State</a:t>
            </a:r>
          </a:p>
          <a:p>
            <a:r>
              <a:rPr lang="en-IN" dirty="0">
                <a:sym typeface="Wingdings" panose="05000000000000000000" pitchFamily="2" charset="2"/>
              </a:rPr>
              <a:t>        State  City</a:t>
            </a:r>
            <a:endParaRPr lang="en-IN" dirty="0"/>
          </a:p>
        </p:txBody>
      </p:sp>
    </p:spTree>
    <p:extLst>
      <p:ext uri="{BB962C8B-B14F-4D97-AF65-F5344CB8AC3E}">
        <p14:creationId xmlns:p14="http://schemas.microsoft.com/office/powerpoint/2010/main" val="30971086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8EB6A9-6733-8938-BC32-837C93FF01C8}"/>
              </a:ext>
            </a:extLst>
          </p:cNvPr>
          <p:cNvSpPr>
            <a:spLocks noGrp="1"/>
          </p:cNvSpPr>
          <p:nvPr>
            <p:ph idx="1"/>
          </p:nvPr>
        </p:nvSpPr>
        <p:spPr>
          <a:xfrm>
            <a:off x="391886" y="2340428"/>
            <a:ext cx="10515600" cy="5665335"/>
          </a:xfrm>
        </p:spPr>
        <p:txBody>
          <a:bodyPr/>
          <a:lstStyle/>
          <a:p>
            <a:pPr marL="0" indent="0">
              <a:buNone/>
            </a:pPr>
            <a:r>
              <a:rPr lang="en-IN" dirty="0"/>
              <a:t>	R(ABCD)</a:t>
            </a:r>
          </a:p>
          <a:p>
            <a:pPr marL="0" indent="0">
              <a:buNone/>
            </a:pPr>
            <a:endParaRPr lang="en-IN" dirty="0"/>
          </a:p>
          <a:p>
            <a:pPr marL="0" indent="0">
              <a:buNone/>
            </a:pPr>
            <a:endParaRPr lang="en-IN" dirty="0"/>
          </a:p>
          <a:p>
            <a:pPr marL="0" indent="0">
              <a:buNone/>
            </a:pPr>
            <a:r>
              <a:rPr lang="en-IN" dirty="0"/>
              <a:t>	</a:t>
            </a:r>
            <a:r>
              <a:rPr lang="en-IN" sz="3600" dirty="0"/>
              <a:t>FD: AB</a:t>
            </a:r>
            <a:r>
              <a:rPr lang="en-IN" sz="3600" dirty="0">
                <a:sym typeface="Wingdings" panose="05000000000000000000" pitchFamily="2" charset="2"/>
              </a:rPr>
              <a:t>C , CD</a:t>
            </a:r>
          </a:p>
          <a:p>
            <a:pPr marL="0" indent="0">
              <a:buNone/>
            </a:pPr>
            <a:r>
              <a:rPr lang="en-IN" sz="3600" dirty="0">
                <a:sym typeface="Wingdings" panose="05000000000000000000" pitchFamily="2" charset="2"/>
              </a:rPr>
              <a:t>	CK : AB</a:t>
            </a:r>
          </a:p>
          <a:p>
            <a:pPr marL="0" indent="0">
              <a:buNone/>
            </a:pPr>
            <a:r>
              <a:rPr lang="en-IN" sz="3600" dirty="0">
                <a:sym typeface="Wingdings" panose="05000000000000000000" pitchFamily="2" charset="2"/>
              </a:rPr>
              <a:t>	PA : A,B</a:t>
            </a:r>
          </a:p>
          <a:p>
            <a:pPr marL="0" indent="0">
              <a:buNone/>
            </a:pPr>
            <a:r>
              <a:rPr lang="en-IN" sz="3600" dirty="0">
                <a:sym typeface="Wingdings" panose="05000000000000000000" pitchFamily="2" charset="2"/>
              </a:rPr>
              <a:t>	NPA: C,D</a:t>
            </a:r>
            <a:endParaRPr lang="en-IN" sz="3600" dirty="0"/>
          </a:p>
        </p:txBody>
      </p:sp>
      <p:sp>
        <p:nvSpPr>
          <p:cNvPr id="4" name="TextBox 3">
            <a:extLst>
              <a:ext uri="{FF2B5EF4-FFF2-40B4-BE49-F238E27FC236}">
                <a16:creationId xmlns:a16="http://schemas.microsoft.com/office/drawing/2014/main" id="{ABE89BEA-6297-09D2-43A5-21EF0835CA21}"/>
              </a:ext>
            </a:extLst>
          </p:cNvPr>
          <p:cNvSpPr txBox="1"/>
          <p:nvPr/>
        </p:nvSpPr>
        <p:spPr>
          <a:xfrm>
            <a:off x="1962528" y="642257"/>
            <a:ext cx="8266943" cy="1200329"/>
          </a:xfrm>
          <a:prstGeom prst="rect">
            <a:avLst/>
          </a:prstGeom>
          <a:noFill/>
          <a:ln>
            <a:solidFill>
              <a:schemeClr val="accent1"/>
            </a:solidFill>
          </a:ln>
        </p:spPr>
        <p:txBody>
          <a:bodyPr wrap="none" rtlCol="0">
            <a:spAutoFit/>
          </a:bodyPr>
          <a:lstStyle/>
          <a:p>
            <a:pPr algn="ctr"/>
            <a:r>
              <a:rPr lang="en-IN" sz="2400" dirty="0"/>
              <a:t>In Functional Dependency L.H.S attribute must be Candidate key </a:t>
            </a:r>
          </a:p>
          <a:p>
            <a:pPr algn="ctr"/>
            <a:r>
              <a:rPr lang="en-IN" sz="2400" dirty="0"/>
              <a:t>or </a:t>
            </a:r>
          </a:p>
          <a:p>
            <a:pPr algn="ctr"/>
            <a:r>
              <a:rPr lang="en-IN" sz="2400" dirty="0"/>
              <a:t>R.H.S. Attribute must be prime attribute</a:t>
            </a:r>
          </a:p>
        </p:txBody>
      </p:sp>
    </p:spTree>
    <p:extLst>
      <p:ext uri="{BB962C8B-B14F-4D97-AF65-F5344CB8AC3E}">
        <p14:creationId xmlns:p14="http://schemas.microsoft.com/office/powerpoint/2010/main" val="12204887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0F1DD-3B82-3634-CF18-3BDBE72DEED7}"/>
              </a:ext>
            </a:extLst>
          </p:cNvPr>
          <p:cNvSpPr>
            <a:spLocks noGrp="1"/>
          </p:cNvSpPr>
          <p:nvPr>
            <p:ph type="title"/>
          </p:nvPr>
        </p:nvSpPr>
        <p:spPr/>
        <p:txBody>
          <a:bodyPr/>
          <a:lstStyle/>
          <a:p>
            <a:r>
              <a:rPr lang="en-IN" b="1" dirty="0"/>
              <a:t>Boyce Codd Normal Form (BCNF)</a:t>
            </a:r>
            <a:endParaRPr lang="en-IN" dirty="0"/>
          </a:p>
        </p:txBody>
      </p:sp>
      <p:sp>
        <p:nvSpPr>
          <p:cNvPr id="3" name="Content Placeholder 2">
            <a:extLst>
              <a:ext uri="{FF2B5EF4-FFF2-40B4-BE49-F238E27FC236}">
                <a16:creationId xmlns:a16="http://schemas.microsoft.com/office/drawing/2014/main" id="{C306F138-23C6-00A7-4843-5FEDDA9A3C97}"/>
              </a:ext>
            </a:extLst>
          </p:cNvPr>
          <p:cNvSpPr>
            <a:spLocks noGrp="1"/>
          </p:cNvSpPr>
          <p:nvPr>
            <p:ph idx="1"/>
          </p:nvPr>
        </p:nvSpPr>
        <p:spPr>
          <a:xfrm>
            <a:off x="838200" y="1825625"/>
            <a:ext cx="7652657" cy="4351338"/>
          </a:xfrm>
        </p:spPr>
        <p:txBody>
          <a:bodyPr/>
          <a:lstStyle/>
          <a:p>
            <a:r>
              <a:rPr lang="en-IN" b="1" dirty="0">
                <a:solidFill>
                  <a:srgbClr val="FF0000"/>
                </a:solidFill>
              </a:rPr>
              <a:t>In Every Functional Dependency L.H.S. Attribute must be Candidate key</a:t>
            </a:r>
          </a:p>
        </p:txBody>
      </p:sp>
      <p:sp>
        <p:nvSpPr>
          <p:cNvPr id="4" name="TextBox 3">
            <a:extLst>
              <a:ext uri="{FF2B5EF4-FFF2-40B4-BE49-F238E27FC236}">
                <a16:creationId xmlns:a16="http://schemas.microsoft.com/office/drawing/2014/main" id="{468A4509-7A54-B505-79BB-AC0AA6001923}"/>
              </a:ext>
            </a:extLst>
          </p:cNvPr>
          <p:cNvSpPr txBox="1"/>
          <p:nvPr/>
        </p:nvSpPr>
        <p:spPr>
          <a:xfrm>
            <a:off x="9056913" y="351860"/>
            <a:ext cx="2848957" cy="2677656"/>
          </a:xfrm>
          <a:prstGeom prst="rect">
            <a:avLst/>
          </a:prstGeom>
          <a:noFill/>
          <a:ln>
            <a:solidFill>
              <a:schemeClr val="accent1"/>
            </a:solidFill>
          </a:ln>
        </p:spPr>
        <p:txBody>
          <a:bodyPr wrap="square" rtlCol="0">
            <a:spAutoFit/>
          </a:bodyPr>
          <a:lstStyle/>
          <a:p>
            <a:pPr algn="ctr"/>
            <a:r>
              <a:rPr lang="en-IN" sz="2400" dirty="0">
                <a:solidFill>
                  <a:schemeClr val="accent2"/>
                </a:solidFill>
              </a:rPr>
              <a:t>In Functional Dependency L.H.S attribute must be Candidate key </a:t>
            </a:r>
          </a:p>
          <a:p>
            <a:pPr algn="ctr"/>
            <a:r>
              <a:rPr lang="en-IN" sz="2400" dirty="0">
                <a:solidFill>
                  <a:schemeClr val="accent2"/>
                </a:solidFill>
              </a:rPr>
              <a:t>or </a:t>
            </a:r>
          </a:p>
          <a:p>
            <a:pPr algn="ctr"/>
            <a:r>
              <a:rPr lang="en-IN" sz="2400" dirty="0">
                <a:solidFill>
                  <a:schemeClr val="accent2"/>
                </a:solidFill>
              </a:rPr>
              <a:t>R.H.S. Attribute must be prime attribute</a:t>
            </a:r>
          </a:p>
        </p:txBody>
      </p:sp>
      <p:graphicFrame>
        <p:nvGraphicFramePr>
          <p:cNvPr id="5" name="Table 4">
            <a:extLst>
              <a:ext uri="{FF2B5EF4-FFF2-40B4-BE49-F238E27FC236}">
                <a16:creationId xmlns:a16="http://schemas.microsoft.com/office/drawing/2014/main" id="{1B63D1A8-59DC-D6C3-1252-C47478D47F7B}"/>
              </a:ext>
            </a:extLst>
          </p:cNvPr>
          <p:cNvGraphicFramePr>
            <a:graphicFrameLocks noGrp="1"/>
          </p:cNvGraphicFramePr>
          <p:nvPr>
            <p:extLst>
              <p:ext uri="{D42A27DB-BD31-4B8C-83A1-F6EECF244321}">
                <p14:modId xmlns:p14="http://schemas.microsoft.com/office/powerpoint/2010/main" val="2573546484"/>
              </p:ext>
            </p:extLst>
          </p:nvPr>
        </p:nvGraphicFramePr>
        <p:xfrm>
          <a:off x="1380085" y="3124994"/>
          <a:ext cx="3943030" cy="1752600"/>
        </p:xfrm>
        <a:graphic>
          <a:graphicData uri="http://schemas.openxmlformats.org/drawingml/2006/table">
            <a:tbl>
              <a:tblPr firstRow="1" bandRow="1">
                <a:tableStyleId>{5C22544A-7EE6-4342-B048-85BDC9FD1C3A}</a:tableStyleId>
              </a:tblPr>
              <a:tblGrid>
                <a:gridCol w="699086">
                  <a:extLst>
                    <a:ext uri="{9D8B030D-6E8A-4147-A177-3AD203B41FA5}">
                      <a16:colId xmlns:a16="http://schemas.microsoft.com/office/drawing/2014/main" val="20000"/>
                    </a:ext>
                  </a:extLst>
                </a:gridCol>
                <a:gridCol w="957943">
                  <a:extLst>
                    <a:ext uri="{9D8B030D-6E8A-4147-A177-3AD203B41FA5}">
                      <a16:colId xmlns:a16="http://schemas.microsoft.com/office/drawing/2014/main" val="20001"/>
                    </a:ext>
                  </a:extLst>
                </a:gridCol>
                <a:gridCol w="1023257">
                  <a:extLst>
                    <a:ext uri="{9D8B030D-6E8A-4147-A177-3AD203B41FA5}">
                      <a16:colId xmlns:a16="http://schemas.microsoft.com/office/drawing/2014/main" val="20002"/>
                    </a:ext>
                  </a:extLst>
                </a:gridCol>
                <a:gridCol w="1262744">
                  <a:extLst>
                    <a:ext uri="{9D8B030D-6E8A-4147-A177-3AD203B41FA5}">
                      <a16:colId xmlns:a16="http://schemas.microsoft.com/office/drawing/2014/main" val="910889813"/>
                    </a:ext>
                  </a:extLst>
                </a:gridCol>
              </a:tblGrid>
              <a:tr h="120469">
                <a:tc>
                  <a:txBody>
                    <a:bodyPr/>
                    <a:lstStyle/>
                    <a:p>
                      <a:r>
                        <a:rPr lang="en-US" dirty="0"/>
                        <a:t>Roll</a:t>
                      </a:r>
                      <a:r>
                        <a:rPr lang="en-US" baseline="0" dirty="0"/>
                        <a:t> No.</a:t>
                      </a:r>
                      <a:endParaRPr lang="en-IN" dirty="0"/>
                    </a:p>
                  </a:txBody>
                  <a:tcPr/>
                </a:tc>
                <a:tc>
                  <a:txBody>
                    <a:bodyPr/>
                    <a:lstStyle/>
                    <a:p>
                      <a:r>
                        <a:rPr lang="en-US" dirty="0" err="1"/>
                        <a:t>Sname</a:t>
                      </a:r>
                      <a:endParaRPr lang="en-IN" dirty="0"/>
                    </a:p>
                  </a:txBody>
                  <a:tcPr/>
                </a:tc>
                <a:tc>
                  <a:txBody>
                    <a:bodyPr/>
                    <a:lstStyle/>
                    <a:p>
                      <a:r>
                        <a:rPr lang="en-US" dirty="0" err="1"/>
                        <a:t>Votal_id</a:t>
                      </a:r>
                      <a:endParaRPr lang="en-IN" dirty="0"/>
                    </a:p>
                  </a:txBody>
                  <a:tcPr/>
                </a:tc>
                <a:tc>
                  <a:txBody>
                    <a:bodyPr/>
                    <a:lstStyle/>
                    <a:p>
                      <a:r>
                        <a:rPr lang="en-IN" dirty="0"/>
                        <a:t>Age</a:t>
                      </a:r>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Ajay</a:t>
                      </a:r>
                      <a:endParaRPr lang="en-IN" dirty="0"/>
                    </a:p>
                  </a:txBody>
                  <a:tcPr/>
                </a:tc>
                <a:tc>
                  <a:txBody>
                    <a:bodyPr/>
                    <a:lstStyle/>
                    <a:p>
                      <a:r>
                        <a:rPr lang="en-IN" dirty="0"/>
                        <a:t>P012</a:t>
                      </a:r>
                    </a:p>
                  </a:txBody>
                  <a:tcPr/>
                </a:tc>
                <a:tc>
                  <a:txBody>
                    <a:bodyPr/>
                    <a:lstStyle/>
                    <a:p>
                      <a:r>
                        <a:rPr lang="en-IN" dirty="0"/>
                        <a:t>21</a:t>
                      </a:r>
                    </a:p>
                  </a:txBody>
                  <a:tcPr/>
                </a:tc>
                <a:extLst>
                  <a:ext uri="{0D108BD9-81ED-4DB2-BD59-A6C34878D82A}">
                    <a16:rowId xmlns:a16="http://schemas.microsoft.com/office/drawing/2014/main" val="10001"/>
                  </a:ext>
                </a:extLst>
              </a:tr>
              <a:tr h="370840">
                <a:tc>
                  <a:txBody>
                    <a:bodyPr/>
                    <a:lstStyle/>
                    <a:p>
                      <a:r>
                        <a:rPr lang="en-US" dirty="0"/>
                        <a:t>2</a:t>
                      </a:r>
                      <a:endParaRPr lang="en-IN" dirty="0"/>
                    </a:p>
                  </a:txBody>
                  <a:tcPr/>
                </a:tc>
                <a:tc>
                  <a:txBody>
                    <a:bodyPr/>
                    <a:lstStyle/>
                    <a:p>
                      <a:r>
                        <a:rPr lang="en-US" dirty="0"/>
                        <a:t>Raj</a:t>
                      </a:r>
                      <a:endParaRPr lang="en-IN" dirty="0"/>
                    </a:p>
                  </a:txBody>
                  <a:tcPr/>
                </a:tc>
                <a:tc>
                  <a:txBody>
                    <a:bodyPr/>
                    <a:lstStyle/>
                    <a:p>
                      <a:r>
                        <a:rPr lang="en-IN" dirty="0"/>
                        <a:t>K11</a:t>
                      </a:r>
                    </a:p>
                  </a:txBody>
                  <a:tcPr/>
                </a:tc>
                <a:tc>
                  <a:txBody>
                    <a:bodyPr/>
                    <a:lstStyle/>
                    <a:p>
                      <a:r>
                        <a:rPr lang="en-IN" dirty="0"/>
                        <a:t>23</a:t>
                      </a:r>
                    </a:p>
                  </a:txBody>
                  <a:tcPr/>
                </a:tc>
                <a:extLst>
                  <a:ext uri="{0D108BD9-81ED-4DB2-BD59-A6C34878D82A}">
                    <a16:rowId xmlns:a16="http://schemas.microsoft.com/office/drawing/2014/main" val="10003"/>
                  </a:ext>
                </a:extLst>
              </a:tr>
              <a:tr h="370840">
                <a:tc>
                  <a:txBody>
                    <a:bodyPr/>
                    <a:lstStyle/>
                    <a:p>
                      <a:r>
                        <a:rPr lang="en-US" dirty="0"/>
                        <a:t>3</a:t>
                      </a:r>
                      <a:endParaRPr lang="en-IN" dirty="0"/>
                    </a:p>
                  </a:txBody>
                  <a:tcPr/>
                </a:tc>
                <a:tc>
                  <a:txBody>
                    <a:bodyPr/>
                    <a:lstStyle/>
                    <a:p>
                      <a:r>
                        <a:rPr lang="en-US" dirty="0"/>
                        <a:t>Ravi</a:t>
                      </a:r>
                      <a:endParaRPr lang="en-IN" dirty="0"/>
                    </a:p>
                  </a:txBody>
                  <a:tcPr/>
                </a:tc>
                <a:tc>
                  <a:txBody>
                    <a:bodyPr/>
                    <a:lstStyle/>
                    <a:p>
                      <a:r>
                        <a:rPr lang="en-IN" dirty="0"/>
                        <a:t>F011</a:t>
                      </a:r>
                    </a:p>
                  </a:txBody>
                  <a:tcPr/>
                </a:tc>
                <a:tc>
                  <a:txBody>
                    <a:bodyPr/>
                    <a:lstStyle/>
                    <a:p>
                      <a:r>
                        <a:rPr lang="en-IN" dirty="0"/>
                        <a:t>22</a:t>
                      </a:r>
                    </a:p>
                  </a:txBody>
                  <a:tcPr/>
                </a:tc>
                <a:extLst>
                  <a:ext uri="{0D108BD9-81ED-4DB2-BD59-A6C34878D82A}">
                    <a16:rowId xmlns:a16="http://schemas.microsoft.com/office/drawing/2014/main" val="186239784"/>
                  </a:ext>
                </a:extLst>
              </a:tr>
            </a:tbl>
          </a:graphicData>
        </a:graphic>
      </p:graphicFrame>
      <p:sp>
        <p:nvSpPr>
          <p:cNvPr id="6" name="TextBox 5">
            <a:extLst>
              <a:ext uri="{FF2B5EF4-FFF2-40B4-BE49-F238E27FC236}">
                <a16:creationId xmlns:a16="http://schemas.microsoft.com/office/drawing/2014/main" id="{38F89B40-763C-E83E-AC62-34CBF8E6EBE8}"/>
              </a:ext>
            </a:extLst>
          </p:cNvPr>
          <p:cNvSpPr txBox="1"/>
          <p:nvPr/>
        </p:nvSpPr>
        <p:spPr>
          <a:xfrm>
            <a:off x="5865000" y="3570514"/>
            <a:ext cx="2954655" cy="1754326"/>
          </a:xfrm>
          <a:prstGeom prst="rect">
            <a:avLst/>
          </a:prstGeom>
          <a:noFill/>
        </p:spPr>
        <p:txBody>
          <a:bodyPr wrap="none" rtlCol="0">
            <a:spAutoFit/>
          </a:bodyPr>
          <a:lstStyle/>
          <a:p>
            <a:r>
              <a:rPr lang="en-IN" dirty="0"/>
              <a:t>CK{</a:t>
            </a:r>
            <a:r>
              <a:rPr lang="en-IN" dirty="0" err="1"/>
              <a:t>Roll_No,Votar_ID</a:t>
            </a:r>
            <a:r>
              <a:rPr lang="en-IN" dirty="0"/>
              <a:t>}</a:t>
            </a:r>
          </a:p>
          <a:p>
            <a:endParaRPr lang="en-IN" dirty="0"/>
          </a:p>
          <a:p>
            <a:r>
              <a:rPr lang="en-IN" dirty="0"/>
              <a:t>FD: Roll_No </a:t>
            </a:r>
            <a:r>
              <a:rPr lang="en-IN" dirty="0">
                <a:sym typeface="Wingdings" panose="05000000000000000000" pitchFamily="2" charset="2"/>
              </a:rPr>
              <a:t> </a:t>
            </a:r>
            <a:r>
              <a:rPr lang="en-IN" dirty="0" err="1">
                <a:sym typeface="Wingdings" panose="05000000000000000000" pitchFamily="2" charset="2"/>
              </a:rPr>
              <a:t>Sname</a:t>
            </a:r>
            <a:endParaRPr lang="en-IN" dirty="0">
              <a:sym typeface="Wingdings" panose="05000000000000000000" pitchFamily="2" charset="2"/>
            </a:endParaRPr>
          </a:p>
          <a:p>
            <a:r>
              <a:rPr lang="en-IN" dirty="0">
                <a:sym typeface="Wingdings" panose="05000000000000000000" pitchFamily="2" charset="2"/>
              </a:rPr>
              <a:t>       </a:t>
            </a:r>
            <a:r>
              <a:rPr lang="en-IN" dirty="0" err="1">
                <a:sym typeface="Wingdings" panose="05000000000000000000" pitchFamily="2" charset="2"/>
              </a:rPr>
              <a:t>Roll_NOVotar_ID</a:t>
            </a:r>
            <a:r>
              <a:rPr lang="en-IN" dirty="0">
                <a:sym typeface="Wingdings" panose="05000000000000000000" pitchFamily="2" charset="2"/>
              </a:rPr>
              <a:t>	</a:t>
            </a:r>
          </a:p>
          <a:p>
            <a:r>
              <a:rPr lang="en-IN" dirty="0">
                <a:sym typeface="Wingdings" panose="05000000000000000000" pitchFamily="2" charset="2"/>
              </a:rPr>
              <a:t>       </a:t>
            </a:r>
            <a:r>
              <a:rPr lang="en-IN" dirty="0" err="1">
                <a:sym typeface="Wingdings" panose="05000000000000000000" pitchFamily="2" charset="2"/>
              </a:rPr>
              <a:t>Votar_IDSname</a:t>
            </a:r>
            <a:endParaRPr lang="en-IN" dirty="0">
              <a:sym typeface="Wingdings" panose="05000000000000000000" pitchFamily="2" charset="2"/>
            </a:endParaRPr>
          </a:p>
          <a:p>
            <a:r>
              <a:rPr lang="en-IN" dirty="0">
                <a:sym typeface="Wingdings" panose="05000000000000000000" pitchFamily="2" charset="2"/>
              </a:rPr>
              <a:t>       </a:t>
            </a:r>
            <a:r>
              <a:rPr lang="en-IN" dirty="0" err="1">
                <a:sym typeface="Wingdings" panose="05000000000000000000" pitchFamily="2" charset="2"/>
              </a:rPr>
              <a:t>Votar_IDAge</a:t>
            </a:r>
            <a:endParaRPr lang="en-IN" dirty="0"/>
          </a:p>
        </p:txBody>
      </p:sp>
    </p:spTree>
    <p:extLst>
      <p:ext uri="{BB962C8B-B14F-4D97-AF65-F5344CB8AC3E}">
        <p14:creationId xmlns:p14="http://schemas.microsoft.com/office/powerpoint/2010/main" val="2642956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808</TotalTime>
  <Words>2794</Words>
  <Application>Microsoft Office PowerPoint</Application>
  <PresentationFormat>Widescreen</PresentationFormat>
  <Paragraphs>619</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Calibri Light</vt:lpstr>
      <vt:lpstr>Google Sans</vt:lpstr>
      <vt:lpstr>Roboto</vt:lpstr>
      <vt:lpstr>Times New Roman</vt:lpstr>
      <vt:lpstr>Wingdings</vt:lpstr>
      <vt:lpstr>Office Theme</vt:lpstr>
      <vt:lpstr>Database Management System</vt:lpstr>
      <vt:lpstr>DBMS</vt:lpstr>
      <vt:lpstr>What is Database</vt:lpstr>
      <vt:lpstr>Why Database?</vt:lpstr>
      <vt:lpstr>PowerPoint Presentation</vt:lpstr>
      <vt:lpstr>Data Store Techniques</vt:lpstr>
      <vt:lpstr>Flat File System</vt:lpstr>
      <vt:lpstr>PowerPoint Presentation</vt:lpstr>
      <vt:lpstr>Database Model</vt:lpstr>
      <vt:lpstr>Database Model </vt:lpstr>
      <vt:lpstr>Database Model</vt:lpstr>
      <vt:lpstr>RDBMS</vt:lpstr>
      <vt:lpstr>Basic Terminology</vt:lpstr>
      <vt:lpstr>PowerPoint Presentation</vt:lpstr>
      <vt:lpstr>Why RDBMS ?  Difference between Relational Vs Non Relational Database</vt:lpstr>
      <vt:lpstr>Difference between Relational Vs Non Relational Database</vt:lpstr>
      <vt:lpstr>Why RDBMS ?</vt:lpstr>
      <vt:lpstr>Key Benefits of Using an RDBMS</vt:lpstr>
      <vt:lpstr>Key Benefits of Using an RDBMS</vt:lpstr>
      <vt:lpstr>Constraints</vt:lpstr>
      <vt:lpstr>PowerPoint Presentation</vt:lpstr>
      <vt:lpstr>Candidate Key</vt:lpstr>
      <vt:lpstr>Primary Key – {Unique + Not Null}</vt:lpstr>
      <vt:lpstr>Foreign Key</vt:lpstr>
      <vt:lpstr>Super Key</vt:lpstr>
      <vt:lpstr>Data Modeling</vt:lpstr>
      <vt:lpstr>Data Modeling</vt:lpstr>
      <vt:lpstr>Types</vt:lpstr>
      <vt:lpstr>Normalization</vt:lpstr>
      <vt:lpstr>Row and Column Level Duplication are their</vt:lpstr>
      <vt:lpstr>Normalization</vt:lpstr>
      <vt:lpstr>Advantage</vt:lpstr>
      <vt:lpstr>First Normal From (1NF)</vt:lpstr>
      <vt:lpstr>Closer Method</vt:lpstr>
      <vt:lpstr>Closer Method</vt:lpstr>
      <vt:lpstr>Functional Dependancy</vt:lpstr>
      <vt:lpstr>Functional Dependency</vt:lpstr>
      <vt:lpstr>Functional Dependency</vt:lpstr>
      <vt:lpstr>Properties of Functional Dependency</vt:lpstr>
      <vt:lpstr>Second NORMAL FORM(2NF)</vt:lpstr>
      <vt:lpstr>PowerPoint Presentation</vt:lpstr>
      <vt:lpstr>Second NORMAL FORM(2NF)</vt:lpstr>
      <vt:lpstr>Third Normal From (3NF) </vt:lpstr>
      <vt:lpstr>PowerPoint Presentation</vt:lpstr>
      <vt:lpstr>Boyce Codd Normal Form (BCNF)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dc:creator>
  <cp:lastModifiedBy>ak</cp:lastModifiedBy>
  <cp:revision>31</cp:revision>
  <dcterms:created xsi:type="dcterms:W3CDTF">2025-10-08T14:40:56Z</dcterms:created>
  <dcterms:modified xsi:type="dcterms:W3CDTF">2025-10-29T15:25:55Z</dcterms:modified>
</cp:coreProperties>
</file>